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677cba2ce64117" /><Relationship Type="http://schemas.openxmlformats.org/officeDocument/2006/relationships/extended-properties" Target="/docProps/app.xml" Id="Rb582f4124d084f09" /><Relationship Type="http://schemas.openxmlformats.org/officeDocument/2006/relationships/officeDocument" Target="/ppt/presentation.xml" Id="R0fd4c7b4581b4d1c" /></Relationships>
</file>

<file path=ppt/presentation.xml><?xml version="1.0" encoding="utf-8"?>
<p:presentation xmlns:p="http://schemas.openxmlformats.org/presentationml/2006/main">
  <p:sldMasterIdLst>
    <p:sldMasterId xmlns:r="http://schemas.openxmlformats.org/officeDocument/2006/relationships" id="2147483648" r:id="R32084d6b0efa4d39"/>
  </p:sldMasterIdLst>
  <p:notesMasterIdLst>
    <p:notesMasterId xmlns:r="http://schemas.openxmlformats.org/officeDocument/2006/relationships" r:id="R9799fd0eb2124585"/>
  </p:notesMasterIdLst>
  <p:sldIdLst>
    <p:sldId xmlns:r="http://schemas.openxmlformats.org/officeDocument/2006/relationships" id="256" r:id="R00b0377fe8bd450e"/>
    <p:sldId xmlns:r="http://schemas.openxmlformats.org/officeDocument/2006/relationships" id="257" r:id="Rced84b73a4d94ebe"/>
    <p:sldId xmlns:r="http://schemas.openxmlformats.org/officeDocument/2006/relationships" id="258" r:id="R5ee1d9079967496a"/>
    <p:sldId xmlns:r="http://schemas.openxmlformats.org/officeDocument/2006/relationships" id="259" r:id="Rd3ee7aed84624dc5"/>
    <p:sldId xmlns:r="http://schemas.openxmlformats.org/officeDocument/2006/relationships" id="260" r:id="Rfd8ab93cd25c4c51"/>
    <p:sldId xmlns:r="http://schemas.openxmlformats.org/officeDocument/2006/relationships" id="261" r:id="R74e99d198cdc4791"/>
    <p:sldId xmlns:r="http://schemas.openxmlformats.org/officeDocument/2006/relationships" id="262" r:id="R5773a665eb67428a"/>
    <p:sldId xmlns:r="http://schemas.openxmlformats.org/officeDocument/2006/relationships" id="263" r:id="R7f52ddbc1ced4f93"/>
    <p:sldId xmlns:r="http://schemas.openxmlformats.org/officeDocument/2006/relationships" id="264" r:id="Rf02ff0b18db3430b"/>
    <p:sldId xmlns:r="http://schemas.openxmlformats.org/officeDocument/2006/relationships" id="265" r:id="R68660c5d80e5496b"/>
    <p:sldId xmlns:r="http://schemas.openxmlformats.org/officeDocument/2006/relationships" id="266" r:id="R11bfedf017054424"/>
    <p:sldId xmlns:r="http://schemas.openxmlformats.org/officeDocument/2006/relationships" id="267" r:id="R8f1044353b884d7a"/>
    <p:sldId xmlns:r="http://schemas.openxmlformats.org/officeDocument/2006/relationships" id="268" r:id="R59f0dd0a963844b6"/>
    <p:sldId xmlns:r="http://schemas.openxmlformats.org/officeDocument/2006/relationships" id="269" r:id="R82be2e12aca644a8"/>
    <p:sldId xmlns:r="http://schemas.openxmlformats.org/officeDocument/2006/relationships" id="270" r:id="R9bd52fd1c138407c"/>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c5f716d769a4e51" /><Relationship Type="http://schemas.openxmlformats.org/officeDocument/2006/relationships/slideMaster" Target="/ppt/slideMasters/slideMaster1.xml" Id="R32084d6b0efa4d39" /><Relationship Type="http://schemas.openxmlformats.org/officeDocument/2006/relationships/notesMaster" Target="/ppt/notesMasters/notesMaster1.xml" Id="R9799fd0eb2124585" /><Relationship Type="http://schemas.openxmlformats.org/officeDocument/2006/relationships/presProps" Target="/ppt/presProps.xml" Id="Rc85578e4100949c8" /><Relationship Type="http://schemas.openxmlformats.org/officeDocument/2006/relationships/viewProps" Target="/ppt/viewProps.xml" Id="Raf930d30486a49fc" /><Relationship Type="http://schemas.openxmlformats.org/officeDocument/2006/relationships/tableStyles" Target="/ppt/tableStyles.xml" Id="R5113e4d975e74803" /><Relationship Type="http://schemas.openxmlformats.org/officeDocument/2006/relationships/slide" Target="/ppt/slides/slide1.xml" Id="R00b0377fe8bd450e" /><Relationship Type="http://schemas.openxmlformats.org/officeDocument/2006/relationships/slide" Target="/ppt/slides/slide2.xml" Id="Rced84b73a4d94ebe" /><Relationship Type="http://schemas.openxmlformats.org/officeDocument/2006/relationships/slide" Target="/ppt/slides/slide3.xml" Id="R5ee1d9079967496a" /><Relationship Type="http://schemas.openxmlformats.org/officeDocument/2006/relationships/slide" Target="/ppt/slides/slide4.xml" Id="Rd3ee7aed84624dc5" /><Relationship Type="http://schemas.openxmlformats.org/officeDocument/2006/relationships/slide" Target="/ppt/slides/slide5.xml" Id="Rfd8ab93cd25c4c51" /><Relationship Type="http://schemas.openxmlformats.org/officeDocument/2006/relationships/slide" Target="/ppt/slides/slide6.xml" Id="R74e99d198cdc4791" /><Relationship Type="http://schemas.openxmlformats.org/officeDocument/2006/relationships/slide" Target="/ppt/slides/slide7.xml" Id="R5773a665eb67428a" /><Relationship Type="http://schemas.openxmlformats.org/officeDocument/2006/relationships/slide" Target="/ppt/slides/slide8.xml" Id="R7f52ddbc1ced4f93" /><Relationship Type="http://schemas.openxmlformats.org/officeDocument/2006/relationships/slide" Target="/ppt/slides/slide9.xml" Id="Rf02ff0b18db3430b" /><Relationship Type="http://schemas.openxmlformats.org/officeDocument/2006/relationships/slide" Target="/ppt/slides/slide10.xml" Id="R68660c5d80e5496b" /><Relationship Type="http://schemas.openxmlformats.org/officeDocument/2006/relationships/slide" Target="/ppt/slides/slide11.xml" Id="R11bfedf017054424" /><Relationship Type="http://schemas.openxmlformats.org/officeDocument/2006/relationships/slide" Target="/ppt/slides/slide12.xml" Id="R8f1044353b884d7a" /><Relationship Type="http://schemas.openxmlformats.org/officeDocument/2006/relationships/slide" Target="/ppt/slides/slide13.xml" Id="R59f0dd0a963844b6" /><Relationship Type="http://schemas.openxmlformats.org/officeDocument/2006/relationships/slide" Target="/ppt/slides/slide14.xml" Id="R82be2e12aca644a8" /><Relationship Type="http://schemas.openxmlformats.org/officeDocument/2006/relationships/slide" Target="/ppt/slides/slide15.xml" Id="R9bd52fd1c13840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f641b9f92540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4d28c89331494f" /><Relationship Type="http://schemas.openxmlformats.org/officeDocument/2006/relationships/notesMaster" Target="/ppt/notesMasters/notesMaster1.xml" Id="Ra49c7ef027984d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34795e5465424d" /><Relationship Type="http://schemas.openxmlformats.org/officeDocument/2006/relationships/notesMaster" Target="/ppt/notesMasters/notesMaster1.xml" Id="R5727b1ce32134f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4799eeadf4e8c" /><Relationship Type="http://schemas.openxmlformats.org/officeDocument/2006/relationships/notesMaster" Target="/ppt/notesMasters/notesMaster1.xml" Id="Rb8964761335e48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274eba8e604031" /><Relationship Type="http://schemas.openxmlformats.org/officeDocument/2006/relationships/notesMaster" Target="/ppt/notesMasters/notesMaster1.xml" Id="R86c8a436392348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90316d106b4a8c" /><Relationship Type="http://schemas.openxmlformats.org/officeDocument/2006/relationships/notesMaster" Target="/ppt/notesMasters/notesMaster1.xml" Id="Ra0aba63da6df4e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5fcef3feea4a29" /><Relationship Type="http://schemas.openxmlformats.org/officeDocument/2006/relationships/notesMaster" Target="/ppt/notesMasters/notesMaster1.xml" Id="R9668f5178f2041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d261ec0b384e0a" /><Relationship Type="http://schemas.openxmlformats.org/officeDocument/2006/relationships/notesMaster" Target="/ppt/notesMasters/notesMaster1.xml" Id="Rea9f1cd413924a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48ba8d2aab4a3f" /><Relationship Type="http://schemas.openxmlformats.org/officeDocument/2006/relationships/notesMaster" Target="/ppt/notesMasters/notesMaster1.xml" Id="Rb7eeccb077d948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078aca96044903" /><Relationship Type="http://schemas.openxmlformats.org/officeDocument/2006/relationships/notesMaster" Target="/ppt/notesMasters/notesMaster1.xml" Id="R5fffa620292143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fc1b8973ab4a3d" /><Relationship Type="http://schemas.openxmlformats.org/officeDocument/2006/relationships/notesMaster" Target="/ppt/notesMasters/notesMaster1.xml" Id="Rc749aa50ecfb42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b4e32edc184abe" /><Relationship Type="http://schemas.openxmlformats.org/officeDocument/2006/relationships/notesMaster" Target="/ppt/notesMasters/notesMaster1.xml" Id="R644160500b8d4a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ce7a73d6394f40" /><Relationship Type="http://schemas.openxmlformats.org/officeDocument/2006/relationships/notesMaster" Target="/ppt/notesMasters/notesMaster1.xml" Id="Rb813513842c243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cc250ca41b4875" /><Relationship Type="http://schemas.openxmlformats.org/officeDocument/2006/relationships/notesMaster" Target="/ppt/notesMasters/notesMaster1.xml" Id="Rb9a19b9c54fb45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7ce82f57d7423e" /><Relationship Type="http://schemas.openxmlformats.org/officeDocument/2006/relationships/notesMaster" Target="/ppt/notesMasters/notesMaster1.xml" Id="R19b0d147b6db45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6c69bb09c74fa5" /><Relationship Type="http://schemas.openxmlformats.org/officeDocument/2006/relationships/notesMaster" Target="/ppt/notesMasters/notesMaster1.xml" Id="Rb6efb79e92404a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01, 06, 26, 27 và 36.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26 đến 28.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Phần môi trường và cách chạy.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Môi trường, hàm lay_gio và ví dụ 01.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Hàm dem_canh_bao và ví dụ 28.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01 đến 03.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06, 09 và bài A, B.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Mở rộng ví dụ 26, đổi kịch bản từ 0, 8, 16 sang 0, 80, 160 giờ.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12 và 26.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27. Công thức dùng dấu trừ toán học trên slide, dấu - trong code.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27.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Bài D và ví dụ 27.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Phát triển bước xuất báo cáo từ luồng phân tích, dùng csv của Python.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Ví dụ 36 và bổ sung kiểm tra tệp nguồn.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Numpy.pdf do người dùng cung cấp. Vận dụng ví dụ 10, 26, 27 và 36. Dữ liệu: Warehouse_Automation.db, bộ dữ liệu mô phỏng ngày 08/10/2026. Các kết quả trong bài đã đối chiếu bằng luong_numpy.py.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0923dbbbb94d8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39f4acad814415" /><Relationship Type="http://schemas.openxmlformats.org/officeDocument/2006/relationships/slideLayout" Target="/ppt/slideLayouts/slideLayout1.xml" Id="Rade36b8bb26547e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e36b8bb26547e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5397786dca42d6" /><Relationship Type="http://schemas.openxmlformats.org/officeDocument/2006/relationships/image" Target="/ppt/media/image.png" Id="R4d65d1820d1c4312" /><Relationship Type="http://schemas.openxmlformats.org/officeDocument/2006/relationships/notesSlide" Target="/ppt/notesSlides/notesSlide1.xml" Id="R9f7df932813843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d2f91927044c88" /><Relationship Type="http://schemas.openxmlformats.org/officeDocument/2006/relationships/image" Target="/ppt/media/image.png" Id="R716ad37890524a98" /><Relationship Type="http://schemas.openxmlformats.org/officeDocument/2006/relationships/notesSlide" Target="/ppt/notesSlides/notesSlide2.xml" Id="R9f07b0602ff94c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f4f8a6f2754117" /><Relationship Type="http://schemas.openxmlformats.org/officeDocument/2006/relationships/image" Target="/ppt/media/image.png" Id="R207d1614f8b54982" /><Relationship Type="http://schemas.openxmlformats.org/officeDocument/2006/relationships/notesSlide" Target="/ppt/notesSlides/notesSlide3.xml" Id="R8268b264c8c746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7e974a84b8408a" /><Relationship Type="http://schemas.openxmlformats.org/officeDocument/2006/relationships/image" Target="/ppt/media/image.png" Id="R61de22454fc347a3" /><Relationship Type="http://schemas.openxmlformats.org/officeDocument/2006/relationships/notesSlide" Target="/ppt/notesSlides/notesSlide4.xml" Id="R55c4cf9b19744f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7072ac254447fb" /><Relationship Type="http://schemas.openxmlformats.org/officeDocument/2006/relationships/image" Target="/ppt/media/image.png" Id="R77ca61e2846f47a6" /><Relationship Type="http://schemas.openxmlformats.org/officeDocument/2006/relationships/notesSlide" Target="/ppt/notesSlides/notesSlide5.xml" Id="Rd502b4bce4d640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eb9e34072b470d" /><Relationship Type="http://schemas.openxmlformats.org/officeDocument/2006/relationships/image" Target="/ppt/media/image.png" Id="R78ad929520c04897" /><Relationship Type="http://schemas.openxmlformats.org/officeDocument/2006/relationships/notesSlide" Target="/ppt/notesSlides/notesSlide6.xml" Id="R17401fe2e4e4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8488000ac44bc1" /><Relationship Type="http://schemas.openxmlformats.org/officeDocument/2006/relationships/image" Target="/ppt/media/image.png" Id="Rc08447eece8b441b" /><Relationship Type="http://schemas.openxmlformats.org/officeDocument/2006/relationships/notesSlide" Target="/ppt/notesSlides/notesSlide7.xml" Id="R5a169e08c31d49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4edd9267a54382" /><Relationship Type="http://schemas.openxmlformats.org/officeDocument/2006/relationships/image" Target="/ppt/media/image.png" Id="Ra289fc1e8cc0449a" /><Relationship Type="http://schemas.openxmlformats.org/officeDocument/2006/relationships/notesSlide" Target="/ppt/notesSlides/notesSlide8.xml" Id="R5a24aa3349e345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90080be0d04cc4" /><Relationship Type="http://schemas.openxmlformats.org/officeDocument/2006/relationships/image" Target="/ppt/media/image.png" Id="Rb8c05a5b41b0442e" /><Relationship Type="http://schemas.openxmlformats.org/officeDocument/2006/relationships/notesSlide" Target="/ppt/notesSlides/notesSlide9.xml" Id="Redf541d0b00842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36eab0fa6b47bb" /><Relationship Type="http://schemas.openxmlformats.org/officeDocument/2006/relationships/image" Target="/ppt/media/image.png" Id="R963ba73f6a3a4ab9" /><Relationship Type="http://schemas.openxmlformats.org/officeDocument/2006/relationships/notesSlide" Target="/ppt/notesSlides/notesSlide10.xml" Id="Re95b5305fb9d4a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4f8181013f4ee5" /><Relationship Type="http://schemas.openxmlformats.org/officeDocument/2006/relationships/image" Target="/ppt/media/image.png" Id="Rb314b0c5216946be" /><Relationship Type="http://schemas.openxmlformats.org/officeDocument/2006/relationships/notesSlide" Target="/ppt/notesSlides/notesSlide11.xml" Id="R74df9240b54b46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d988c60f1d4ec3" /><Relationship Type="http://schemas.openxmlformats.org/officeDocument/2006/relationships/image" Target="/ppt/media/image.png" Id="R7fe6ffd15ec2425f" /><Relationship Type="http://schemas.openxmlformats.org/officeDocument/2006/relationships/notesSlide" Target="/ppt/notesSlides/notesSlide12.xml" Id="R5559c5aae6db4e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2625d673684c66" /><Relationship Type="http://schemas.openxmlformats.org/officeDocument/2006/relationships/image" Target="/ppt/media/image.png" Id="Rad85804e735c4dd5" /><Relationship Type="http://schemas.openxmlformats.org/officeDocument/2006/relationships/notesSlide" Target="/ppt/notesSlides/notesSlide13.xml" Id="R9beda552e6b14b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6d7ae8d32c4996" /><Relationship Type="http://schemas.openxmlformats.org/officeDocument/2006/relationships/image" Target="/ppt/media/image.png" Id="Rdd99f8be2cd2416e" /><Relationship Type="http://schemas.openxmlformats.org/officeDocument/2006/relationships/notesSlide" Target="/ppt/notesSlides/notesSlide14.xml" Id="R93ba2ca0257040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3d96961adb4749" /><Relationship Type="http://schemas.openxmlformats.org/officeDocument/2006/relationships/image" Target="/ppt/media/image.png" Id="Rbee4a97a5ba74424" /><Relationship Type="http://schemas.openxmlformats.org/officeDocument/2006/relationships/notesSlide" Target="/ppt/notesSlides/notesSlide15.xml" Id="Rd055011204c140e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4d65d1820d1c4312"/>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700" b="1">
                <a:solidFill>
                  <a:srgbClr val="FF0000"/>
                </a:solidFill>
                <a:latin typeface="Times New Roman"/>
                <a:ea typeface="Times New Roman"/>
                <a:cs typeface="Times New Roman"/>
              </a:defRPr>
            </a:pPr>
            <a:r>
              <a:rPr sz="2700" b="1">
                <a:solidFill>
                  <a:srgbClr val="FF0000"/>
                </a:solidFill>
                <a:latin typeface="Times New Roman"/>
                <a:ea typeface="Times New Roman"/>
                <a:cs typeface="Times New Roman"/>
              </a:rPr>
              <a:t>Luồng thực hành NumPy: kịch bản và ưu tiên kiểm tra</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a:t>
            </a:r>
          </a:p>
        </p:txBody>
      </p:sp>
      <p:sp>
        <p:nvSpPr>
          <p:cNvPr id="14" name="">
            <a:extLst xmlns:a="http://schemas.openxmlformats.org/drawingml/2006/main">
              <a:ext uri="{FF2B5EF4-FFF2-40B4-BE49-F238E27FC236}">
                <a16:creationId xmlns:a16="http://schemas.microsoft.com/office/drawing/2014/main" id="{8588A625-290A-46A0-A019-B385CE6AF573}"/>
              </a:ext>
            </a:extLst>
          </p:cNvPr>
          <p:cNvSpPr>
            <a:spLocks xmlns:a="http://schemas.openxmlformats.org/drawingml/2006/main" noGrp="1"/>
          </p:cNvSpPr>
          <p:nvPr/>
        </p:nvSpPr>
        <p:spPr>
          <a:xfrm xmlns:a="http://schemas.openxmlformats.org/drawingml/2006/main">
            <a:off x="523875" y="1666875"/>
            <a:ext cx="5238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717"/>
                </a:solidFill>
                <a:latin typeface="Times New Roman"/>
                <a:ea typeface="Times New Roman"/>
                <a:cs typeface="Times New Roman"/>
              </a:defRPr>
            </a:defPPr>
            <a:lvl1pPr>
              <a:defRPr sz="1800">
                <a:solidFill>
                  <a:srgbClr val="171717"/>
                </a:solidFill>
                <a:latin typeface="Times New Roman"/>
                <a:ea typeface="Times New Roman"/>
                <a:cs typeface="Times New Roman"/>
              </a:defRPr>
            </a:lvl1pPr>
            <a:lvl2pPr>
              <a:defRPr sz="1800">
                <a:solidFill>
                  <a:srgbClr val="171717"/>
                </a:solidFill>
                <a:latin typeface="Times New Roman"/>
                <a:ea typeface="Times New Roman"/>
                <a:cs typeface="Times New Roman"/>
              </a:defRPr>
            </a:lvl2pPr>
            <a:lvl3pPr>
              <a:defRPr sz="1800">
                <a:solidFill>
                  <a:srgbClr val="171717"/>
                </a:solidFill>
                <a:latin typeface="Times New Roman"/>
                <a:ea typeface="Times New Roman"/>
                <a:cs typeface="Times New Roman"/>
              </a:defRPr>
            </a:lvl3pPr>
            <a:lvl4pPr>
              <a:defRPr sz="1800">
                <a:solidFill>
                  <a:srgbClr val="171717"/>
                </a:solidFill>
                <a:latin typeface="Times New Roman"/>
                <a:ea typeface="Times New Roman"/>
                <a:cs typeface="Times New Roman"/>
              </a:defRPr>
            </a:lvl4pPr>
            <a:lvl5pPr>
              <a:defRPr sz="1800">
                <a:solidFill>
                  <a:srgbClr val="171717"/>
                </a:solidFill>
                <a:latin typeface="Times New Roman"/>
                <a:ea typeface="Times New Roman"/>
                <a:cs typeface="Times New Roman"/>
              </a:defRPr>
            </a:lvl5pPr>
            <a:lvl6pPr>
              <a:defRPr sz="1800">
                <a:solidFill>
                  <a:srgbClr val="171717"/>
                </a:solidFill>
                <a:latin typeface="Times New Roman"/>
                <a:ea typeface="Times New Roman"/>
                <a:cs typeface="Times New Roman"/>
              </a:defRPr>
            </a:lvl6pPr>
            <a:lvl7pPr>
              <a:defRPr sz="1800">
                <a:solidFill>
                  <a:srgbClr val="171717"/>
                </a:solidFill>
                <a:latin typeface="Times New Roman"/>
                <a:ea typeface="Times New Roman"/>
                <a:cs typeface="Times New Roman"/>
              </a:defRPr>
            </a:lvl7pPr>
            <a:lvl8pPr>
              <a:defRPr sz="1800">
                <a:solidFill>
                  <a:srgbClr val="171717"/>
                </a:solidFill>
                <a:latin typeface="Times New Roman"/>
                <a:ea typeface="Times New Roman"/>
                <a:cs typeface="Times New Roman"/>
              </a:defRPr>
            </a:lvl8pPr>
            <a:lvl9pPr>
              <a:defRPr sz="1800">
                <a:solidFill>
                  <a:srgbClr val="171717"/>
                </a:solidFill>
                <a:latin typeface="Times New Roman"/>
                <a:ea typeface="Times New Roman"/>
                <a:cs typeface="Times New Roman"/>
              </a:defRPr>
            </a:lvl9pPr>
          </a:lstStyle>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Bài thực hành kết nối các kỹ thuật trong Numpy.pdf thành một quy trình có đầu vào và kết quả cuối cùng. Câu hỏi là: khi số giờ và trọng số thay đổi, danh sách thiết bị cần xem xét thay đổi như thế nào?</a:t>
            </a:r>
          </a:p>
          <a:p xmlns:a="http://schemas.openxmlformats.org/drawingml/2006/main">
            <a:r>
              <a:t/>
            </a:r>
          </a:p>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Mục tiêu là hiểu mảng có nhãn đi kèm, broadcasting, trục tổng hợp và cách tính điểm từ nhiều đặc trưng. SQL chỉ đọc dữ liệu, NumPy thực hiện phân tích, thư viện csv lưu kết quả.</a:t>
            </a:r>
          </a:p>
        </p:txBody>
      </p:sp>
      <p:sp>
        <p:nvSpPr>
          <p:cNvPr id="15" name="">
            <a:extLst xmlns:a="http://schemas.openxmlformats.org/drawingml/2006/main">
              <a:ext uri="{FF2B5EF4-FFF2-40B4-BE49-F238E27FC236}">
                <a16:creationId xmlns:a16="http://schemas.microsoft.com/office/drawing/2014/main" id="{46185906-E604-4067-8FD6-BF78BB426CD4}"/>
              </a:ext>
            </a:extLst>
          </p:cNvPr>
          <p:cNvSpPr>
            <a:spLocks xmlns:a="http://schemas.openxmlformats.org/drawingml/2006/main" noGrp="1"/>
          </p:cNvSpPr>
          <p:nvPr/>
        </p:nvSpPr>
        <p:spPr>
          <a:xfrm xmlns:a="http://schemas.openxmlformats.org/drawingml/2006/main">
            <a:off x="6191250" y="1666875"/>
            <a:ext cx="5476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YÊU CẦU HOÀN THÀNH</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1. Chạy chương trình trên máy cá nhân.</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2. Giải thích hình dạng và thứ tự các mảng.</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3. Đối chiếu hai cách chọn trọng số.</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4. Mở và kiểm tra bốn CSV được tạo.</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Sử dụng NumPy, sqlite3 và csv. Luồng này không cần pandas.</a:t>
            </a:r>
          </a:p>
        </p:txBody>
      </p:sp>
      <p:graphicFrame>
        <p:nvGraphicFramePr>
          <p:cNvPr id="16" name="">
            <a:extLst xmlns:a="http://schemas.openxmlformats.org/drawingml/2006/main">
              <a:ext uri="{FF2B5EF4-FFF2-40B4-BE49-F238E27FC236}">
                <a16:creationId xmlns:a16="http://schemas.microsoft.com/office/drawing/2014/main" id="{F910D510-E137-4B59-BB5D-9A7DE4DFFA31}"/>
              </a:ext>
            </a:extLst>
          </p:cNvPr>
          <p:cNvGraphicFramePr/>
          <p:nvPr/>
        </p:nvGraphicFramePr>
        <p:xfrm>
          <a:off xmlns:a="http://schemas.openxmlformats.org/drawingml/2006/main" x="6191250" y="3905250"/>
          <a:ext xmlns:a="http://schemas.openxmlformats.org/drawingml/2006/main" cx="5476875" cy="1219200"/>
        </p:xfrm>
        <a:graphic xmlns:a="http://schemas.openxmlformats.org/drawingml/2006/main">
          <a:graphicData uri="http://schemas.openxmlformats.org/drawingml/2006/table">
            <a:tbl>
              <a:tblPr/>
              <a:tblGrid>
                <a:gridCol w="2738438"/>
                <a:gridCol w="2738438"/>
              </a:tblGrid>
              <a:tr h="304800">
                <a:tc>
                  <a:txBody>
                    <a:bodyPr/>
                    <a:lstStyle/>
                    <a:p>
                      <a:r>
                        <a:rPr sz="1500" b="1">
                          <a:solidFill>
                            <a:srgbClr val="113F43"/>
                          </a:solidFill>
                          <a:latin typeface="Times New Roman"/>
                          <a:ea typeface="Times New Roman"/>
                          <a:cs typeface="Times New Roman"/>
                        </a:rPr>
                        <a:t>Thành phần</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Nội dung</a:t>
                      </a:r>
                    </a:p>
                  </a:txBody>
                  <a:tcPr marL="91440" marR="91440" marT="45720" marB="45720">
                    <a:solidFill>
                      <a:srgbClr val="E3F2F3"/>
                    </a:solidFill>
                  </a:tcPr>
                </a:tc>
              </a:tr>
              <a:tr h="304800">
                <a:tc>
                  <a:txBody>
                    <a:bodyPr/>
                    <a:lstStyle/>
                    <a:p>
                      <a:r>
                        <a:rPr sz="1500">
                          <a:solidFill>
                            <a:srgbClr val="171717"/>
                          </a:solidFill>
                          <a:latin typeface="Times New Roman"/>
                          <a:ea typeface="Times New Roman"/>
                          <a:cs typeface="Times New Roman"/>
                        </a:rPr>
                        <a:t>Dữ liệu</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 thiết bị, 2 cảnh báo</a:t>
                      </a:r>
                    </a:p>
                  </a:txBody>
                  <a:tcPr marL="91440" marR="91440" marT="45720" marB="45720">
                    <a:solidFill>
                      <a:srgbClr val="FFFFFF"/>
                    </a:solidFill>
                  </a:tcPr>
                </a:tc>
              </a:tr>
              <a:tr h="304800">
                <a:tc>
                  <a:txBody>
                    <a:bodyPr/>
                    <a:lstStyle/>
                    <a:p>
                      <a:r>
                        <a:rPr sz="1500">
                          <a:solidFill>
                            <a:srgbClr val="171717"/>
                          </a:solidFill>
                          <a:latin typeface="Times New Roman"/>
                          <a:ea typeface="Times New Roman"/>
                          <a:cs typeface="Times New Roman"/>
                        </a:rPr>
                        <a:t>Tệp thực hiện</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luong_numpy.py</a:t>
                      </a:r>
                    </a:p>
                  </a:txBody>
                  <a:tcPr marL="91440" marR="91440" marT="45720" marB="45720">
                    <a:solidFill>
                      <a:srgbClr val="FFFFFF"/>
                    </a:solidFill>
                  </a:tcPr>
                </a:tc>
              </a:tr>
              <a:tr h="304800">
                <a:tc>
                  <a:txBody>
                    <a:bodyPr/>
                    <a:lstStyle/>
                    <a:p>
                      <a:r>
                        <a:rPr sz="1500">
                          <a:solidFill>
                            <a:srgbClr val="171717"/>
                          </a:solidFill>
                          <a:latin typeface="Times New Roman"/>
                          <a:ea typeface="Times New Roman"/>
                          <a:cs typeface="Times New Roman"/>
                        </a:rPr>
                        <a:t>Kết quả</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 báo cáo CSV</a:t>
                      </a:r>
                    </a:p>
                  </a:txBody>
                  <a:tcPr marL="91440" marR="91440" marT="45720" marB="45720">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C30C11DD-651A-45F7-8353-E68499A454BF}"/>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Các kịch bản và trọng số là giả định để học phép tính. Điểm ưu tiên không thay thế quy trình bảo trì hoặc chứng minh thiết bị đang hỏng.</a:t>
            </a:r>
          </a:p>
        </p:txBody>
      </p:sp>
    </p:spTree>
    <p:extLst>
      <p:ext uri="{BB962C8B-B14F-4D97-AF65-F5344CB8AC3E}">
        <p14:creationId xmlns:p14="http://schemas.microsoft.com/office/powerpoint/2010/main" val="2966899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716ad37890524a98"/>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 Đường đi của dữ liệu trong bài</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2</a:t>
            </a:r>
          </a:p>
        </p:txBody>
      </p:sp>
      <p:sp>
        <p:nvSpPr>
          <p:cNvPr id="14" name="">
            <a:extLst xmlns:a="http://schemas.openxmlformats.org/drawingml/2006/main">
              <a:ext uri="{FF2B5EF4-FFF2-40B4-BE49-F238E27FC236}">
                <a16:creationId xmlns:a16="http://schemas.microsoft.com/office/drawing/2014/main" id="{DCDD19BA-5BEE-4691-83A7-84E7BEA94B2F}"/>
              </a:ext>
            </a:extLst>
          </p:cNvPr>
          <p:cNvSpPr>
            <a:spLocks xmlns:a="http://schemas.openxmlformats.org/drawingml/2006/main" noGrp="1"/>
          </p:cNvSpPr>
          <p:nvPr/>
        </p:nvSpPr>
        <p:spPr>
          <a:xfrm xmlns:a="http://schemas.openxmlformats.org/drawingml/2006/main">
            <a:off x="523875" y="1666875"/>
            <a:ext cx="5238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717"/>
                </a:solidFill>
                <a:latin typeface="Times New Roman"/>
                <a:ea typeface="Times New Roman"/>
                <a:cs typeface="Times New Roman"/>
              </a:defRPr>
            </a:defPPr>
            <a:lvl1pPr>
              <a:defRPr sz="1800">
                <a:solidFill>
                  <a:srgbClr val="171717"/>
                </a:solidFill>
                <a:latin typeface="Times New Roman"/>
                <a:ea typeface="Times New Roman"/>
                <a:cs typeface="Times New Roman"/>
              </a:defRPr>
            </a:lvl1pPr>
            <a:lvl2pPr>
              <a:defRPr sz="1800">
                <a:solidFill>
                  <a:srgbClr val="171717"/>
                </a:solidFill>
                <a:latin typeface="Times New Roman"/>
                <a:ea typeface="Times New Roman"/>
                <a:cs typeface="Times New Roman"/>
              </a:defRPr>
            </a:lvl2pPr>
            <a:lvl3pPr>
              <a:defRPr sz="1800">
                <a:solidFill>
                  <a:srgbClr val="171717"/>
                </a:solidFill>
                <a:latin typeface="Times New Roman"/>
                <a:ea typeface="Times New Roman"/>
                <a:cs typeface="Times New Roman"/>
              </a:defRPr>
            </a:lvl3pPr>
            <a:lvl4pPr>
              <a:defRPr sz="1800">
                <a:solidFill>
                  <a:srgbClr val="171717"/>
                </a:solidFill>
                <a:latin typeface="Times New Roman"/>
                <a:ea typeface="Times New Roman"/>
                <a:cs typeface="Times New Roman"/>
              </a:defRPr>
            </a:lvl4pPr>
            <a:lvl5pPr>
              <a:defRPr sz="1800">
                <a:solidFill>
                  <a:srgbClr val="171717"/>
                </a:solidFill>
                <a:latin typeface="Times New Roman"/>
                <a:ea typeface="Times New Roman"/>
                <a:cs typeface="Times New Roman"/>
              </a:defRPr>
            </a:lvl5pPr>
            <a:lvl6pPr>
              <a:defRPr sz="1800">
                <a:solidFill>
                  <a:srgbClr val="171717"/>
                </a:solidFill>
                <a:latin typeface="Times New Roman"/>
                <a:ea typeface="Times New Roman"/>
                <a:cs typeface="Times New Roman"/>
              </a:defRPr>
            </a:lvl6pPr>
            <a:lvl7pPr>
              <a:defRPr sz="1800">
                <a:solidFill>
                  <a:srgbClr val="171717"/>
                </a:solidFill>
                <a:latin typeface="Times New Roman"/>
                <a:ea typeface="Times New Roman"/>
                <a:cs typeface="Times New Roman"/>
              </a:defRPr>
            </a:lvl7pPr>
            <a:lvl8pPr>
              <a:defRPr sz="1800">
                <a:solidFill>
                  <a:srgbClr val="171717"/>
                </a:solidFill>
                <a:latin typeface="Times New Roman"/>
                <a:ea typeface="Times New Roman"/>
                <a:cs typeface="Times New Roman"/>
              </a:defRPr>
            </a:lvl8pPr>
            <a:lvl9pPr>
              <a:defRPr sz="1800">
                <a:solidFill>
                  <a:srgbClr val="171717"/>
                </a:solidFill>
                <a:latin typeface="Times New Roman"/>
                <a:ea typeface="Times New Roman"/>
                <a:cs typeface="Times New Roman"/>
              </a:defRPr>
            </a:lvl9pPr>
          </a:lstStyle>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Hai truy vấn SQL cung cấp hai tập dữ liệu có mức chi tiết khác nhau. Bảng thiết bị có một dòng cho mỗi MaTB. Cảnh báo được đếm theo MaTB trước khi đưa về Python, tránh lặp lại số giờ do ghép nhiều dòng con.</a:t>
            </a:r>
          </a:p>
          <a:p xmlns:a="http://schemas.openxmlformats.org/drawingml/2006/main">
            <a:r>
              <a:t/>
            </a:r>
          </a:p>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Mã thiết bị đóng vai trò nhãn. Khi sắp xếp điểm, cần áp dụng cùng mảng vị trí cho cả nhãn và giá trị để không gắn sai kết quả.</a:t>
            </a:r>
          </a:p>
        </p:txBody>
      </p:sp>
      <p:sp>
        <p:nvSpPr>
          <p:cNvPr id="15" name="">
            <a:extLst xmlns:a="http://schemas.openxmlformats.org/drawingml/2006/main">
              <a:ext uri="{FF2B5EF4-FFF2-40B4-BE49-F238E27FC236}">
                <a16:creationId xmlns:a16="http://schemas.microsoft.com/office/drawing/2014/main" id="{3FE65191-3C15-4220-B0D4-1C974904AD28}"/>
              </a:ext>
            </a:extLst>
          </p:cNvPr>
          <p:cNvSpPr>
            <a:spLocks xmlns:a="http://schemas.openxmlformats.org/drawingml/2006/main" noGrp="1"/>
          </p:cNvSpPr>
          <p:nvPr/>
        </p:nvSpPr>
        <p:spPr>
          <a:xfrm xmlns:a="http://schemas.openxmlformats.org/drawingml/2006/main">
            <a:off x="6191250" y="1666875"/>
            <a:ext cx="5476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ĐIỂM KIỂM TRA</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Sau đọc: đủ 4 mã thiết bị.</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Sau căn mảng: mỗi vị trí cùng MaTB.</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Sau broadcasting: có 4 dòng, 3 cột.</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Sau chuẩn hóa: mỗi đặc trưng nằm trong khoảng 0 đến 1.</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Sau xếp hạng: vẫn đủ 4 mã, mỗi mã xuất hiện một lần.</a:t>
            </a:r>
          </a:p>
        </p:txBody>
      </p:sp>
      <p:graphicFrame>
        <p:nvGraphicFramePr>
          <p:cNvPr id="16" name="">
            <a:extLst xmlns:a="http://schemas.openxmlformats.org/drawingml/2006/main">
              <a:ext uri="{FF2B5EF4-FFF2-40B4-BE49-F238E27FC236}">
                <a16:creationId xmlns:a16="http://schemas.microsoft.com/office/drawing/2014/main" id="{332BB298-E4B9-40A3-A7F6-B1803DDA7085}"/>
              </a:ext>
            </a:extLst>
          </p:cNvPr>
          <p:cNvGraphicFramePr/>
          <p:nvPr/>
        </p:nvGraphicFramePr>
        <p:xfrm>
          <a:off xmlns:a="http://schemas.openxmlformats.org/drawingml/2006/main" x="6191250" y="3905250"/>
          <a:ext xmlns:a="http://schemas.openxmlformats.org/drawingml/2006/main" cx="5476875" cy="1809750"/>
        </p:xfrm>
        <a:graphic xmlns:a="http://schemas.openxmlformats.org/drawingml/2006/main">
          <a:graphicData uri="http://schemas.openxmlformats.org/drawingml/2006/table">
            <a:tbl>
              <a:tblPr/>
              <a:tblGrid>
                <a:gridCol w="1825625"/>
                <a:gridCol w="1825625"/>
                <a:gridCol w="1825625"/>
              </a:tblGrid>
              <a:tr h="301625">
                <a:tc>
                  <a:txBody>
                    <a:bodyPr/>
                    <a:lstStyle/>
                    <a:p>
                      <a:r>
                        <a:rPr sz="1500" b="1">
                          <a:solidFill>
                            <a:srgbClr val="113F43"/>
                          </a:solidFill>
                          <a:latin typeface="Times New Roman"/>
                          <a:ea typeface="Times New Roman"/>
                          <a:cs typeface="Times New Roman"/>
                        </a:rPr>
                        <a:t>Bước</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Xử lý</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Kết quả</a:t>
                      </a:r>
                    </a:p>
                  </a:txBody>
                  <a:tcPr marL="91440" marR="91440" marT="45720" marB="45720">
                    <a:solidFill>
                      <a:srgbClr val="E3F2F3"/>
                    </a:solidFill>
                  </a:tcPr>
                </a:tc>
              </a:tr>
              <a:tr h="301625">
                <a:tc>
                  <a:txBody>
                    <a:bodyPr/>
                    <a:lstStyle/>
                    <a:p>
                      <a:r>
                        <a:rPr sz="1500">
                          <a:solidFill>
                            <a:srgbClr val="171717"/>
                          </a:solidFill>
                          <a:latin typeface="Times New Roman"/>
                          <a:ea typeface="Times New Roman"/>
                          <a:cs typeface="Times New Roman"/>
                        </a:rPr>
                        <a:t>Đọc SQL</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Thiết bị, cảnh báo</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rows, alarm_rows</a:t>
                      </a:r>
                    </a:p>
                  </a:txBody>
                  <a:tcPr marL="91440" marR="91440" marT="45720" marB="45720">
                    <a:solidFill>
                      <a:srgbClr val="FFFFFF"/>
                    </a:solidFill>
                  </a:tcPr>
                </a:tc>
              </a:tr>
              <a:tr h="301625">
                <a:tc>
                  <a:txBody>
                    <a:bodyPr/>
                    <a:lstStyle/>
                    <a:p>
                      <a:r>
                        <a:rPr sz="1500">
                          <a:solidFill>
                            <a:srgbClr val="171717"/>
                          </a:solidFill>
                          <a:latin typeface="Times New Roman"/>
                          <a:ea typeface="Times New Roman"/>
                          <a:cs typeface="Times New Roman"/>
                        </a:rPr>
                        <a:t>Tạo mảng</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Căn theo MaTB</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ma, gio, dem</a:t>
                      </a:r>
                    </a:p>
                  </a:txBody>
                  <a:tcPr marL="91440" marR="91440" marT="45720" marB="45720">
                    <a:solidFill>
                      <a:srgbClr val="FFFFFF"/>
                    </a:solidFill>
                  </a:tcPr>
                </a:tc>
              </a:tr>
              <a:tr h="301625">
                <a:tc>
                  <a:txBody>
                    <a:bodyPr/>
                    <a:lstStyle/>
                    <a:p>
                      <a:r>
                        <a:rPr sz="1500">
                          <a:solidFill>
                            <a:srgbClr val="171717"/>
                          </a:solidFill>
                          <a:latin typeface="Times New Roman"/>
                          <a:ea typeface="Times New Roman"/>
                          <a:cs typeface="Times New Roman"/>
                        </a:rPr>
                        <a:t>Mô phỏng</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Thêm giờ</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Ma trận 4 × 3</a:t>
                      </a:r>
                    </a:p>
                  </a:txBody>
                  <a:tcPr marL="91440" marR="91440" marT="45720" marB="45720">
                    <a:solidFill>
                      <a:srgbClr val="FFFFFF"/>
                    </a:solidFill>
                  </a:tcPr>
                </a:tc>
              </a:tr>
              <a:tr h="301625">
                <a:tc>
                  <a:txBody>
                    <a:bodyPr/>
                    <a:lstStyle/>
                    <a:p>
                      <a:r>
                        <a:rPr sz="1500">
                          <a:solidFill>
                            <a:srgbClr val="171717"/>
                          </a:solidFill>
                          <a:latin typeface="Times New Roman"/>
                          <a:ea typeface="Times New Roman"/>
                          <a:cs typeface="Times New Roman"/>
                        </a:rPr>
                        <a:t>Ưu tiên</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Chuẩn hóa, trọng số</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Điểm, thứ tự</a:t>
                      </a:r>
                    </a:p>
                  </a:txBody>
                  <a:tcPr marL="91440" marR="91440" marT="45720" marB="45720">
                    <a:solidFill>
                      <a:srgbClr val="FFFFFF"/>
                    </a:solidFill>
                  </a:tcPr>
                </a:tc>
              </a:tr>
              <a:tr h="301625">
                <a:tc>
                  <a:txBody>
                    <a:bodyPr/>
                    <a:lstStyle/>
                    <a:p>
                      <a:r>
                        <a:rPr sz="1500">
                          <a:solidFill>
                            <a:srgbClr val="171717"/>
                          </a:solidFill>
                          <a:latin typeface="Times New Roman"/>
                          <a:ea typeface="Times New Roman"/>
                          <a:cs typeface="Times New Roman"/>
                        </a:rPr>
                        <a:t>Lưu</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csv.writer</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 tệp báo cáo</a:t>
                      </a:r>
                    </a:p>
                  </a:txBody>
                  <a:tcPr marL="91440" marR="91440" marT="45720" marB="45720">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5C17E51D-6420-4B96-AF6C-2C5B9201D75D}"/>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Kịch bản thêm giờ và xếp hạng là hai nhánh phân tích. Điểm ưu tiên trong bài dùng giờ gốc, không tự lấy giờ từ một kịch bản.</a:t>
            </a:r>
          </a:p>
        </p:txBody>
      </p:sp>
    </p:spTree>
    <p:extLst>
      <p:ext uri="{BB962C8B-B14F-4D97-AF65-F5344CB8AC3E}">
        <p14:creationId xmlns:p14="http://schemas.microsoft.com/office/powerpoint/2010/main" val="2966899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207d1614f8b54982"/>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2. Chuẩn bị thư mục và chạy chương trình</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3</a:t>
            </a:r>
          </a:p>
        </p:txBody>
      </p:sp>
      <p:sp>
        <p:nvSpPr>
          <p:cNvPr id="14" name="">
            <a:extLst xmlns:a="http://schemas.openxmlformats.org/drawingml/2006/main">
              <a:ext uri="{FF2B5EF4-FFF2-40B4-BE49-F238E27FC236}">
                <a16:creationId xmlns:a16="http://schemas.microsoft.com/office/drawing/2014/main" id="{EAD59741-151F-452F-A979-C7A2B5EA2DE7}"/>
              </a:ext>
            </a:extLst>
          </p:cNvPr>
          <p:cNvSpPr>
            <a:spLocks xmlns:a="http://schemas.openxmlformats.org/drawingml/2006/main" noGrp="1"/>
          </p:cNvSpPr>
          <p:nvPr/>
        </p:nvSpPr>
        <p:spPr>
          <a:xfrm xmlns:a="http://schemas.openxmlformats.org/drawingml/2006/main">
            <a:off x="523875" y="1666875"/>
            <a:ext cx="4762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Giải nén gói thực hành rồi mở toàn bộ thư mục trong VS Code. Đặt database cùng thư mục với luong_numpy.py để chương trình tìm tệp mặc định theo vị trí mã nguồn.</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Lệnh thứ nhất tạo môi trường ảo. Lệnh thứ hai cài thư viện NumPy trong môi trường đó. Lệnh cuối chạy toàn bộ luồng, tự đóng kết nối rồi tạo ket_qua_numpy.</a:t>
            </a:r>
          </a:p>
        </p:txBody>
      </p:sp>
      <p:sp>
        <p:nvSpPr>
          <p:cNvPr id="15" name="">
            <a:extLst xmlns:a="http://schemas.openxmlformats.org/drawingml/2006/main">
              <a:ext uri="{FF2B5EF4-FFF2-40B4-BE49-F238E27FC236}">
                <a16:creationId xmlns:a16="http://schemas.microsoft.com/office/drawing/2014/main" id="{C2550364-5E48-483A-9135-86796350FCC8}"/>
              </a:ext>
            </a:extLst>
          </p:cNvPr>
          <p:cNvSpPr>
            <a:spLocks xmlns:a="http://schemas.openxmlformats.org/drawingml/2006/main" noGrp="1"/>
          </p:cNvSpPr>
          <p:nvPr/>
        </p:nvSpPr>
        <p:spPr>
          <a:xfrm xmlns:a="http://schemas.openxmlformats.org/drawingml/2006/main">
            <a:off x="523875" y="4333875"/>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13F43"/>
                </a:solidFill>
                <a:latin typeface="Consolas"/>
                <a:ea typeface="Consolas"/>
                <a:cs typeface="Consolas"/>
              </a:defRPr>
            </a:defPPr>
            <a:lvl1pPr>
              <a:defRPr sz="1500">
                <a:solidFill>
                  <a:srgbClr val="113F43"/>
                </a:solidFill>
                <a:latin typeface="Consolas"/>
                <a:ea typeface="Consolas"/>
                <a:cs typeface="Consolas"/>
              </a:defRPr>
            </a:lvl1pPr>
            <a:lvl2pPr>
              <a:defRPr sz="1500">
                <a:solidFill>
                  <a:srgbClr val="113F43"/>
                </a:solidFill>
                <a:latin typeface="Consolas"/>
                <a:ea typeface="Consolas"/>
                <a:cs typeface="Consolas"/>
              </a:defRPr>
            </a:lvl2pPr>
            <a:lvl3pPr>
              <a:defRPr sz="1500">
                <a:solidFill>
                  <a:srgbClr val="113F43"/>
                </a:solidFill>
                <a:latin typeface="Consolas"/>
                <a:ea typeface="Consolas"/>
                <a:cs typeface="Consolas"/>
              </a:defRPr>
            </a:lvl3pPr>
            <a:lvl4pPr>
              <a:defRPr sz="1500">
                <a:solidFill>
                  <a:srgbClr val="113F43"/>
                </a:solidFill>
                <a:latin typeface="Consolas"/>
                <a:ea typeface="Consolas"/>
                <a:cs typeface="Consolas"/>
              </a:defRPr>
            </a:lvl4pPr>
            <a:lvl5pPr>
              <a:defRPr sz="1500">
                <a:solidFill>
                  <a:srgbClr val="113F43"/>
                </a:solidFill>
                <a:latin typeface="Consolas"/>
                <a:ea typeface="Consolas"/>
                <a:cs typeface="Consolas"/>
              </a:defRPr>
            </a:lvl5pPr>
            <a:lvl6pPr>
              <a:defRPr sz="1500">
                <a:solidFill>
                  <a:srgbClr val="113F43"/>
                </a:solidFill>
                <a:latin typeface="Consolas"/>
                <a:ea typeface="Consolas"/>
                <a:cs typeface="Consolas"/>
              </a:defRPr>
            </a:lvl6pPr>
            <a:lvl7pPr>
              <a:defRPr sz="1500">
                <a:solidFill>
                  <a:srgbClr val="113F43"/>
                </a:solidFill>
                <a:latin typeface="Consolas"/>
                <a:ea typeface="Consolas"/>
                <a:cs typeface="Consolas"/>
              </a:defRPr>
            </a:lvl7pPr>
            <a:lvl8pPr>
              <a:defRPr sz="1500">
                <a:solidFill>
                  <a:srgbClr val="113F43"/>
                </a:solidFill>
                <a:latin typeface="Consolas"/>
                <a:ea typeface="Consolas"/>
                <a:cs typeface="Consolas"/>
              </a:defRPr>
            </a:lvl8pPr>
            <a:lvl9pPr>
              <a:defRPr sz="1500">
                <a:solidFill>
                  <a:srgbClr val="113F43"/>
                </a:solidFill>
                <a:latin typeface="Consolas"/>
                <a:ea typeface="Consolas"/>
                <a:cs typeface="Consolas"/>
              </a:defRPr>
            </a:lvl9pPr>
          </a:lstStyle>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Luong_ThucHanh_NumPy/</a:t>
            </a:r>
          </a:p>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 Warehouse_Automation.db</a:t>
            </a:r>
          </a:p>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 luong_numpy.py</a:t>
            </a:r>
          </a:p>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 requirements.txt</a:t>
            </a:r>
          </a:p>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 HUONG_DAN.md</a:t>
            </a:r>
          </a:p>
          <a:p xmlns:a="http://schemas.openxmlformats.org/drawingml/2006/main">
            <a:pPr>
              <a:defRPr sz="1500">
                <a:solidFill>
                  <a:srgbClr val="113F43"/>
                </a:solidFill>
                <a:latin typeface="Consolas"/>
                <a:ea typeface="Consolas"/>
                <a:cs typeface="Consolas"/>
              </a:defRPr>
            </a:pPr>
            <a:r>
              <a:rPr sz="1500">
                <a:solidFill>
                  <a:srgbClr val="113F43"/>
                </a:solidFill>
                <a:latin typeface="Consolas"/>
                <a:ea typeface="Consolas"/>
                <a:cs typeface="Consolas"/>
              </a:rPr>
              <a:t>└── ket_qua_numpy/  # tạo khi chạy</a:t>
            </a:r>
          </a:p>
        </p:txBody>
      </p:sp>
      <p:sp>
        <p:nvSpPr>
          <p:cNvPr id="16" name="">
            <a:extLst xmlns:a="http://schemas.openxmlformats.org/drawingml/2006/main">
              <a:ext uri="{FF2B5EF4-FFF2-40B4-BE49-F238E27FC236}">
                <a16:creationId xmlns:a16="http://schemas.microsoft.com/office/drawing/2014/main" id="{8F552F3E-BC7C-404F-85B1-08CD315CA8A4}"/>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224B0437-E972-4D70-8FD1-AD992AB47960}"/>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PowerShell · số dòng trong khối lệnh</a:t>
            </a:r>
          </a:p>
        </p:txBody>
      </p:sp>
      <p:sp>
        <p:nvSpPr>
          <p:cNvPr id="18" name="">
            <a:extLst xmlns:a="http://schemas.openxmlformats.org/drawingml/2006/main">
              <a:ext uri="{FF2B5EF4-FFF2-40B4-BE49-F238E27FC236}">
                <a16:creationId xmlns:a16="http://schemas.microsoft.com/office/drawing/2014/main" id="{6BE7E1DA-8910-4955-965C-5C8A55D66E07}"/>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 │ </a:t>
            </a:r>
            <a:r>
              <a:rPr sz="1350">
                <a:solidFill>
                  <a:srgbClr val="9CDCFE"/>
                </a:solidFill>
                <a:latin typeface="Consolas"/>
                <a:ea typeface="Consolas"/>
                <a:cs typeface="Consolas"/>
              </a:rPr>
              <a:t>python</a:t>
            </a:r>
            <a:r>
              <a:rPr sz="1350">
                <a:solidFill>
                  <a:srgbClr val="D4D4D4"/>
                </a:solidFill>
                <a:latin typeface="Consolas"/>
                <a:ea typeface="Consolas"/>
                <a:cs typeface="Consolas"/>
              </a:rPr>
              <a:t> -</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9CDCFE"/>
                </a:solidFill>
                <a:latin typeface="Consolas"/>
                <a:ea typeface="Consolas"/>
                <a:cs typeface="Consolas"/>
              </a:rPr>
              <a:t>venv</a:t>
            </a:r>
            <a:r>
              <a:rPr sz="1350">
                <a:solidFill>
                  <a:srgbClr val="D4D4D4"/>
                </a:solidFill>
                <a:latin typeface="Consolas"/>
                <a:ea typeface="Consolas"/>
                <a:cs typeface="Consolas"/>
              </a:rPr>
              <a:t> .</a:t>
            </a:r>
            <a:r>
              <a:rPr sz="1350">
                <a:solidFill>
                  <a:srgbClr val="9CDCFE"/>
                </a:solidFill>
                <a:latin typeface="Consolas"/>
                <a:ea typeface="Consolas"/>
                <a:cs typeface="Consolas"/>
              </a:rPr>
              <a:t>venv</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 │ </a:t>
            </a:r>
            <a:r>
              <a:rPr sz="1350">
                <a:solidFill>
                  <a:srgbClr val="D4D4D4"/>
                </a:solidFill>
                <a:latin typeface="Consolas"/>
                <a:ea typeface="Consolas"/>
                <a:cs typeface="Consolas"/>
              </a:rPr>
              <a:t>.</a:t>
            </a:r>
            <a:r>
              <a:rPr sz="1350">
                <a:solidFill>
                  <a:srgbClr val="9CDCFE"/>
                </a:solidFill>
                <a:latin typeface="Consolas"/>
                <a:ea typeface="Consolas"/>
                <a:cs typeface="Consolas"/>
              </a:rPr>
              <a:t>venv</a:t>
            </a:r>
            <a:r>
              <a:rPr sz="1350">
                <a:solidFill>
                  <a:srgbClr val="D4D4D4"/>
                </a:solidFill>
                <a:latin typeface="Consolas"/>
                <a:ea typeface="Consolas"/>
                <a:cs typeface="Consolas"/>
              </a:rPr>
              <a:t>\</a:t>
            </a:r>
            <a:r>
              <a:rPr sz="1350">
                <a:solidFill>
                  <a:srgbClr val="4EC9B0"/>
                </a:solidFill>
                <a:latin typeface="Consolas"/>
                <a:ea typeface="Consolas"/>
                <a:cs typeface="Consolas"/>
              </a:rPr>
              <a:t>Scripts</a:t>
            </a:r>
            <a:r>
              <a:rPr sz="1350">
                <a:solidFill>
                  <a:srgbClr val="D4D4D4"/>
                </a:solidFill>
                <a:latin typeface="Consolas"/>
                <a:ea typeface="Consolas"/>
                <a:cs typeface="Consolas"/>
              </a:rPr>
              <a:t>\</a:t>
            </a:r>
            <a:r>
              <a:rPr sz="1350">
                <a:solidFill>
                  <a:srgbClr val="9CDCFE"/>
                </a:solidFill>
                <a:latin typeface="Consolas"/>
                <a:ea typeface="Consolas"/>
                <a:cs typeface="Consolas"/>
              </a:rPr>
              <a:t>python</a:t>
            </a:r>
            <a:r>
              <a:rPr sz="1350">
                <a:solidFill>
                  <a:srgbClr val="D4D4D4"/>
                </a:solidFill>
                <a:latin typeface="Consolas"/>
                <a:ea typeface="Consolas"/>
                <a:cs typeface="Consolas"/>
              </a:rPr>
              <a:t> -</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9CDCFE"/>
                </a:solidFill>
                <a:latin typeface="Consolas"/>
                <a:ea typeface="Consolas"/>
                <a:cs typeface="Consolas"/>
              </a:rPr>
              <a:t>pip</a:t>
            </a:r>
            <a:r>
              <a:rPr sz="1350">
                <a:solidFill>
                  <a:srgbClr val="D4D4D4"/>
                </a:solidFill>
                <a:latin typeface="Consolas"/>
                <a:ea typeface="Consolas"/>
                <a:cs typeface="Consolas"/>
              </a:rPr>
              <a:t> </a:t>
            </a:r>
            <a:r>
              <a:rPr sz="1350">
                <a:solidFill>
                  <a:srgbClr val="9CDCFE"/>
                </a:solidFill>
                <a:latin typeface="Consolas"/>
                <a:ea typeface="Consolas"/>
                <a:cs typeface="Consolas"/>
              </a:rPr>
              <a:t>install</a:t>
            </a:r>
            <a:r>
              <a:rPr sz="1350">
                <a:solidFill>
                  <a:srgbClr val="D4D4D4"/>
                </a:solidFill>
                <a:latin typeface="Consolas"/>
                <a:ea typeface="Consolas"/>
                <a:cs typeface="Consolas"/>
              </a:rPr>
              <a:t> -</a:t>
            </a:r>
            <a:r>
              <a:rPr sz="1350">
                <a:solidFill>
                  <a:srgbClr val="9CDCFE"/>
                </a:solidFill>
                <a:latin typeface="Consolas"/>
                <a:ea typeface="Consolas"/>
                <a:cs typeface="Consolas"/>
              </a:rPr>
              <a:t>r</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requirements</a:t>
            </a:r>
            <a:r>
              <a:rPr sz="1350">
                <a:solidFill>
                  <a:srgbClr val="D4D4D4"/>
                </a:solidFill>
                <a:latin typeface="Consolas"/>
                <a:ea typeface="Consolas"/>
                <a:cs typeface="Consolas"/>
              </a:rPr>
              <a:t>.</a:t>
            </a:r>
            <a:r>
              <a:rPr sz="1350">
                <a:solidFill>
                  <a:srgbClr val="9CDCFE"/>
                </a:solidFill>
                <a:latin typeface="Consolas"/>
                <a:ea typeface="Consolas"/>
                <a:cs typeface="Consolas"/>
              </a:rPr>
              <a:t>txt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 │ </a:t>
            </a:r>
            <a:r>
              <a:rPr sz="1350">
                <a:solidFill>
                  <a:srgbClr val="D4D4D4"/>
                </a:solidFill>
                <a:latin typeface="Consolas"/>
                <a:ea typeface="Consolas"/>
                <a:cs typeface="Consolas"/>
              </a:rPr>
              <a:t>.</a:t>
            </a:r>
            <a:r>
              <a:rPr sz="1350">
                <a:solidFill>
                  <a:srgbClr val="9CDCFE"/>
                </a:solidFill>
                <a:latin typeface="Consolas"/>
                <a:ea typeface="Consolas"/>
                <a:cs typeface="Consolas"/>
              </a:rPr>
              <a:t>venv</a:t>
            </a:r>
            <a:r>
              <a:rPr sz="1350">
                <a:solidFill>
                  <a:srgbClr val="D4D4D4"/>
                </a:solidFill>
                <a:latin typeface="Consolas"/>
                <a:ea typeface="Consolas"/>
                <a:cs typeface="Consolas"/>
              </a:rPr>
              <a:t>\</a:t>
            </a:r>
            <a:r>
              <a:rPr sz="1350">
                <a:solidFill>
                  <a:srgbClr val="4EC9B0"/>
                </a:solidFill>
                <a:latin typeface="Consolas"/>
                <a:ea typeface="Consolas"/>
                <a:cs typeface="Consolas"/>
              </a:rPr>
              <a:t>Scripts</a:t>
            </a:r>
            <a:r>
              <a:rPr sz="1350">
                <a:solidFill>
                  <a:srgbClr val="D4D4D4"/>
                </a:solidFill>
                <a:latin typeface="Consolas"/>
                <a:ea typeface="Consolas"/>
                <a:cs typeface="Consolas"/>
              </a:rPr>
              <a:t>\</a:t>
            </a:r>
            <a:r>
              <a:rPr sz="1350">
                <a:solidFill>
                  <a:srgbClr val="9CDCFE"/>
                </a:solidFill>
                <a:latin typeface="Consolas"/>
                <a:ea typeface="Consolas"/>
                <a:cs typeface="Consolas"/>
              </a:rPr>
              <a:t>python</a:t>
            </a:r>
            <a:r>
              <a:rPr sz="1350">
                <a:solidFill>
                  <a:srgbClr val="D4D4D4"/>
                </a:solidFill>
                <a:latin typeface="Consolas"/>
                <a:ea typeface="Consolas"/>
                <a:cs typeface="Consolas"/>
              </a:rPr>
              <a:t> </a:t>
            </a:r>
            <a:r>
              <a:rPr sz="1350">
                <a:solidFill>
                  <a:srgbClr val="9CDCFE"/>
                </a:solidFill>
                <a:latin typeface="Consolas"/>
                <a:ea typeface="Consolas"/>
                <a:cs typeface="Consolas"/>
              </a:rPr>
              <a:t>luong_numpy</a:t>
            </a:r>
            <a:r>
              <a:rPr sz="1350">
                <a:solidFill>
                  <a:srgbClr val="D4D4D4"/>
                </a:solidFill>
                <a:latin typeface="Consolas"/>
                <a:ea typeface="Consolas"/>
                <a:cs typeface="Consolas"/>
              </a:rPr>
              <a:t>.</a:t>
            </a:r>
            <a:r>
              <a:rPr sz="1350">
                <a:solidFill>
                  <a:srgbClr val="9CDCFE"/>
                </a:solidFill>
                <a:latin typeface="Consolas"/>
                <a:ea typeface="Consolas"/>
                <a:cs typeface="Consolas"/>
              </a:rPr>
              <a:t>py</a:t>
            </a:r>
          </a:p>
        </p:txBody>
      </p:sp>
      <p:sp>
        <p:nvSpPr>
          <p:cNvPr id="19" name="">
            <a:extLst xmlns:a="http://schemas.openxmlformats.org/drawingml/2006/main">
              <a:ext uri="{FF2B5EF4-FFF2-40B4-BE49-F238E27FC236}">
                <a16:creationId xmlns:a16="http://schemas.microsoft.com/office/drawing/2014/main" id="{C0553B80-3722-498E-8639-8D745CDB3D0C}"/>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Nếu database ở thư mục khác, thêm --db "đường_dẫn_đầy_đủ.db" sau tên script. Có thể chọn nơi lưu báo cáo bằng --out "thư_mục_kết_quả".</a:t>
            </a:r>
          </a:p>
        </p:txBody>
      </p:sp>
    </p:spTree>
    <p:extLst>
      <p:ext uri="{BB962C8B-B14F-4D97-AF65-F5344CB8AC3E}">
        <p14:creationId xmlns:p14="http://schemas.microsoft.com/office/powerpoint/2010/main" val="296689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61de22454fc347a3"/>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3. Kết nối chỉ đọc và lấy giờ thiết bị</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4</a:t>
            </a:r>
          </a:p>
        </p:txBody>
      </p:sp>
      <p:sp>
        <p:nvSpPr>
          <p:cNvPr id="14" name="">
            <a:extLst xmlns:a="http://schemas.openxmlformats.org/drawingml/2006/main">
              <a:ext uri="{FF2B5EF4-FFF2-40B4-BE49-F238E27FC236}">
                <a16:creationId xmlns:a16="http://schemas.microsoft.com/office/drawing/2014/main" id="{F1BE6810-85CE-4A9F-8204-E2E6E63F186D}"/>
              </a:ext>
            </a:extLst>
          </p:cNvPr>
          <p:cNvSpPr>
            <a:spLocks xmlns:a="http://schemas.openxmlformats.org/drawingml/2006/main" noGrp="1"/>
          </p:cNvSpPr>
          <p:nvPr/>
        </p:nvSpPr>
        <p:spPr>
          <a:xfrm xmlns:a="http://schemas.openxmlformats.org/drawingml/2006/main">
            <a:off x="523875" y="161925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Path.resolve xác định đường dẫn tuyệt đối. Kiểm tra is_file trước khi mở giúp phát hiện sai vị trí ngay từ đầu. Tham số mode=ro trong URI yêu cầu SQLite chỉ đọc tệp, còn uri=True giúp hàm connect hiểu cú pháp này.</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SELECT chọn rõ ba cột. ORDER BY MaTB tạo thứ tự ổn định để các mảng mã, trạng thái và giờ giữ quan hệ tương ứng. fetchall trả danh sách các tuple.</a:t>
            </a:r>
          </a:p>
        </p:txBody>
      </p:sp>
      <p:sp>
        <p:nvSpPr>
          <p:cNvPr id="15" name="">
            <a:extLst xmlns:a="http://schemas.openxmlformats.org/drawingml/2006/main">
              <a:ext uri="{FF2B5EF4-FFF2-40B4-BE49-F238E27FC236}">
                <a16:creationId xmlns:a16="http://schemas.microsoft.com/office/drawing/2014/main" id="{5B323757-D607-4BD4-999D-CEA06A320831}"/>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EB5E85B-4C33-4DDD-AFC5-EF3AD849C579}"/>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D47CD856-9C9E-4473-8A3B-816F53312341}"/>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19 │ </a:t>
            </a:r>
            <a:r>
              <a:rPr sz="1350">
                <a:solidFill>
                  <a:srgbClr val="D4D4D4"/>
                </a:solidFill>
                <a:latin typeface="Consolas"/>
                <a:ea typeface="Consolas"/>
                <a:cs typeface="Consolas"/>
              </a:rPr>
              <a:t>    </a:t>
            </a:r>
            <a:r>
              <a:rPr sz="1350">
                <a:solidFill>
                  <a:srgbClr val="9CDCFE"/>
                </a:solidFill>
                <a:latin typeface="Consolas"/>
                <a:ea typeface="Consolas"/>
                <a:cs typeface="Consolas"/>
              </a:rPr>
              <a:t>db</a:t>
            </a:r>
            <a:r>
              <a:rPr sz="1350">
                <a:solidFill>
                  <a:srgbClr val="D4D4D4"/>
                </a:solidFill>
                <a:latin typeface="Consolas"/>
                <a:ea typeface="Consolas"/>
                <a:cs typeface="Consolas"/>
              </a:rPr>
              <a:t> = </a:t>
            </a:r>
            <a:r>
              <a:rPr sz="1350">
                <a:solidFill>
                  <a:srgbClr val="DCDCAA"/>
                </a:solidFill>
                <a:latin typeface="Consolas"/>
                <a:ea typeface="Consolas"/>
                <a:cs typeface="Consolas"/>
              </a:rPr>
              <a:t>Path</a:t>
            </a:r>
            <a:r>
              <a:rPr sz="1350">
                <a:solidFill>
                  <a:srgbClr val="D4D4D4"/>
                </a:solidFill>
                <a:latin typeface="Consolas"/>
                <a:ea typeface="Consolas"/>
                <a:cs typeface="Consolas"/>
              </a:rPr>
              <a:t>(</a:t>
            </a:r>
            <a:r>
              <a:rPr sz="1350">
                <a:solidFill>
                  <a:srgbClr val="9CDCFE"/>
                </a:solidFill>
                <a:latin typeface="Consolas"/>
                <a:ea typeface="Consolas"/>
                <a:cs typeface="Consolas"/>
              </a:rPr>
              <a:t>db</a:t>
            </a:r>
            <a:r>
              <a:rPr sz="1350">
                <a:solidFill>
                  <a:srgbClr val="D4D4D4"/>
                </a:solidFill>
                <a:latin typeface="Consolas"/>
                <a:ea typeface="Consolas"/>
                <a:cs typeface="Consolas"/>
              </a:rPr>
              <a:t>).</a:t>
            </a:r>
            <a:r>
              <a:rPr sz="1350">
                <a:solidFill>
                  <a:srgbClr val="DCDCAA"/>
                </a:solidFill>
                <a:latin typeface="Consolas"/>
                <a:ea typeface="Consolas"/>
                <a:cs typeface="Consolas"/>
              </a:rPr>
              <a:t>resolve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20 │ </a:t>
            </a:r>
            <a:r>
              <a:rPr sz="1350">
                <a:solidFill>
                  <a:srgbClr val="D4D4D4"/>
                </a:solidFill>
                <a:latin typeface="Consolas"/>
                <a:ea typeface="Consolas"/>
                <a:cs typeface="Consolas"/>
              </a:rPr>
              <a:t>    </a:t>
            </a:r>
            <a:r>
              <a:rPr sz="1350">
                <a:solidFill>
                  <a:srgbClr val="C586C0"/>
                </a:solidFill>
                <a:latin typeface="Consolas"/>
                <a:ea typeface="Consolas"/>
                <a:cs typeface="Consolas"/>
              </a:rPr>
              <a:t>if</a:t>
            </a:r>
            <a:r>
              <a:rPr sz="1350">
                <a:solidFill>
                  <a:srgbClr val="D4D4D4"/>
                </a:solidFill>
                <a:latin typeface="Consolas"/>
                <a:ea typeface="Consolas"/>
                <a:cs typeface="Consolas"/>
              </a:rPr>
              <a:t> </a:t>
            </a:r>
            <a:r>
              <a:rPr sz="1350">
                <a:solidFill>
                  <a:srgbClr val="C586C0"/>
                </a:solidFill>
                <a:latin typeface="Consolas"/>
                <a:ea typeface="Consolas"/>
                <a:cs typeface="Consolas"/>
              </a:rPr>
              <a:t>not</a:t>
            </a:r>
            <a:r>
              <a:rPr sz="1350">
                <a:solidFill>
                  <a:srgbClr val="D4D4D4"/>
                </a:solidFill>
                <a:latin typeface="Consolas"/>
                <a:ea typeface="Consolas"/>
                <a:cs typeface="Consolas"/>
              </a:rPr>
              <a:t> </a:t>
            </a:r>
            <a:r>
              <a:rPr sz="1350">
                <a:solidFill>
                  <a:srgbClr val="9CDCFE"/>
                </a:solidFill>
                <a:latin typeface="Consolas"/>
                <a:ea typeface="Consolas"/>
                <a:cs typeface="Consolas"/>
              </a:rPr>
              <a:t>db</a:t>
            </a:r>
            <a:r>
              <a:rPr sz="1350">
                <a:solidFill>
                  <a:srgbClr val="D4D4D4"/>
                </a:solidFill>
                <a:latin typeface="Consolas"/>
                <a:ea typeface="Consolas"/>
                <a:cs typeface="Consolas"/>
              </a:rPr>
              <a:t>.</a:t>
            </a:r>
            <a:r>
              <a:rPr sz="1350">
                <a:solidFill>
                  <a:srgbClr val="DCDCAA"/>
                </a:solidFill>
                <a:latin typeface="Consolas"/>
                <a:ea typeface="Consolas"/>
                <a:cs typeface="Consolas"/>
              </a:rPr>
              <a:t>is_file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21 │ </a:t>
            </a:r>
            <a:r>
              <a:rPr sz="1350">
                <a:solidFill>
                  <a:srgbClr val="D4D4D4"/>
                </a:solidFill>
                <a:latin typeface="Consolas"/>
                <a:ea typeface="Consolas"/>
                <a:cs typeface="Consolas"/>
              </a:rPr>
              <a:t>        </a:t>
            </a:r>
            <a:r>
              <a:rPr sz="1350">
                <a:solidFill>
                  <a:srgbClr val="C586C0"/>
                </a:solidFill>
                <a:latin typeface="Consolas"/>
                <a:ea typeface="Consolas"/>
                <a:cs typeface="Consolas"/>
              </a:rPr>
              <a:t>raise</a:t>
            </a:r>
            <a:r>
              <a:rPr sz="1350">
                <a:solidFill>
                  <a:srgbClr val="D4D4D4"/>
                </a:solidFill>
                <a:latin typeface="Consolas"/>
                <a:ea typeface="Consolas"/>
                <a:cs typeface="Consolas"/>
              </a:rPr>
              <a:t> </a:t>
            </a:r>
            <a:r>
              <a:rPr sz="1350">
                <a:solidFill>
                  <a:srgbClr val="DCDCAA"/>
                </a:solidFill>
                <a:latin typeface="Consolas"/>
                <a:ea typeface="Consolas"/>
                <a:cs typeface="Consolas"/>
              </a:rPr>
              <a:t>FileNotFoundError</a:t>
            </a:r>
            <a:r>
              <a:rPr sz="1350">
                <a:solidFill>
                  <a:srgbClr val="D4D4D4"/>
                </a:solidFill>
                <a:latin typeface="Consolas"/>
                <a:ea typeface="Consolas"/>
                <a:cs typeface="Consolas"/>
              </a:rPr>
              <a:t>(</a:t>
            </a:r>
            <a:r>
              <a:rPr sz="1350">
                <a:solidFill>
                  <a:srgbClr val="9CDCFE"/>
                </a:solidFill>
                <a:latin typeface="Consolas"/>
                <a:ea typeface="Consolas"/>
                <a:cs typeface="Consolas"/>
              </a:rPr>
              <a:t>db</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22 │ </a:t>
            </a:r>
            <a:r>
              <a:rPr sz="1350">
                <a:solidFill>
                  <a:srgbClr val="D4D4D4"/>
                </a:solidFill>
                <a:latin typeface="Consolas"/>
                <a:ea typeface="Consolas"/>
                <a:cs typeface="Consolas"/>
              </a:rPr>
              <a:t>    </a:t>
            </a:r>
            <a:r>
              <a:rPr sz="1350">
                <a:solidFill>
                  <a:srgbClr val="9CDCFE"/>
                </a:solidFill>
                <a:latin typeface="Consolas"/>
                <a:ea typeface="Consolas"/>
                <a:cs typeface="Consolas"/>
              </a:rPr>
              <a:t>truoc</a:t>
            </a:r>
            <a:r>
              <a:rPr sz="1350">
                <a:solidFill>
                  <a:srgbClr val="D4D4D4"/>
                </a:solidFill>
                <a:latin typeface="Consolas"/>
                <a:ea typeface="Consolas"/>
                <a:cs typeface="Consolas"/>
              </a:rPr>
              <a:t> = </a:t>
            </a:r>
            <a:r>
              <a:rPr sz="1350">
                <a:solidFill>
                  <a:srgbClr val="9CDCFE"/>
                </a:solidFill>
                <a:latin typeface="Consolas"/>
                <a:ea typeface="Consolas"/>
                <a:cs typeface="Consolas"/>
              </a:rPr>
              <a:t>hashlib</a:t>
            </a:r>
            <a:r>
              <a:rPr sz="1350">
                <a:solidFill>
                  <a:srgbClr val="D4D4D4"/>
                </a:solidFill>
                <a:latin typeface="Consolas"/>
                <a:ea typeface="Consolas"/>
                <a:cs typeface="Consolas"/>
              </a:rPr>
              <a:t>.</a:t>
            </a:r>
            <a:r>
              <a:rPr sz="1350">
                <a:solidFill>
                  <a:srgbClr val="DCDCAA"/>
                </a:solidFill>
                <a:latin typeface="Consolas"/>
                <a:ea typeface="Consolas"/>
                <a:cs typeface="Consolas"/>
              </a:rPr>
              <a:t>sha256</a:t>
            </a:r>
            <a:r>
              <a:rPr sz="1350">
                <a:solidFill>
                  <a:srgbClr val="D4D4D4"/>
                </a:solidFill>
                <a:latin typeface="Consolas"/>
                <a:ea typeface="Consolas"/>
                <a:cs typeface="Consolas"/>
              </a:rPr>
              <a:t>(</a:t>
            </a:r>
            <a:r>
              <a:rPr sz="1350">
                <a:solidFill>
                  <a:srgbClr val="9CDCFE"/>
                </a:solidFill>
                <a:latin typeface="Consolas"/>
                <a:ea typeface="Consolas"/>
                <a:cs typeface="Consolas"/>
              </a:rPr>
              <a:t>db</a:t>
            </a:r>
            <a:r>
              <a:rPr sz="1350">
                <a:solidFill>
                  <a:srgbClr val="D4D4D4"/>
                </a:solidFill>
                <a:latin typeface="Consolas"/>
                <a:ea typeface="Consolas"/>
                <a:cs typeface="Consolas"/>
              </a:rPr>
              <a:t>.</a:t>
            </a:r>
            <a:r>
              <a:rPr sz="1350">
                <a:solidFill>
                  <a:srgbClr val="DCDCAA"/>
                </a:solidFill>
                <a:latin typeface="Consolas"/>
                <a:ea typeface="Consolas"/>
                <a:cs typeface="Consolas"/>
              </a:rPr>
              <a:t>read_bytes</a:t>
            </a:r>
            <a:r>
              <a:rPr sz="1350">
                <a:solidFill>
                  <a:srgbClr val="D4D4D4"/>
                </a:solidFill>
                <a:latin typeface="Consolas"/>
                <a:ea typeface="Consolas"/>
                <a:cs typeface="Consolas"/>
              </a:rPr>
              <a:t>()).</a:t>
            </a:r>
            <a:r>
              <a:rPr sz="1350">
                <a:solidFill>
                  <a:srgbClr val="9CDCFE"/>
                </a:solidFill>
                <a:latin typeface="Consolas"/>
                <a:ea typeface="Consolas"/>
                <a:cs typeface="Consolas"/>
              </a:rPr>
              <a:t>hexdi</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CDCAA"/>
                </a:solidFill>
                <a:latin typeface="Consolas"/>
                <a:ea typeface="Consolas"/>
                <a:cs typeface="Consolas"/>
              </a:rPr>
              <a:t>gest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23 │ </a:t>
            </a:r>
            <a:r>
              <a:rPr sz="1350">
                <a:solidFill>
                  <a:srgbClr val="D4D4D4"/>
                </a:solidFill>
                <a:latin typeface="Consolas"/>
                <a:ea typeface="Consolas"/>
                <a:cs typeface="Consolas"/>
              </a:rPr>
              <a:t>    </a:t>
            </a:r>
            <a:r>
              <a:rPr sz="1350">
                <a:solidFill>
                  <a:srgbClr val="9CDCFE"/>
                </a:solidFill>
                <a:latin typeface="Consolas"/>
                <a:ea typeface="Consolas"/>
                <a:cs typeface="Consolas"/>
              </a:rPr>
              <a:t>con</a:t>
            </a:r>
            <a:r>
              <a:rPr sz="1350">
                <a:solidFill>
                  <a:srgbClr val="D4D4D4"/>
                </a:solidFill>
                <a:latin typeface="Consolas"/>
                <a:ea typeface="Consolas"/>
                <a:cs typeface="Consolas"/>
              </a:rPr>
              <a:t> = </a:t>
            </a:r>
            <a:r>
              <a:rPr sz="1350">
                <a:solidFill>
                  <a:srgbClr val="9CDCFE"/>
                </a:solidFill>
                <a:latin typeface="Consolas"/>
                <a:ea typeface="Consolas"/>
                <a:cs typeface="Consolas"/>
              </a:rPr>
              <a:t>sqlite3</a:t>
            </a:r>
            <a:r>
              <a:rPr sz="1350">
                <a:solidFill>
                  <a:srgbClr val="D4D4D4"/>
                </a:solidFill>
                <a:latin typeface="Consolas"/>
                <a:ea typeface="Consolas"/>
                <a:cs typeface="Consolas"/>
              </a:rPr>
              <a:t>.</a:t>
            </a:r>
            <a:r>
              <a:rPr sz="1350">
                <a:solidFill>
                  <a:srgbClr val="DCDCAA"/>
                </a:solidFill>
                <a:latin typeface="Consolas"/>
                <a:ea typeface="Consolas"/>
                <a:cs typeface="Consolas"/>
              </a:rPr>
              <a:t>connect</a:t>
            </a:r>
            <a:r>
              <a:rPr sz="1350">
                <a:solidFill>
                  <a:srgbClr val="D4D4D4"/>
                </a:solidFill>
                <a:latin typeface="Consolas"/>
                <a:ea typeface="Consolas"/>
                <a:cs typeface="Consolas"/>
              </a:rPr>
              <a:t>(</a:t>
            </a:r>
            <a:r>
              <a:rPr sz="1350">
                <a:solidFill>
                  <a:srgbClr val="9CDCFE"/>
                </a:solidFill>
                <a:latin typeface="Consolas"/>
                <a:ea typeface="Consolas"/>
                <a:cs typeface="Consolas"/>
              </a:rPr>
              <a:t>db</a:t>
            </a:r>
            <a:r>
              <a:rPr sz="1350">
                <a:solidFill>
                  <a:srgbClr val="D4D4D4"/>
                </a:solidFill>
                <a:latin typeface="Consolas"/>
                <a:ea typeface="Consolas"/>
                <a:cs typeface="Consolas"/>
              </a:rPr>
              <a:t>.</a:t>
            </a:r>
            <a:r>
              <a:rPr sz="1350">
                <a:solidFill>
                  <a:srgbClr val="DCDCAA"/>
                </a:solidFill>
                <a:latin typeface="Consolas"/>
                <a:ea typeface="Consolas"/>
                <a:cs typeface="Consolas"/>
              </a:rPr>
              <a:t>as_uri</a:t>
            </a:r>
            <a:r>
              <a:rPr sz="1350">
                <a:solidFill>
                  <a:srgbClr val="D4D4D4"/>
                </a:solidFill>
                <a:latin typeface="Consolas"/>
                <a:ea typeface="Consolas"/>
                <a:cs typeface="Consolas"/>
              </a:rPr>
              <a:t>() +</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CE9178"/>
                </a:solidFill>
                <a:latin typeface="Consolas"/>
                <a:ea typeface="Consolas"/>
                <a:cs typeface="Consolas"/>
              </a:rPr>
              <a:t>"?mode=ro"</a:t>
            </a:r>
            <a:r>
              <a:rPr sz="1350">
                <a:solidFill>
                  <a:srgbClr val="D4D4D4"/>
                </a:solidFill>
                <a:latin typeface="Consolas"/>
                <a:ea typeface="Consolas"/>
                <a:cs typeface="Consolas"/>
              </a:rPr>
              <a:t>, </a:t>
            </a:r>
            <a:r>
              <a:rPr sz="1350">
                <a:solidFill>
                  <a:srgbClr val="9CDCFE"/>
                </a:solidFill>
                <a:latin typeface="Consolas"/>
                <a:ea typeface="Consolas"/>
                <a:cs typeface="Consolas"/>
              </a:rPr>
              <a:t>uri</a:t>
            </a:r>
            <a:r>
              <a:rPr sz="1350">
                <a:solidFill>
                  <a:srgbClr val="D4D4D4"/>
                </a:solidFill>
                <a:latin typeface="Consolas"/>
                <a:ea typeface="Consolas"/>
                <a:cs typeface="Consolas"/>
              </a:rPr>
              <a:t>=</a:t>
            </a:r>
            <a:r>
              <a:rPr sz="1350">
                <a:solidFill>
                  <a:srgbClr val="C586C0"/>
                </a:solidFill>
                <a:latin typeface="Consolas"/>
                <a:ea typeface="Consolas"/>
                <a:cs typeface="Consolas"/>
              </a:rPr>
              <a:t>True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26 │ </a:t>
            </a:r>
            <a:r>
              <a:rPr sz="1350">
                <a:solidFill>
                  <a:srgbClr val="D4D4D4"/>
                </a:solidFill>
                <a:latin typeface="Consolas"/>
                <a:ea typeface="Consolas"/>
                <a:cs typeface="Consolas"/>
              </a:rPr>
              <a:t>        </a:t>
            </a:r>
            <a:r>
              <a:rPr sz="1350">
                <a:solidFill>
                  <a:srgbClr val="9CDCFE"/>
                </a:solidFill>
                <a:latin typeface="Consolas"/>
                <a:ea typeface="Consolas"/>
                <a:cs typeface="Consolas"/>
              </a:rPr>
              <a:t>rows</a:t>
            </a:r>
            <a:r>
              <a:rPr sz="1350">
                <a:solidFill>
                  <a:srgbClr val="D4D4D4"/>
                </a:solidFill>
                <a:latin typeface="Consolas"/>
                <a:ea typeface="Consolas"/>
                <a:cs typeface="Consolas"/>
              </a:rPr>
              <a:t> = </a:t>
            </a:r>
            <a:r>
              <a:rPr sz="1350">
                <a:solidFill>
                  <a:srgbClr val="9CDCFE"/>
                </a:solidFill>
                <a:latin typeface="Consolas"/>
                <a:ea typeface="Consolas"/>
                <a:cs typeface="Consolas"/>
              </a:rPr>
              <a:t>con</a:t>
            </a:r>
            <a:r>
              <a:rPr sz="1350">
                <a:solidFill>
                  <a:srgbClr val="D4D4D4"/>
                </a:solidFill>
                <a:latin typeface="Consolas"/>
                <a:ea typeface="Consolas"/>
                <a:cs typeface="Consolas"/>
              </a:rPr>
              <a:t>.</a:t>
            </a:r>
            <a:r>
              <a:rPr sz="1350">
                <a:solidFill>
                  <a:srgbClr val="DCDCAA"/>
                </a:solidFill>
                <a:latin typeface="Consolas"/>
                <a:ea typeface="Consolas"/>
                <a:cs typeface="Consolas"/>
              </a:rPr>
              <a:t>execute</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CE9178"/>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27 │ </a:t>
            </a:r>
            <a:r>
              <a:rPr sz="1350">
                <a:solidFill>
                  <a:srgbClr val="D4D4D4"/>
                </a:solidFill>
                <a:latin typeface="Consolas"/>
                <a:ea typeface="Consolas"/>
                <a:cs typeface="Consolas"/>
              </a:rPr>
              <a:t>            </a:t>
            </a:r>
            <a:r>
              <a:rPr sz="1350">
                <a:solidFill>
                  <a:srgbClr val="C586C0"/>
                </a:solidFill>
                <a:latin typeface="Consolas"/>
                <a:ea typeface="Consolas"/>
                <a:cs typeface="Consolas"/>
              </a:rPr>
              <a:t>SELECT</a:t>
            </a:r>
            <a:r>
              <a:rPr sz="1350">
                <a:solidFill>
                  <a:srgbClr val="D4D4D4"/>
                </a:solidFill>
                <a:latin typeface="Consolas"/>
                <a:ea typeface="Consolas"/>
                <a:cs typeface="Consolas"/>
              </a:rPr>
              <a:t> </a:t>
            </a:r>
            <a:r>
              <a:rPr sz="1350">
                <a:solidFill>
                  <a:srgbClr val="4EC9B0"/>
                </a:solidFill>
                <a:latin typeface="Consolas"/>
                <a:ea typeface="Consolas"/>
                <a:cs typeface="Consolas"/>
              </a:rPr>
              <a:t>MaTB</a:t>
            </a:r>
            <a:r>
              <a:rPr sz="1350">
                <a:solidFill>
                  <a:srgbClr val="D4D4D4"/>
                </a:solidFill>
                <a:latin typeface="Consolas"/>
                <a:ea typeface="Consolas"/>
                <a:cs typeface="Consolas"/>
              </a:rPr>
              <a:t>, </a:t>
            </a:r>
            <a:r>
              <a:rPr sz="1350">
                <a:solidFill>
                  <a:srgbClr val="4EC9B0"/>
                </a:solidFill>
                <a:latin typeface="Consolas"/>
                <a:ea typeface="Consolas"/>
                <a:cs typeface="Consolas"/>
              </a:rPr>
              <a:t>TrangThai</a:t>
            </a:r>
            <a:r>
              <a:rPr sz="1350">
                <a:solidFill>
                  <a:srgbClr val="D4D4D4"/>
                </a:solidFill>
                <a:latin typeface="Consolas"/>
                <a:ea typeface="Consolas"/>
                <a:cs typeface="Consolas"/>
              </a:rPr>
              <a:t>, </a:t>
            </a:r>
            <a:r>
              <a:rPr sz="1350">
                <a:solidFill>
                  <a:srgbClr val="4EC9B0"/>
                </a:solidFill>
                <a:latin typeface="Consolas"/>
                <a:ea typeface="Consolas"/>
                <a:cs typeface="Consolas"/>
              </a:rPr>
              <a:t>GioHoatDong</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28 │ </a:t>
            </a:r>
            <a:r>
              <a:rPr sz="1350">
                <a:solidFill>
                  <a:srgbClr val="D4D4D4"/>
                </a:solidFill>
                <a:latin typeface="Consolas"/>
                <a:ea typeface="Consolas"/>
                <a:cs typeface="Consolas"/>
              </a:rPr>
              <a:t>            </a:t>
            </a:r>
            <a:r>
              <a:rPr sz="1350">
                <a:solidFill>
                  <a:srgbClr val="C586C0"/>
                </a:solidFill>
                <a:latin typeface="Consolas"/>
                <a:ea typeface="Consolas"/>
                <a:cs typeface="Consolas"/>
              </a:rPr>
              <a:t>FROM</a:t>
            </a:r>
            <a:r>
              <a:rPr sz="1350">
                <a:solidFill>
                  <a:srgbClr val="D4D4D4"/>
                </a:solidFill>
                <a:latin typeface="Consolas"/>
                <a:ea typeface="Consolas"/>
                <a:cs typeface="Consolas"/>
              </a:rPr>
              <a:t> </a:t>
            </a:r>
            <a:r>
              <a:rPr sz="1350">
                <a:solidFill>
                  <a:srgbClr val="4EC9B0"/>
                </a:solidFill>
                <a:latin typeface="Consolas"/>
                <a:ea typeface="Consolas"/>
                <a:cs typeface="Consolas"/>
              </a:rPr>
              <a:t>ThietBi</a:t>
            </a:r>
            <a:r>
              <a:rPr sz="1350">
                <a:solidFill>
                  <a:srgbClr val="D4D4D4"/>
                </a:solidFill>
                <a:latin typeface="Consolas"/>
                <a:ea typeface="Consolas"/>
                <a:cs typeface="Consolas"/>
              </a:rPr>
              <a:t> </a:t>
            </a:r>
            <a:r>
              <a:rPr sz="1350">
                <a:solidFill>
                  <a:srgbClr val="C586C0"/>
                </a:solidFill>
                <a:latin typeface="Consolas"/>
                <a:ea typeface="Consolas"/>
                <a:cs typeface="Consolas"/>
              </a:rPr>
              <a:t>ORDER</a:t>
            </a:r>
            <a:r>
              <a:rPr sz="1350">
                <a:solidFill>
                  <a:srgbClr val="D4D4D4"/>
                </a:solidFill>
                <a:latin typeface="Consolas"/>
                <a:ea typeface="Consolas"/>
                <a:cs typeface="Consolas"/>
              </a:rPr>
              <a:t> </a:t>
            </a:r>
            <a:r>
              <a:rPr sz="1350">
                <a:solidFill>
                  <a:srgbClr val="C586C0"/>
                </a:solidFill>
                <a:latin typeface="Consolas"/>
                <a:ea typeface="Consolas"/>
                <a:cs typeface="Consolas"/>
              </a:rPr>
              <a:t>BY</a:t>
            </a:r>
            <a:r>
              <a:rPr sz="1350">
                <a:solidFill>
                  <a:srgbClr val="D4D4D4"/>
                </a:solidFill>
                <a:latin typeface="Consolas"/>
                <a:ea typeface="Consolas"/>
                <a:cs typeface="Consolas"/>
              </a:rPr>
              <a:t> </a:t>
            </a:r>
            <a:r>
              <a:rPr sz="1350">
                <a:solidFill>
                  <a:srgbClr val="4EC9B0"/>
                </a:solidFill>
                <a:latin typeface="Consolas"/>
                <a:ea typeface="Consolas"/>
                <a:cs typeface="Consolas"/>
              </a:rPr>
              <a:t>MaTB</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29 │ </a:t>
            </a:r>
            <a:r>
              <a:rPr sz="1350">
                <a:solidFill>
                  <a:srgbClr val="D4D4D4"/>
                </a:solidFill>
                <a:latin typeface="Consolas"/>
                <a:ea typeface="Consolas"/>
                <a:cs typeface="Consolas"/>
              </a:rPr>
              <a:t>        </a:t>
            </a:r>
            <a:r>
              <a:rPr sz="1350">
                <a:solidFill>
                  <a:srgbClr val="CE9178"/>
                </a:solidFill>
                <a:latin typeface="Consolas"/>
                <a:ea typeface="Consolas"/>
                <a:cs typeface="Consolas"/>
              </a:rPr>
              <a:t>""</a:t>
            </a:r>
            <a:r>
              <a:rPr sz="1350">
                <a:solidFill>
                  <a:srgbClr val="CE9178"/>
                </a:solidFill>
                <a:latin typeface="Consolas"/>
                <a:ea typeface="Consolas"/>
                <a:cs typeface="Consolas"/>
              </a:rPr>
              <a:t>"</a:t>
            </a:r>
            <a:r>
              <a:rPr sz="1350">
                <a:solidFill>
                  <a:srgbClr val="D4D4D4"/>
                </a:solidFill>
                <a:latin typeface="Consolas"/>
                <a:ea typeface="Consolas"/>
                <a:cs typeface="Consolas"/>
              </a:rPr>
              <a:t>).</a:t>
            </a:r>
            <a:r>
              <a:rPr sz="1350">
                <a:solidFill>
                  <a:srgbClr val="DCDCAA"/>
                </a:solidFill>
                <a:latin typeface="Consolas"/>
                <a:ea typeface="Consolas"/>
                <a:cs typeface="Consolas"/>
              </a:rPr>
              <a:t>fetchall</a:t>
            </a:r>
            <a:r>
              <a:rPr sz="1350">
                <a:solidFill>
                  <a:srgbClr val="D4D4D4"/>
                </a:solidFill>
                <a:latin typeface="Consolas"/>
                <a:ea typeface="Consolas"/>
                <a:cs typeface="Consolas"/>
              </a:rPr>
              <a:t>()</a:t>
            </a:r>
          </a:p>
        </p:txBody>
      </p:sp>
      <p:sp>
        <p:nvSpPr>
          <p:cNvPr id="18" name="">
            <a:extLst xmlns:a="http://schemas.openxmlformats.org/drawingml/2006/main">
              <a:ext uri="{FF2B5EF4-FFF2-40B4-BE49-F238E27FC236}">
                <a16:creationId xmlns:a16="http://schemas.microsoft.com/office/drawing/2014/main" id="{2753A7D6-CD17-4446-8CCF-916D22C012F7}"/>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Chương trình đóng con trong finally sau khi đọc cả thiết bị và cảnh báo. Phân tích NumPy vẫn tiếp tục được vì dữ liệu đã nằm trong các danh sách Python.</a:t>
            </a:r>
          </a:p>
        </p:txBody>
      </p:sp>
    </p:spTree>
    <p:extLst>
      <p:ext uri="{BB962C8B-B14F-4D97-AF65-F5344CB8AC3E}">
        <p14:creationId xmlns:p14="http://schemas.microsoft.com/office/powerpoint/2010/main" val="2966899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77ca61e2846f47a6"/>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4. Đếm cảnh báo và căn theo mã thiết bị</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5</a:t>
            </a:r>
          </a:p>
        </p:txBody>
      </p:sp>
      <p:sp>
        <p:nvSpPr>
          <p:cNvPr id="14" name="">
            <a:extLst xmlns:a="http://schemas.openxmlformats.org/drawingml/2006/main">
              <a:ext uri="{FF2B5EF4-FFF2-40B4-BE49-F238E27FC236}">
                <a16:creationId xmlns:a16="http://schemas.microsoft.com/office/drawing/2014/main" id="{92A56D53-2DE3-4A0B-8789-CAC8776BBA35}"/>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Một cảnh báo tham chiếu MaDL, mẫu đo xác định MaCB và cảm biến xác định MaTB. Chuỗi JOIN này tìm thiết bị của từng cảnh báo. GROUP BY gom về một dòng cho mỗi thiết bị có bản ghi cảnh báo.</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dict tạo bảng tra cứu theo mã. get(m, 0) bổ sung số 0 cho thiết bị không có bản ghi cảnh báo trong bảng hiện tại, nhờ đó dem luôn cùng thứ tự với ma.</a:t>
            </a:r>
          </a:p>
        </p:txBody>
      </p:sp>
      <p:sp>
        <p:nvSpPr>
          <p:cNvPr id="15" name="">
            <a:extLst xmlns:a="http://schemas.openxmlformats.org/drawingml/2006/main">
              <a:ext uri="{FF2B5EF4-FFF2-40B4-BE49-F238E27FC236}">
                <a16:creationId xmlns:a16="http://schemas.microsoft.com/office/drawing/2014/main" id="{90273CB6-3631-4550-9C7C-7B58F37CA4EB}"/>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0678FCB-E513-4321-88B7-07423D1BE756}"/>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8E859982-9F1D-49B9-928F-607FF5CDB378}"/>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30 │ </a:t>
            </a:r>
            <a:r>
              <a:rPr sz="1350">
                <a:solidFill>
                  <a:srgbClr val="D4D4D4"/>
                </a:solidFill>
                <a:latin typeface="Consolas"/>
                <a:ea typeface="Consolas"/>
                <a:cs typeface="Consolas"/>
              </a:rPr>
              <a:t>        </a:t>
            </a:r>
            <a:r>
              <a:rPr sz="1350">
                <a:solidFill>
                  <a:srgbClr val="9CDCFE"/>
                </a:solidFill>
                <a:latin typeface="Consolas"/>
                <a:ea typeface="Consolas"/>
                <a:cs typeface="Consolas"/>
              </a:rPr>
              <a:t>alarm_rows</a:t>
            </a:r>
            <a:r>
              <a:rPr sz="1350">
                <a:solidFill>
                  <a:srgbClr val="D4D4D4"/>
                </a:solidFill>
                <a:latin typeface="Consolas"/>
                <a:ea typeface="Consolas"/>
                <a:cs typeface="Consolas"/>
              </a:rPr>
              <a:t> = </a:t>
            </a:r>
            <a:r>
              <a:rPr sz="1350">
                <a:solidFill>
                  <a:srgbClr val="9CDCFE"/>
                </a:solidFill>
                <a:latin typeface="Consolas"/>
                <a:ea typeface="Consolas"/>
                <a:cs typeface="Consolas"/>
              </a:rPr>
              <a:t>con</a:t>
            </a:r>
            <a:r>
              <a:rPr sz="1350">
                <a:solidFill>
                  <a:srgbClr val="D4D4D4"/>
                </a:solidFill>
                <a:latin typeface="Consolas"/>
                <a:ea typeface="Consolas"/>
                <a:cs typeface="Consolas"/>
              </a:rPr>
              <a:t>.</a:t>
            </a:r>
            <a:r>
              <a:rPr sz="1350">
                <a:solidFill>
                  <a:srgbClr val="DCDCAA"/>
                </a:solidFill>
                <a:latin typeface="Consolas"/>
                <a:ea typeface="Consolas"/>
                <a:cs typeface="Consolas"/>
              </a:rPr>
              <a:t>execute</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CE9178"/>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31 │ </a:t>
            </a:r>
            <a:r>
              <a:rPr sz="1350">
                <a:solidFill>
                  <a:srgbClr val="D4D4D4"/>
                </a:solidFill>
                <a:latin typeface="Consolas"/>
                <a:ea typeface="Consolas"/>
                <a:cs typeface="Consolas"/>
              </a:rPr>
              <a:t>            </a:t>
            </a:r>
            <a:r>
              <a:rPr sz="1350">
                <a:solidFill>
                  <a:srgbClr val="C586C0"/>
                </a:solidFill>
                <a:latin typeface="Consolas"/>
                <a:ea typeface="Consolas"/>
                <a:cs typeface="Consolas"/>
              </a:rPr>
              <a:t>SELECT</a:t>
            </a:r>
            <a:r>
              <a:rPr sz="1350">
                <a:solidFill>
                  <a:srgbClr val="D4D4D4"/>
                </a:solidFill>
                <a:latin typeface="Consolas"/>
                <a:ea typeface="Consolas"/>
                <a:cs typeface="Consolas"/>
              </a:rPr>
              <a:t> </a:t>
            </a:r>
            <a:r>
              <a:rPr sz="1350">
                <a:solidFill>
                  <a:srgbClr val="9CDCFE"/>
                </a:solidFill>
                <a:latin typeface="Consolas"/>
                <a:ea typeface="Consolas"/>
                <a:cs typeface="Consolas"/>
              </a:rPr>
              <a:t>c</a:t>
            </a:r>
            <a:r>
              <a:rPr sz="1350">
                <a:solidFill>
                  <a:srgbClr val="D4D4D4"/>
                </a:solidFill>
                <a:latin typeface="Consolas"/>
                <a:ea typeface="Consolas"/>
                <a:cs typeface="Consolas"/>
              </a:rPr>
              <a:t>.</a:t>
            </a:r>
            <a:r>
              <a:rPr sz="1350">
                <a:solidFill>
                  <a:srgbClr val="4EC9B0"/>
                </a:solidFill>
                <a:latin typeface="Consolas"/>
                <a:ea typeface="Consolas"/>
                <a:cs typeface="Consolas"/>
              </a:rPr>
              <a:t>MaTB</a:t>
            </a:r>
            <a:r>
              <a:rPr sz="1350">
                <a:solidFill>
                  <a:srgbClr val="D4D4D4"/>
                </a:solidFill>
                <a:latin typeface="Consolas"/>
                <a:ea typeface="Consolas"/>
                <a:cs typeface="Consolas"/>
              </a:rPr>
              <a:t>, </a:t>
            </a:r>
            <a:r>
              <a:rPr sz="1350">
                <a:solidFill>
                  <a:srgbClr val="C586C0"/>
                </a:solidFill>
                <a:latin typeface="Consolas"/>
                <a:ea typeface="Consolas"/>
                <a:cs typeface="Consolas"/>
              </a:rPr>
              <a:t>COUNT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32 │ </a:t>
            </a:r>
            <a:r>
              <a:rPr sz="1350">
                <a:solidFill>
                  <a:srgbClr val="D4D4D4"/>
                </a:solidFill>
                <a:latin typeface="Consolas"/>
                <a:ea typeface="Consolas"/>
                <a:cs typeface="Consolas"/>
              </a:rPr>
              <a:t>            </a:t>
            </a:r>
            <a:r>
              <a:rPr sz="1350">
                <a:solidFill>
                  <a:srgbClr val="C586C0"/>
                </a:solidFill>
                <a:latin typeface="Consolas"/>
                <a:ea typeface="Consolas"/>
                <a:cs typeface="Consolas"/>
              </a:rPr>
              <a:t>FROM</a:t>
            </a:r>
            <a:r>
              <a:rPr sz="1350">
                <a:solidFill>
                  <a:srgbClr val="D4D4D4"/>
                </a:solidFill>
                <a:latin typeface="Consolas"/>
                <a:ea typeface="Consolas"/>
                <a:cs typeface="Consolas"/>
              </a:rPr>
              <a:t> </a:t>
            </a:r>
            <a:r>
              <a:rPr sz="1350">
                <a:solidFill>
                  <a:srgbClr val="4EC9B0"/>
                </a:solidFill>
                <a:latin typeface="Consolas"/>
                <a:ea typeface="Consolas"/>
                <a:cs typeface="Consolas"/>
              </a:rPr>
              <a:t>CanhBao</a:t>
            </a:r>
            <a:r>
              <a:rPr sz="1350">
                <a:solidFill>
                  <a:srgbClr val="D4D4D4"/>
                </a:solidFill>
                <a:latin typeface="Consolas"/>
                <a:ea typeface="Consolas"/>
                <a:cs typeface="Consolas"/>
              </a:rPr>
              <a:t> </a:t>
            </a:r>
            <a:r>
              <a:rPr sz="1350">
                <a:solidFill>
                  <a:srgbClr val="9CDCFE"/>
                </a:solidFill>
                <a:latin typeface="Consolas"/>
                <a:ea typeface="Consolas"/>
                <a:cs typeface="Consolas"/>
              </a:rPr>
              <a:t>b</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33 │ </a:t>
            </a:r>
            <a:r>
              <a:rPr sz="1350">
                <a:solidFill>
                  <a:srgbClr val="D4D4D4"/>
                </a:solidFill>
                <a:latin typeface="Consolas"/>
                <a:ea typeface="Consolas"/>
                <a:cs typeface="Consolas"/>
              </a:rPr>
              <a:t>            </a:t>
            </a:r>
            <a:r>
              <a:rPr sz="1350">
                <a:solidFill>
                  <a:srgbClr val="C586C0"/>
                </a:solidFill>
                <a:latin typeface="Consolas"/>
                <a:ea typeface="Consolas"/>
                <a:cs typeface="Consolas"/>
              </a:rPr>
              <a:t>JOIN</a:t>
            </a:r>
            <a:r>
              <a:rPr sz="1350">
                <a:solidFill>
                  <a:srgbClr val="D4D4D4"/>
                </a:solidFill>
                <a:latin typeface="Consolas"/>
                <a:ea typeface="Consolas"/>
                <a:cs typeface="Consolas"/>
              </a:rPr>
              <a:t> </a:t>
            </a:r>
            <a:r>
              <a:rPr sz="1350">
                <a:solidFill>
                  <a:srgbClr val="4EC9B0"/>
                </a:solidFill>
                <a:latin typeface="Consolas"/>
                <a:ea typeface="Consolas"/>
                <a:cs typeface="Consolas"/>
              </a:rPr>
              <a:t>DuLieuCamBien</a:t>
            </a:r>
            <a:r>
              <a:rPr sz="1350">
                <a:solidFill>
                  <a:srgbClr val="D4D4D4"/>
                </a:solidFill>
                <a:latin typeface="Consolas"/>
                <a:ea typeface="Consolas"/>
                <a:cs typeface="Consolas"/>
              </a:rPr>
              <a:t> </a:t>
            </a:r>
            <a:r>
              <a:rPr sz="1350">
                <a:solidFill>
                  <a:srgbClr val="9CDCFE"/>
                </a:solidFill>
                <a:latin typeface="Consolas"/>
                <a:ea typeface="Consolas"/>
                <a:cs typeface="Consolas"/>
              </a:rPr>
              <a:t>d</a:t>
            </a:r>
            <a:r>
              <a:rPr sz="1350">
                <a:solidFill>
                  <a:srgbClr val="D4D4D4"/>
                </a:solidFill>
                <a:latin typeface="Consolas"/>
                <a:ea typeface="Consolas"/>
                <a:cs typeface="Consolas"/>
              </a:rPr>
              <a:t> </a:t>
            </a:r>
            <a:r>
              <a:rPr sz="1350">
                <a:solidFill>
                  <a:srgbClr val="C586C0"/>
                </a:solidFill>
                <a:latin typeface="Consolas"/>
                <a:ea typeface="Consolas"/>
                <a:cs typeface="Consolas"/>
              </a:rPr>
              <a:t>ON</a:t>
            </a:r>
            <a:r>
              <a:rPr sz="1350">
                <a:solidFill>
                  <a:srgbClr val="D4D4D4"/>
                </a:solidFill>
                <a:latin typeface="Consolas"/>
                <a:ea typeface="Consolas"/>
                <a:cs typeface="Consolas"/>
              </a:rPr>
              <a:t> </a:t>
            </a:r>
            <a:r>
              <a:rPr sz="1350">
                <a:solidFill>
                  <a:srgbClr val="9CDCFE"/>
                </a:solidFill>
                <a:latin typeface="Consolas"/>
                <a:ea typeface="Consolas"/>
                <a:cs typeface="Consolas"/>
              </a:rPr>
              <a:t>d</a:t>
            </a:r>
            <a:r>
              <a:rPr sz="1350">
                <a:solidFill>
                  <a:srgbClr val="D4D4D4"/>
                </a:solidFill>
                <a:latin typeface="Consolas"/>
                <a:ea typeface="Consolas"/>
                <a:cs typeface="Consolas"/>
              </a:rPr>
              <a:t>.</a:t>
            </a:r>
            <a:r>
              <a:rPr sz="1350">
                <a:solidFill>
                  <a:srgbClr val="4EC9B0"/>
                </a:solidFill>
                <a:latin typeface="Consolas"/>
                <a:ea typeface="Consolas"/>
                <a:cs typeface="Consolas"/>
              </a:rPr>
              <a:t>MaDL</a:t>
            </a:r>
            <a:r>
              <a:rPr sz="1350">
                <a:solidFill>
                  <a:srgbClr val="D4D4D4"/>
                </a:solidFill>
                <a:latin typeface="Consolas"/>
                <a:ea typeface="Consolas"/>
                <a:cs typeface="Consolas"/>
              </a:rPr>
              <a:t>=</a:t>
            </a:r>
            <a:r>
              <a:rPr sz="1350">
                <a:solidFill>
                  <a:srgbClr val="9CDCFE"/>
                </a:solidFill>
                <a:latin typeface="Consolas"/>
                <a:ea typeface="Consolas"/>
                <a:cs typeface="Consolas"/>
              </a:rPr>
              <a:t>b</a:t>
            </a:r>
            <a:r>
              <a:rPr sz="1350">
                <a:solidFill>
                  <a:srgbClr val="D4D4D4"/>
                </a:solidFill>
                <a:latin typeface="Consolas"/>
                <a:ea typeface="Consolas"/>
                <a:cs typeface="Consolas"/>
              </a:rPr>
              <a:t>.</a:t>
            </a:r>
            <a:r>
              <a:rPr sz="1350">
                <a:solidFill>
                  <a:srgbClr val="4EC9B0"/>
                </a:solidFill>
                <a:latin typeface="Consolas"/>
                <a:ea typeface="Consolas"/>
                <a:cs typeface="Consolas"/>
              </a:rPr>
              <a:t>MaDL</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34 │ </a:t>
            </a:r>
            <a:r>
              <a:rPr sz="1350">
                <a:solidFill>
                  <a:srgbClr val="D4D4D4"/>
                </a:solidFill>
                <a:latin typeface="Consolas"/>
                <a:ea typeface="Consolas"/>
                <a:cs typeface="Consolas"/>
              </a:rPr>
              <a:t>            </a:t>
            </a:r>
            <a:r>
              <a:rPr sz="1350">
                <a:solidFill>
                  <a:srgbClr val="C586C0"/>
                </a:solidFill>
                <a:latin typeface="Consolas"/>
                <a:ea typeface="Consolas"/>
                <a:cs typeface="Consolas"/>
              </a:rPr>
              <a:t>JOIN</a:t>
            </a:r>
            <a:r>
              <a:rPr sz="1350">
                <a:solidFill>
                  <a:srgbClr val="D4D4D4"/>
                </a:solidFill>
                <a:latin typeface="Consolas"/>
                <a:ea typeface="Consolas"/>
                <a:cs typeface="Consolas"/>
              </a:rPr>
              <a:t> </a:t>
            </a:r>
            <a:r>
              <a:rPr sz="1350">
                <a:solidFill>
                  <a:srgbClr val="4EC9B0"/>
                </a:solidFill>
                <a:latin typeface="Consolas"/>
                <a:ea typeface="Consolas"/>
                <a:cs typeface="Consolas"/>
              </a:rPr>
              <a:t>CamBien</a:t>
            </a:r>
            <a:r>
              <a:rPr sz="1350">
                <a:solidFill>
                  <a:srgbClr val="D4D4D4"/>
                </a:solidFill>
                <a:latin typeface="Consolas"/>
                <a:ea typeface="Consolas"/>
                <a:cs typeface="Consolas"/>
              </a:rPr>
              <a:t> </a:t>
            </a:r>
            <a:r>
              <a:rPr sz="1350">
                <a:solidFill>
                  <a:srgbClr val="9CDCFE"/>
                </a:solidFill>
                <a:latin typeface="Consolas"/>
                <a:ea typeface="Consolas"/>
                <a:cs typeface="Consolas"/>
              </a:rPr>
              <a:t>c</a:t>
            </a:r>
            <a:r>
              <a:rPr sz="1350">
                <a:solidFill>
                  <a:srgbClr val="D4D4D4"/>
                </a:solidFill>
                <a:latin typeface="Consolas"/>
                <a:ea typeface="Consolas"/>
                <a:cs typeface="Consolas"/>
              </a:rPr>
              <a:t> </a:t>
            </a:r>
            <a:r>
              <a:rPr sz="1350">
                <a:solidFill>
                  <a:srgbClr val="C586C0"/>
                </a:solidFill>
                <a:latin typeface="Consolas"/>
                <a:ea typeface="Consolas"/>
                <a:cs typeface="Consolas"/>
              </a:rPr>
              <a:t>ON</a:t>
            </a:r>
            <a:r>
              <a:rPr sz="1350">
                <a:solidFill>
                  <a:srgbClr val="D4D4D4"/>
                </a:solidFill>
                <a:latin typeface="Consolas"/>
                <a:ea typeface="Consolas"/>
                <a:cs typeface="Consolas"/>
              </a:rPr>
              <a:t> </a:t>
            </a:r>
            <a:r>
              <a:rPr sz="1350">
                <a:solidFill>
                  <a:srgbClr val="9CDCFE"/>
                </a:solidFill>
                <a:latin typeface="Consolas"/>
                <a:ea typeface="Consolas"/>
                <a:cs typeface="Consolas"/>
              </a:rPr>
              <a:t>c</a:t>
            </a:r>
            <a:r>
              <a:rPr sz="1350">
                <a:solidFill>
                  <a:srgbClr val="D4D4D4"/>
                </a:solidFill>
                <a:latin typeface="Consolas"/>
                <a:ea typeface="Consolas"/>
                <a:cs typeface="Consolas"/>
              </a:rPr>
              <a:t>.</a:t>
            </a:r>
            <a:r>
              <a:rPr sz="1350">
                <a:solidFill>
                  <a:srgbClr val="4EC9B0"/>
                </a:solidFill>
                <a:latin typeface="Consolas"/>
                <a:ea typeface="Consolas"/>
                <a:cs typeface="Consolas"/>
              </a:rPr>
              <a:t>MaCB</a:t>
            </a:r>
            <a:r>
              <a:rPr sz="1350">
                <a:solidFill>
                  <a:srgbClr val="D4D4D4"/>
                </a:solidFill>
                <a:latin typeface="Consolas"/>
                <a:ea typeface="Consolas"/>
                <a:cs typeface="Consolas"/>
              </a:rPr>
              <a:t>=</a:t>
            </a:r>
            <a:r>
              <a:rPr sz="1350">
                <a:solidFill>
                  <a:srgbClr val="9CDCFE"/>
                </a:solidFill>
                <a:latin typeface="Consolas"/>
                <a:ea typeface="Consolas"/>
                <a:cs typeface="Consolas"/>
              </a:rPr>
              <a:t>d</a:t>
            </a:r>
            <a:r>
              <a:rPr sz="1350">
                <a:solidFill>
                  <a:srgbClr val="D4D4D4"/>
                </a:solidFill>
                <a:latin typeface="Consolas"/>
                <a:ea typeface="Consolas"/>
                <a:cs typeface="Consolas"/>
              </a:rPr>
              <a:t>.</a:t>
            </a:r>
            <a:r>
              <a:rPr sz="1350">
                <a:solidFill>
                  <a:srgbClr val="4EC9B0"/>
                </a:solidFill>
                <a:latin typeface="Consolas"/>
                <a:ea typeface="Consolas"/>
                <a:cs typeface="Consolas"/>
              </a:rPr>
              <a:t>MaCB</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35 │ </a:t>
            </a:r>
            <a:r>
              <a:rPr sz="1350">
                <a:solidFill>
                  <a:srgbClr val="D4D4D4"/>
                </a:solidFill>
                <a:latin typeface="Consolas"/>
                <a:ea typeface="Consolas"/>
                <a:cs typeface="Consolas"/>
              </a:rPr>
              <a:t>            </a:t>
            </a:r>
            <a:r>
              <a:rPr sz="1350">
                <a:solidFill>
                  <a:srgbClr val="C586C0"/>
                </a:solidFill>
                <a:latin typeface="Consolas"/>
                <a:ea typeface="Consolas"/>
                <a:cs typeface="Consolas"/>
              </a:rPr>
              <a:t>GROUP</a:t>
            </a:r>
            <a:r>
              <a:rPr sz="1350">
                <a:solidFill>
                  <a:srgbClr val="D4D4D4"/>
                </a:solidFill>
                <a:latin typeface="Consolas"/>
                <a:ea typeface="Consolas"/>
                <a:cs typeface="Consolas"/>
              </a:rPr>
              <a:t> </a:t>
            </a:r>
            <a:r>
              <a:rPr sz="1350">
                <a:solidFill>
                  <a:srgbClr val="C586C0"/>
                </a:solidFill>
                <a:latin typeface="Consolas"/>
                <a:ea typeface="Consolas"/>
                <a:cs typeface="Consolas"/>
              </a:rPr>
              <a:t>BY</a:t>
            </a:r>
            <a:r>
              <a:rPr sz="1350">
                <a:solidFill>
                  <a:srgbClr val="D4D4D4"/>
                </a:solidFill>
                <a:latin typeface="Consolas"/>
                <a:ea typeface="Consolas"/>
                <a:cs typeface="Consolas"/>
              </a:rPr>
              <a:t> </a:t>
            </a:r>
            <a:r>
              <a:rPr sz="1350">
                <a:solidFill>
                  <a:srgbClr val="9CDCFE"/>
                </a:solidFill>
                <a:latin typeface="Consolas"/>
                <a:ea typeface="Consolas"/>
                <a:cs typeface="Consolas"/>
              </a:rPr>
              <a:t>c</a:t>
            </a:r>
            <a:r>
              <a:rPr sz="1350">
                <a:solidFill>
                  <a:srgbClr val="D4D4D4"/>
                </a:solidFill>
                <a:latin typeface="Consolas"/>
                <a:ea typeface="Consolas"/>
                <a:cs typeface="Consolas"/>
              </a:rPr>
              <a:t>.</a:t>
            </a:r>
            <a:r>
              <a:rPr sz="1350">
                <a:solidFill>
                  <a:srgbClr val="4EC9B0"/>
                </a:solidFill>
                <a:latin typeface="Consolas"/>
                <a:ea typeface="Consolas"/>
                <a:cs typeface="Consolas"/>
              </a:rPr>
              <a:t>MaTB</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36 │ </a:t>
            </a:r>
            <a:r>
              <a:rPr sz="1350">
                <a:solidFill>
                  <a:srgbClr val="D4D4D4"/>
                </a:solidFill>
                <a:latin typeface="Consolas"/>
                <a:ea typeface="Consolas"/>
                <a:cs typeface="Consolas"/>
              </a:rPr>
              <a:t>        </a:t>
            </a:r>
            <a:r>
              <a:rPr sz="1350">
                <a:solidFill>
                  <a:srgbClr val="CE9178"/>
                </a:solidFill>
                <a:latin typeface="Consolas"/>
                <a:ea typeface="Consolas"/>
                <a:cs typeface="Consolas"/>
              </a:rPr>
              <a:t>""</a:t>
            </a:r>
            <a:r>
              <a:rPr sz="1350">
                <a:solidFill>
                  <a:srgbClr val="CE9178"/>
                </a:solidFill>
                <a:latin typeface="Consolas"/>
                <a:ea typeface="Consolas"/>
                <a:cs typeface="Consolas"/>
              </a:rPr>
              <a:t>"</a:t>
            </a:r>
            <a:r>
              <a:rPr sz="1350">
                <a:solidFill>
                  <a:srgbClr val="D4D4D4"/>
                </a:solidFill>
                <a:latin typeface="Consolas"/>
                <a:ea typeface="Consolas"/>
                <a:cs typeface="Consolas"/>
              </a:rPr>
              <a:t>).</a:t>
            </a:r>
            <a:r>
              <a:rPr sz="1350">
                <a:solidFill>
                  <a:srgbClr val="DCDCAA"/>
                </a:solidFill>
                <a:latin typeface="Consolas"/>
                <a:ea typeface="Consolas"/>
                <a:cs typeface="Consolas"/>
              </a:rPr>
              <a:t>fetchall</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46 │ </a:t>
            </a:r>
            <a:r>
              <a:rPr sz="1350">
                <a:solidFill>
                  <a:srgbClr val="D4D4D4"/>
                </a:solidFill>
                <a:latin typeface="Consolas"/>
                <a:ea typeface="Consolas"/>
                <a:cs typeface="Consolas"/>
              </a:rPr>
              <a:t>    </a:t>
            </a:r>
            <a:r>
              <a:rPr sz="1350">
                <a:solidFill>
                  <a:srgbClr val="9CDCFE"/>
                </a:solidFill>
                <a:latin typeface="Consolas"/>
                <a:ea typeface="Consolas"/>
                <a:cs typeface="Consolas"/>
              </a:rPr>
              <a:t>bang_dem</a:t>
            </a:r>
            <a:r>
              <a:rPr sz="1350">
                <a:solidFill>
                  <a:srgbClr val="D4D4D4"/>
                </a:solidFill>
                <a:latin typeface="Consolas"/>
                <a:ea typeface="Consolas"/>
                <a:cs typeface="Consolas"/>
              </a:rPr>
              <a:t> = </a:t>
            </a:r>
            <a:r>
              <a:rPr sz="1350">
                <a:solidFill>
                  <a:srgbClr val="DCDCAA"/>
                </a:solidFill>
                <a:latin typeface="Consolas"/>
                <a:ea typeface="Consolas"/>
                <a:cs typeface="Consolas"/>
              </a:rPr>
              <a:t>dict</a:t>
            </a:r>
            <a:r>
              <a:rPr sz="1350">
                <a:solidFill>
                  <a:srgbClr val="D4D4D4"/>
                </a:solidFill>
                <a:latin typeface="Consolas"/>
                <a:ea typeface="Consolas"/>
                <a:cs typeface="Consolas"/>
              </a:rPr>
              <a:t>(</a:t>
            </a:r>
            <a:r>
              <a:rPr sz="1350">
                <a:solidFill>
                  <a:srgbClr val="9CDCFE"/>
                </a:solidFill>
                <a:latin typeface="Consolas"/>
                <a:ea typeface="Consolas"/>
                <a:cs typeface="Consolas"/>
              </a:rPr>
              <a:t>alarm_rows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47 │ </a:t>
            </a:r>
            <a:r>
              <a:rPr sz="1350">
                <a:solidFill>
                  <a:srgbClr val="D4D4D4"/>
                </a:solidFill>
                <a:latin typeface="Consolas"/>
                <a:ea typeface="Consolas"/>
                <a:cs typeface="Consolas"/>
              </a:rPr>
              <a:t>    </a:t>
            </a:r>
            <a:r>
              <a:rPr sz="1350">
                <a:solidFill>
                  <a:srgbClr val="9CDCFE"/>
                </a:solidFill>
                <a:latin typeface="Consolas"/>
                <a:ea typeface="Consolas"/>
                <a:cs typeface="Consolas"/>
              </a:rPr>
              <a:t>dem</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9CDCFE"/>
                </a:solidFill>
                <a:latin typeface="Consolas"/>
                <a:ea typeface="Consolas"/>
                <a:cs typeface="Consolas"/>
              </a:rPr>
              <a:t>bang_dem</a:t>
            </a:r>
            <a:r>
              <a:rPr sz="1350">
                <a:solidFill>
                  <a:srgbClr val="D4D4D4"/>
                </a:solidFill>
                <a:latin typeface="Consolas"/>
                <a:ea typeface="Consolas"/>
                <a:cs typeface="Consolas"/>
              </a:rPr>
              <a:t>.</a:t>
            </a:r>
            <a:r>
              <a:rPr sz="1350">
                <a:solidFill>
                  <a:srgbClr val="DCDCAA"/>
                </a:solidFill>
                <a:latin typeface="Consolas"/>
                <a:ea typeface="Consolas"/>
                <a:cs typeface="Consolas"/>
              </a:rPr>
              <a:t>get</a:t>
            </a:r>
            <a:r>
              <a:rPr sz="1350">
                <a:solidFill>
                  <a:srgbClr val="D4D4D4"/>
                </a:solidFill>
                <a:latin typeface="Consolas"/>
                <a:ea typeface="Consolas"/>
                <a:cs typeface="Consolas"/>
              </a:rPr>
              <a:t>(</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C586C0"/>
                </a:solidFill>
                <a:latin typeface="Consolas"/>
                <a:ea typeface="Consolas"/>
                <a:cs typeface="Consolas"/>
              </a:rPr>
              <a:t>for</a:t>
            </a:r>
            <a:r>
              <a:rPr sz="1350">
                <a:solidFill>
                  <a:srgbClr val="D4D4D4"/>
                </a:solidFill>
                <a:latin typeface="Consolas"/>
                <a:ea typeface="Consolas"/>
                <a:cs typeface="Consolas"/>
              </a:rPr>
              <a:t> </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C586C0"/>
                </a:solidFill>
                <a:latin typeface="Consolas"/>
                <a:ea typeface="Consolas"/>
                <a:cs typeface="Consolas"/>
              </a:rPr>
              <a:t>in</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 </a:t>
            </a:r>
            <a:r>
              <a:rPr sz="1350">
                <a:solidFill>
                  <a:srgbClr val="9CDCFE"/>
                </a:solidFill>
                <a:latin typeface="Consolas"/>
                <a:ea typeface="Consolas"/>
                <a:cs typeface="Consolas"/>
              </a:rPr>
              <a:t>float</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D7F4D242-1CEC-4C8E-8CD8-FB23ABE9900C}"/>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587500"/>
                <a:gridCol w="1587500"/>
                <a:gridCol w="1587500"/>
              </a:tblGrid>
              <a:tr h="342900">
                <a:tc>
                  <a:txBody>
                    <a:bodyPr/>
                    <a:lstStyle/>
                    <a:p>
                      <a:r>
                        <a:rPr sz="1500" b="1">
                          <a:solidFill>
                            <a:srgbClr val="113F43"/>
                          </a:solidFill>
                          <a:latin typeface="Times New Roman"/>
                          <a:ea typeface="Times New Roman"/>
                          <a:cs typeface="Times New Roman"/>
                        </a:rPr>
                        <a:t>MaTB</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Giờ</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Số cảnh báo</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420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1500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860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1200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2CB0D437-C7F3-4674-B653-AEAB0F50A49F}"/>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Số 0 ở đây có nghĩa không tìm thấy bản ghi cảnh báo trong tệp. Nó chưa chứng minh thiết bị chưa từng có sự cố trong lịch sử.</a:t>
            </a:r>
          </a:p>
        </p:txBody>
      </p:sp>
    </p:spTree>
    <p:extLst>
      <p:ext uri="{BB962C8B-B14F-4D97-AF65-F5344CB8AC3E}">
        <p14:creationId xmlns:p14="http://schemas.microsoft.com/office/powerpoint/2010/main" val="296689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78ad929520c04897"/>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5. Mảng một chiều và dữ liệu cùng vị trí</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6</a:t>
            </a:r>
          </a:p>
        </p:txBody>
      </p:sp>
      <p:sp>
        <p:nvSpPr>
          <p:cNvPr id="14" name="">
            <a:extLst xmlns:a="http://schemas.openxmlformats.org/drawingml/2006/main">
              <a:ext uri="{FF2B5EF4-FFF2-40B4-BE49-F238E27FC236}">
                <a16:creationId xmlns:a16="http://schemas.microsoft.com/office/drawing/2014/main" id="{210AEAE3-B413-4381-8E75-A6067D01D18D}"/>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np.array tạo mảng từ các cột của kết quả SQL. dtype=str giữ mã và trạng thái dạng chuỗi. dtype=float cho phép tính toán giờ bằng số thực.</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shape=(4,) mô tả một mảng một chiều có bốn phần tử, không phải ma trận bốn dòng một cột. Kiểm tra size và isfinite giúp dừng sớm nếu đầu vào rỗng hoặc có số không hữu hạn.</a:t>
            </a:r>
          </a:p>
        </p:txBody>
      </p:sp>
      <p:sp>
        <p:nvSpPr>
          <p:cNvPr id="15" name="">
            <a:extLst xmlns:a="http://schemas.openxmlformats.org/drawingml/2006/main">
              <a:ext uri="{FF2B5EF4-FFF2-40B4-BE49-F238E27FC236}">
                <a16:creationId xmlns:a16="http://schemas.microsoft.com/office/drawing/2014/main" id="{8DA1DB2C-C472-4957-A2C9-2342BE41D7B1}"/>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0AAC50F5-D785-4879-B644-D316FA625A2F}"/>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9AE83ABC-4E45-480A-BA11-38F8830727E3}"/>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41 │ </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9CDCFE"/>
                </a:solidFill>
                <a:latin typeface="Consolas"/>
                <a:ea typeface="Consolas"/>
                <a:cs typeface="Consolas"/>
              </a:rPr>
              <a:t>r</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C586C0"/>
                </a:solidFill>
                <a:latin typeface="Consolas"/>
                <a:ea typeface="Consolas"/>
                <a:cs typeface="Consolas"/>
              </a:rPr>
              <a:t>for</a:t>
            </a:r>
            <a:r>
              <a:rPr sz="1350">
                <a:solidFill>
                  <a:srgbClr val="D4D4D4"/>
                </a:solidFill>
                <a:latin typeface="Consolas"/>
                <a:ea typeface="Consolas"/>
                <a:cs typeface="Consolas"/>
              </a:rPr>
              <a:t> </a:t>
            </a:r>
            <a:r>
              <a:rPr sz="1350">
                <a:solidFill>
                  <a:srgbClr val="9CDCFE"/>
                </a:solidFill>
                <a:latin typeface="Consolas"/>
                <a:ea typeface="Consolas"/>
                <a:cs typeface="Consolas"/>
              </a:rPr>
              <a:t>r</a:t>
            </a:r>
            <a:r>
              <a:rPr sz="1350">
                <a:solidFill>
                  <a:srgbClr val="D4D4D4"/>
                </a:solidFill>
                <a:latin typeface="Consolas"/>
                <a:ea typeface="Consolas"/>
                <a:cs typeface="Consolas"/>
              </a:rPr>
              <a:t> </a:t>
            </a:r>
            <a:r>
              <a:rPr sz="1350">
                <a:solidFill>
                  <a:srgbClr val="C586C0"/>
                </a:solidFill>
                <a:latin typeface="Consolas"/>
                <a:ea typeface="Consolas"/>
                <a:cs typeface="Consolas"/>
              </a:rPr>
              <a:t>in</a:t>
            </a:r>
            <a:r>
              <a:rPr sz="1350">
                <a:solidFill>
                  <a:srgbClr val="D4D4D4"/>
                </a:solidFill>
                <a:latin typeface="Consolas"/>
                <a:ea typeface="Consolas"/>
                <a:cs typeface="Consolas"/>
              </a:rPr>
              <a:t> </a:t>
            </a:r>
            <a:r>
              <a:rPr sz="1350">
                <a:solidFill>
                  <a:srgbClr val="9CDCFE"/>
                </a:solidFill>
                <a:latin typeface="Consolas"/>
                <a:ea typeface="Consolas"/>
                <a:cs typeface="Consolas"/>
              </a:rPr>
              <a:t>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dtype</a:t>
            </a:r>
            <a:r>
              <a:rPr sz="1350">
                <a:solidFill>
                  <a:srgbClr val="D4D4D4"/>
                </a:solidFill>
                <a:latin typeface="Consolas"/>
                <a:ea typeface="Consolas"/>
                <a:cs typeface="Consolas"/>
              </a:rPr>
              <a:t>=</a:t>
            </a:r>
            <a:r>
              <a:rPr sz="1350">
                <a:solidFill>
                  <a:srgbClr val="9CDCFE"/>
                </a:solidFill>
                <a:latin typeface="Consolas"/>
                <a:ea typeface="Consolas"/>
                <a:cs typeface="Consolas"/>
              </a:rPr>
              <a:t>str</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42 │ </a:t>
            </a:r>
            <a:r>
              <a:rPr sz="1350">
                <a:solidFill>
                  <a:srgbClr val="D4D4D4"/>
                </a:solidFill>
                <a:latin typeface="Consolas"/>
                <a:ea typeface="Consolas"/>
                <a:cs typeface="Consolas"/>
              </a:rPr>
              <a:t>    </a:t>
            </a:r>
            <a:r>
              <a:rPr sz="1350">
                <a:solidFill>
                  <a:srgbClr val="9CDCFE"/>
                </a:solidFill>
                <a:latin typeface="Consolas"/>
                <a:ea typeface="Consolas"/>
                <a:cs typeface="Consolas"/>
              </a:rPr>
              <a:t>trang_thai</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9CDCFE"/>
                </a:solidFill>
                <a:latin typeface="Consolas"/>
                <a:ea typeface="Consolas"/>
                <a:cs typeface="Consolas"/>
              </a:rPr>
              <a:t>r</a:t>
            </a:r>
            <a:r>
              <a:rPr sz="1350">
                <a:solidFill>
                  <a:srgbClr val="D4D4D4"/>
                </a:solidFill>
                <a:latin typeface="Consolas"/>
                <a:ea typeface="Consolas"/>
                <a:cs typeface="Consolas"/>
              </a:rPr>
              <a:t>[</a:t>
            </a:r>
            <a:r>
              <a:rPr sz="1350">
                <a:solidFill>
                  <a:srgbClr val="B5CEA8"/>
                </a:solidFill>
                <a:latin typeface="Consolas"/>
                <a:ea typeface="Consolas"/>
                <a:cs typeface="Consolas"/>
              </a:rPr>
              <a:t>1</a:t>
            </a:r>
            <a:r>
              <a:rPr sz="1350">
                <a:solidFill>
                  <a:srgbClr val="D4D4D4"/>
                </a:solidFill>
                <a:latin typeface="Consolas"/>
                <a:ea typeface="Consolas"/>
                <a:cs typeface="Consolas"/>
              </a:rPr>
              <a:t>] </a:t>
            </a:r>
            <a:r>
              <a:rPr sz="1350">
                <a:solidFill>
                  <a:srgbClr val="C586C0"/>
                </a:solidFill>
                <a:latin typeface="Consolas"/>
                <a:ea typeface="Consolas"/>
                <a:cs typeface="Consolas"/>
              </a:rPr>
              <a:t>for</a:t>
            </a:r>
            <a:r>
              <a:rPr sz="1350">
                <a:solidFill>
                  <a:srgbClr val="D4D4D4"/>
                </a:solidFill>
                <a:latin typeface="Consolas"/>
                <a:ea typeface="Consolas"/>
                <a:cs typeface="Consolas"/>
              </a:rPr>
              <a:t> </a:t>
            </a:r>
            <a:r>
              <a:rPr sz="1350">
                <a:solidFill>
                  <a:srgbClr val="9CDCFE"/>
                </a:solidFill>
                <a:latin typeface="Consolas"/>
                <a:ea typeface="Consolas"/>
                <a:cs typeface="Consolas"/>
              </a:rPr>
              <a:t>r</a:t>
            </a:r>
            <a:r>
              <a:rPr sz="1350">
                <a:solidFill>
                  <a:srgbClr val="D4D4D4"/>
                </a:solidFill>
                <a:latin typeface="Consolas"/>
                <a:ea typeface="Consolas"/>
                <a:cs typeface="Consolas"/>
              </a:rPr>
              <a:t> </a:t>
            </a:r>
            <a:r>
              <a:rPr sz="1350">
                <a:solidFill>
                  <a:srgbClr val="C586C0"/>
                </a:solidFill>
                <a:latin typeface="Consolas"/>
                <a:ea typeface="Consolas"/>
                <a:cs typeface="Consolas"/>
              </a:rPr>
              <a:t>in</a:t>
            </a:r>
            <a:r>
              <a:rPr sz="1350">
                <a:solidFill>
                  <a:srgbClr val="D4D4D4"/>
                </a:solidFill>
                <a:latin typeface="Consolas"/>
                <a:ea typeface="Consolas"/>
                <a:cs typeface="Consolas"/>
              </a:rPr>
              <a:t> </a:t>
            </a:r>
            <a:r>
              <a:rPr sz="1350">
                <a:solidFill>
                  <a:srgbClr val="9CDCFE"/>
                </a:solidFill>
                <a:latin typeface="Consolas"/>
                <a:ea typeface="Consolas"/>
                <a:cs typeface="Consolas"/>
              </a:rPr>
              <a:t>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dtype</a:t>
            </a:r>
            <a:r>
              <a:rPr sz="1350">
                <a:solidFill>
                  <a:srgbClr val="D4D4D4"/>
                </a:solidFill>
                <a:latin typeface="Consolas"/>
                <a:ea typeface="Consolas"/>
                <a:cs typeface="Consolas"/>
              </a:rPr>
              <a:t>=</a:t>
            </a:r>
            <a:r>
              <a:rPr sz="1350">
                <a:solidFill>
                  <a:srgbClr val="9CDCFE"/>
                </a:solidFill>
                <a:latin typeface="Consolas"/>
                <a:ea typeface="Consolas"/>
                <a:cs typeface="Consolas"/>
              </a:rPr>
              <a:t>str</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43 │ </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9CDCFE"/>
                </a:solidFill>
                <a:latin typeface="Consolas"/>
                <a:ea typeface="Consolas"/>
                <a:cs typeface="Consolas"/>
              </a:rPr>
              <a:t>r</a:t>
            </a:r>
            <a:r>
              <a:rPr sz="1350">
                <a:solidFill>
                  <a:srgbClr val="D4D4D4"/>
                </a:solidFill>
                <a:latin typeface="Consolas"/>
                <a:ea typeface="Consolas"/>
                <a:cs typeface="Consolas"/>
              </a:rPr>
              <a:t>[</a:t>
            </a:r>
            <a:r>
              <a:rPr sz="1350">
                <a:solidFill>
                  <a:srgbClr val="B5CEA8"/>
                </a:solidFill>
                <a:latin typeface="Consolas"/>
                <a:ea typeface="Consolas"/>
                <a:cs typeface="Consolas"/>
              </a:rPr>
              <a:t>2</a:t>
            </a:r>
            <a:r>
              <a:rPr sz="1350">
                <a:solidFill>
                  <a:srgbClr val="D4D4D4"/>
                </a:solidFill>
                <a:latin typeface="Consolas"/>
                <a:ea typeface="Consolas"/>
                <a:cs typeface="Consolas"/>
              </a:rPr>
              <a:t>] </a:t>
            </a:r>
            <a:r>
              <a:rPr sz="1350">
                <a:solidFill>
                  <a:srgbClr val="C586C0"/>
                </a:solidFill>
                <a:latin typeface="Consolas"/>
                <a:ea typeface="Consolas"/>
                <a:cs typeface="Consolas"/>
              </a:rPr>
              <a:t>for</a:t>
            </a:r>
            <a:r>
              <a:rPr sz="1350">
                <a:solidFill>
                  <a:srgbClr val="D4D4D4"/>
                </a:solidFill>
                <a:latin typeface="Consolas"/>
                <a:ea typeface="Consolas"/>
                <a:cs typeface="Consolas"/>
              </a:rPr>
              <a:t> </a:t>
            </a:r>
            <a:r>
              <a:rPr sz="1350">
                <a:solidFill>
                  <a:srgbClr val="9CDCFE"/>
                </a:solidFill>
                <a:latin typeface="Consolas"/>
                <a:ea typeface="Consolas"/>
                <a:cs typeface="Consolas"/>
              </a:rPr>
              <a:t>r</a:t>
            </a:r>
            <a:r>
              <a:rPr sz="1350">
                <a:solidFill>
                  <a:srgbClr val="D4D4D4"/>
                </a:solidFill>
                <a:latin typeface="Consolas"/>
                <a:ea typeface="Consolas"/>
                <a:cs typeface="Consolas"/>
              </a:rPr>
              <a:t> </a:t>
            </a:r>
            <a:r>
              <a:rPr sz="1350">
                <a:solidFill>
                  <a:srgbClr val="C586C0"/>
                </a:solidFill>
                <a:latin typeface="Consolas"/>
                <a:ea typeface="Consolas"/>
                <a:cs typeface="Consolas"/>
              </a:rPr>
              <a:t>in</a:t>
            </a:r>
            <a:r>
              <a:rPr sz="1350">
                <a:solidFill>
                  <a:srgbClr val="D4D4D4"/>
                </a:solidFill>
                <a:latin typeface="Consolas"/>
                <a:ea typeface="Consolas"/>
                <a:cs typeface="Consolas"/>
              </a:rPr>
              <a:t> </a:t>
            </a:r>
            <a:r>
              <a:rPr sz="1350">
                <a:solidFill>
                  <a:srgbClr val="9CDCFE"/>
                </a:solidFill>
                <a:latin typeface="Consolas"/>
                <a:ea typeface="Consolas"/>
                <a:cs typeface="Consolas"/>
              </a:rPr>
              <a:t>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dtype</a:t>
            </a:r>
            <a:r>
              <a:rPr sz="1350">
                <a:solidFill>
                  <a:srgbClr val="D4D4D4"/>
                </a:solidFill>
                <a:latin typeface="Consolas"/>
                <a:ea typeface="Consolas"/>
                <a:cs typeface="Consolas"/>
              </a:rPr>
              <a:t>=</a:t>
            </a:r>
            <a:r>
              <a:rPr sz="1350">
                <a:solidFill>
                  <a:srgbClr val="9CDCFE"/>
                </a:solidFill>
                <a:latin typeface="Consolas"/>
                <a:ea typeface="Consolas"/>
                <a:cs typeface="Consolas"/>
              </a:rPr>
              <a:t>float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44 │ </a:t>
            </a:r>
            <a:r>
              <a:rPr sz="1350">
                <a:solidFill>
                  <a:srgbClr val="D4D4D4"/>
                </a:solidFill>
                <a:latin typeface="Consolas"/>
                <a:ea typeface="Consolas"/>
                <a:cs typeface="Consolas"/>
              </a:rPr>
              <a:t>    </a:t>
            </a:r>
            <a:r>
              <a:rPr sz="1350">
                <a:solidFill>
                  <a:srgbClr val="C586C0"/>
                </a:solidFill>
                <a:latin typeface="Consolas"/>
                <a:ea typeface="Consolas"/>
                <a:cs typeface="Consolas"/>
              </a:rPr>
              <a:t>if</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9CDCFE"/>
                </a:solidFill>
                <a:latin typeface="Consolas"/>
                <a:ea typeface="Consolas"/>
                <a:cs typeface="Consolas"/>
              </a:rPr>
              <a:t>size</a:t>
            </a:r>
            <a:r>
              <a:rPr sz="1350">
                <a:solidFill>
                  <a:srgbClr val="D4D4D4"/>
                </a:solidFill>
                <a:latin typeface="Consolas"/>
                <a:ea typeface="Consolas"/>
                <a:cs typeface="Consolas"/>
              </a:rPr>
              <a:t> == </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C586C0"/>
                </a:solidFill>
                <a:latin typeface="Consolas"/>
                <a:ea typeface="Consolas"/>
                <a:cs typeface="Consolas"/>
              </a:rPr>
              <a:t>or</a:t>
            </a:r>
            <a:r>
              <a:rPr sz="1350">
                <a:solidFill>
                  <a:srgbClr val="D4D4D4"/>
                </a:solidFill>
                <a:latin typeface="Consolas"/>
                <a:ea typeface="Consolas"/>
                <a:cs typeface="Consolas"/>
              </a:rPr>
              <a:t> </a:t>
            </a:r>
            <a:r>
              <a:rPr sz="1350">
                <a:solidFill>
                  <a:srgbClr val="C586C0"/>
                </a:solidFill>
                <a:latin typeface="Consolas"/>
                <a:ea typeface="Consolas"/>
                <a:cs typeface="Consolas"/>
              </a:rPr>
              <a:t>not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isfinite</a:t>
            </a:r>
            <a:r>
              <a:rPr sz="1350">
                <a:solidFill>
                  <a:srgbClr val="D4D4D4"/>
                </a:solidFill>
                <a:latin typeface="Consolas"/>
                <a:ea typeface="Consolas"/>
                <a:cs typeface="Consolas"/>
              </a:rPr>
              <a:t>(</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DCDCAA"/>
                </a:solidFill>
                <a:latin typeface="Consolas"/>
                <a:ea typeface="Consolas"/>
                <a:cs typeface="Consolas"/>
              </a:rPr>
              <a:t>all</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45 │ </a:t>
            </a:r>
            <a:r>
              <a:rPr sz="1350">
                <a:solidFill>
                  <a:srgbClr val="D4D4D4"/>
                </a:solidFill>
                <a:latin typeface="Consolas"/>
                <a:ea typeface="Consolas"/>
                <a:cs typeface="Consolas"/>
              </a:rPr>
              <a:t>        </a:t>
            </a:r>
            <a:r>
              <a:rPr sz="1350">
                <a:solidFill>
                  <a:srgbClr val="C586C0"/>
                </a:solidFill>
                <a:latin typeface="Consolas"/>
                <a:ea typeface="Consolas"/>
                <a:cs typeface="Consolas"/>
              </a:rPr>
              <a:t>raise</a:t>
            </a:r>
            <a:r>
              <a:rPr sz="1350">
                <a:solidFill>
                  <a:srgbClr val="D4D4D4"/>
                </a:solidFill>
                <a:latin typeface="Consolas"/>
                <a:ea typeface="Consolas"/>
                <a:cs typeface="Consolas"/>
              </a:rPr>
              <a:t> </a:t>
            </a:r>
            <a:r>
              <a:rPr sz="1350">
                <a:solidFill>
                  <a:srgbClr val="DCDCAA"/>
                </a:solidFill>
                <a:latin typeface="Consolas"/>
                <a:ea typeface="Consolas"/>
                <a:cs typeface="Consolas"/>
              </a:rPr>
              <a:t>ValueError</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4EC9B0"/>
                </a:solidFill>
                <a:latin typeface="Consolas"/>
                <a:ea typeface="Consolas"/>
                <a:cs typeface="Consolas"/>
              </a:rPr>
              <a:t>C</a:t>
            </a:r>
            <a:r>
              <a:rPr sz="1350">
                <a:solidFill>
                  <a:srgbClr val="D4D4D4"/>
                </a:solidFill>
                <a:latin typeface="Consolas"/>
                <a:ea typeface="Consolas"/>
                <a:cs typeface="Consolas"/>
              </a:rPr>
              <a:t>ầ</a:t>
            </a:r>
            <a:r>
              <a:rPr sz="1350">
                <a:solidFill>
                  <a:srgbClr val="9CDCFE"/>
                </a:solidFill>
                <a:latin typeface="Consolas"/>
                <a:ea typeface="Consolas"/>
                <a:cs typeface="Consolas"/>
              </a:rPr>
              <a:t>n</a:t>
            </a:r>
            <a:r>
              <a:rPr sz="1350">
                <a:solidFill>
                  <a:srgbClr val="D4D4D4"/>
                </a:solidFill>
                <a:latin typeface="Consolas"/>
                <a:ea typeface="Consolas"/>
                <a:cs typeface="Consolas"/>
              </a:rPr>
              <a:t> </a:t>
            </a:r>
            <a:r>
              <a:rPr sz="1350">
                <a:solidFill>
                  <a:srgbClr val="9CDCFE"/>
                </a:solidFill>
                <a:latin typeface="Consolas"/>
                <a:ea typeface="Consolas"/>
                <a:cs typeface="Consolas"/>
              </a:rPr>
              <a:t>gi</a:t>
            </a:r>
            <a:r>
              <a:rPr sz="1350">
                <a:solidFill>
                  <a:srgbClr val="D4D4D4"/>
                </a:solidFill>
                <a:latin typeface="Consolas"/>
                <a:ea typeface="Consolas"/>
                <a:cs typeface="Consolas"/>
              </a:rPr>
              <a:t>ờ </a:t>
            </a:r>
            <a:r>
              <a:rPr sz="1350">
                <a:solidFill>
                  <a:srgbClr val="9CDCFE"/>
                </a:solidFill>
                <a:latin typeface="Consolas"/>
                <a:ea typeface="Consolas"/>
                <a:cs typeface="Consolas"/>
              </a:rPr>
              <a:t>ho</a:t>
            </a:r>
            <a:r>
              <a:rPr sz="1350">
                <a:solidFill>
                  <a:srgbClr val="D4D4D4"/>
                </a:solidFill>
                <a:latin typeface="Consolas"/>
                <a:ea typeface="Consolas"/>
                <a:cs typeface="Consolas"/>
              </a:rPr>
              <a:t>ạ</a:t>
            </a:r>
            <a:r>
              <a:rPr sz="1350">
                <a:solidFill>
                  <a:srgbClr val="9CDCFE"/>
                </a:solidFill>
                <a:latin typeface="Consolas"/>
                <a:ea typeface="Consolas"/>
                <a:cs typeface="Consolas"/>
              </a:rPr>
              <a:t>t</a:t>
            </a:r>
            <a:r>
              <a:rPr sz="1350">
                <a:solidFill>
                  <a:srgbClr val="D4D4D4"/>
                </a:solidFill>
                <a:latin typeface="Consolas"/>
                <a:ea typeface="Consolas"/>
                <a:cs typeface="Consolas"/>
              </a:rPr>
              <a:t> độ</a:t>
            </a:r>
            <a:r>
              <a:rPr sz="1350">
                <a:solidFill>
                  <a:srgbClr val="9CDCFE"/>
                </a:solidFill>
                <a:latin typeface="Consolas"/>
                <a:ea typeface="Consolas"/>
                <a:cs typeface="Consolas"/>
              </a:rPr>
              <a:t>ng</a:t>
            </a:r>
            <a:r>
              <a:rPr sz="1350">
                <a:solidFill>
                  <a:srgbClr val="D4D4D4"/>
                </a:solidFill>
                <a:latin typeface="Consolas"/>
                <a:ea typeface="Consolas"/>
                <a:cs typeface="Consolas"/>
              </a:rPr>
              <a:t> </a:t>
            </a:r>
            <a:r>
              <a:rPr sz="1350">
                <a:solidFill>
                  <a:srgbClr val="9CDCFE"/>
                </a:solidFill>
                <a:latin typeface="Consolas"/>
                <a:ea typeface="Consolas"/>
                <a:cs typeface="Consolas"/>
              </a:rPr>
              <a:t>h</a:t>
            </a:r>
            <a:r>
              <a:rPr sz="1350">
                <a:solidFill>
                  <a:srgbClr val="D4D4D4"/>
                </a:solidFill>
                <a:latin typeface="Consolas"/>
                <a:ea typeface="Consolas"/>
                <a:cs typeface="Consolas"/>
              </a:rPr>
              <a:t>ữ</a:t>
            </a:r>
            <a:r>
              <a:rPr sz="1350">
                <a:solidFill>
                  <a:srgbClr val="9CDCFE"/>
                </a:solidFill>
                <a:latin typeface="Consolas"/>
                <a:ea typeface="Consolas"/>
                <a:cs typeface="Consolas"/>
              </a:rPr>
              <a:t>u</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h</a:t>
            </a:r>
            <a:r>
              <a:rPr sz="1350">
                <a:solidFill>
                  <a:srgbClr val="D4D4D4"/>
                </a:solidFill>
                <a:latin typeface="Consolas"/>
                <a:ea typeface="Consolas"/>
                <a:cs typeface="Consolas"/>
              </a:rPr>
              <a:t>ạ</a:t>
            </a:r>
            <a:r>
              <a:rPr sz="1350">
                <a:solidFill>
                  <a:srgbClr val="9CDCFE"/>
                </a:solidFill>
                <a:latin typeface="Consolas"/>
                <a:ea typeface="Consolas"/>
                <a:cs typeface="Consolas"/>
              </a:rPr>
              <a:t>n</a:t>
            </a:r>
            <a:r>
              <a:rPr sz="1350">
                <a:solidFill>
                  <a:srgbClr val="D4D4D4"/>
                </a:solidFill>
                <a:latin typeface="Consolas"/>
                <a:ea typeface="Consolas"/>
                <a:cs typeface="Consolas"/>
              </a:rPr>
              <a:t>, </a:t>
            </a:r>
            <a:r>
              <a:rPr sz="1350">
                <a:solidFill>
                  <a:srgbClr val="9CDCFE"/>
                </a:solidFill>
                <a:latin typeface="Consolas"/>
                <a:ea typeface="Consolas"/>
                <a:cs typeface="Consolas"/>
              </a:rPr>
              <a:t>kh</a:t>
            </a:r>
            <a:r>
              <a:rPr sz="1350">
                <a:solidFill>
                  <a:srgbClr val="D4D4D4"/>
                </a:solidFill>
                <a:latin typeface="Consolas"/>
                <a:ea typeface="Consolas"/>
                <a:cs typeface="Consolas"/>
              </a:rPr>
              <a:t>ô</a:t>
            </a:r>
            <a:r>
              <a:rPr sz="1350">
                <a:solidFill>
                  <a:srgbClr val="9CDCFE"/>
                </a:solidFill>
                <a:latin typeface="Consolas"/>
                <a:ea typeface="Consolas"/>
                <a:cs typeface="Consolas"/>
              </a:rPr>
              <a:t>ng</a:t>
            </a:r>
            <a:r>
              <a:rPr sz="1350">
                <a:solidFill>
                  <a:srgbClr val="D4D4D4"/>
                </a:solidFill>
                <a:latin typeface="Consolas"/>
                <a:ea typeface="Consolas"/>
                <a:cs typeface="Consolas"/>
              </a:rPr>
              <a:t> </a:t>
            </a:r>
            <a:r>
              <a:rPr sz="1350">
                <a:solidFill>
                  <a:srgbClr val="9CDCFE"/>
                </a:solidFill>
                <a:latin typeface="Consolas"/>
                <a:ea typeface="Consolas"/>
                <a:cs typeface="Consolas"/>
              </a:rPr>
              <a:t>r</a:t>
            </a:r>
            <a:r>
              <a:rPr sz="1350">
                <a:solidFill>
                  <a:srgbClr val="D4D4D4"/>
                </a:solidFill>
                <a:latin typeface="Consolas"/>
                <a:ea typeface="Consolas"/>
                <a:cs typeface="Consolas"/>
              </a:rPr>
              <a:t>ỗ</a:t>
            </a:r>
            <a:r>
              <a:rPr sz="1350">
                <a:solidFill>
                  <a:srgbClr val="9CDCFE"/>
                </a:solidFill>
                <a:latin typeface="Consolas"/>
                <a:ea typeface="Consolas"/>
                <a:cs typeface="Consolas"/>
              </a:rPr>
              <a:t>ng</a:t>
            </a:r>
            <a:r>
              <a:rPr sz="1350">
                <a:solidFill>
                  <a:srgbClr val="CE9178"/>
                </a:solidFill>
                <a:latin typeface="Consolas"/>
                <a:ea typeface="Consolas"/>
                <a:cs typeface="Consolas"/>
              </a:rPr>
              <a: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49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"shape, ndim, size:"</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9CDCFE"/>
                </a:solidFill>
                <a:latin typeface="Consolas"/>
                <a:ea typeface="Consolas"/>
                <a:cs typeface="Consolas"/>
              </a:rPr>
              <a:t>shape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9CDCFE"/>
                </a:solidFill>
                <a:latin typeface="Consolas"/>
                <a:ea typeface="Consolas"/>
                <a:cs typeface="Consolas"/>
              </a:rPr>
              <a:t>ndim</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9CDCFE"/>
                </a:solidFill>
                <a:latin typeface="Consolas"/>
                <a:ea typeface="Consolas"/>
                <a:cs typeface="Consolas"/>
              </a:rPr>
              <a:t>size</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56976239-A83B-4CFD-A07A-3C498E10DA0F}"/>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587500"/>
                <a:gridCol w="1587500"/>
                <a:gridCol w="1587500"/>
              </a:tblGrid>
              <a:tr h="342900">
                <a:tc>
                  <a:txBody>
                    <a:bodyPr/>
                    <a:lstStyle/>
                    <a:p>
                      <a:r>
                        <a:rPr sz="1500" b="1">
                          <a:solidFill>
                            <a:srgbClr val="113F43"/>
                          </a:solidFill>
                          <a:latin typeface="Times New Roman"/>
                          <a:ea typeface="Times New Roman"/>
                          <a:cs typeface="Times New Roman"/>
                        </a:rPr>
                        <a:t>Vị trí</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ma[i]</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gio[i]</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420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1500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860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3</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1200</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0BDDE69D-CC7E-436F-986E-3B1F1AC1D627}"/>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Khi dùng cùng lát cắt [1:3] cho ma và gio, kết quả là ASRS01, BC01 và 1500, 860. Vị trí kết thúc 3 không được lấy.</a:t>
            </a:r>
          </a:p>
        </p:txBody>
      </p:sp>
    </p:spTree>
    <p:extLst>
      <p:ext uri="{BB962C8B-B14F-4D97-AF65-F5344CB8AC3E}">
        <p14:creationId xmlns:p14="http://schemas.microsoft.com/office/powerpoint/2010/main" val="2966899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c08447eece8b441b"/>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6. Lọc Boolean và đếm nhóm bằng NumPy</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7</a:t>
            </a:r>
          </a:p>
        </p:txBody>
      </p:sp>
      <p:sp>
        <p:nvSpPr>
          <p:cNvPr id="14" name="">
            <a:extLst xmlns:a="http://schemas.openxmlformats.org/drawingml/2006/main">
              <a:ext uri="{FF2B5EF4-FFF2-40B4-BE49-F238E27FC236}">
                <a16:creationId xmlns:a16="http://schemas.microsoft.com/office/drawing/2014/main" id="{8BF1A3B2-5D5F-4855-A23F-E51F30DDFD2E}"/>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Hai điều kiện được đặt trong ngoặc và nối bằng &amp;: một thiết bị chỉ được chọn khi giờ vừa không nhỏ hơn 800 vừa không lớn hơn 1300. mask chứa đúng một giá trị True hoặc False cho mỗi thiết bị.</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np.unique với return_counts=True trả hai mảng tương ứng: nhãn trạng thái và số lần xuất hiện. zip ghép từng nhãn với số đếm của chính nhãn đó.</a:t>
            </a:r>
          </a:p>
        </p:txBody>
      </p:sp>
      <p:sp>
        <p:nvSpPr>
          <p:cNvPr id="15" name="">
            <a:extLst xmlns:a="http://schemas.openxmlformats.org/drawingml/2006/main">
              <a:ext uri="{FF2B5EF4-FFF2-40B4-BE49-F238E27FC236}">
                <a16:creationId xmlns:a16="http://schemas.microsoft.com/office/drawing/2014/main" id="{82B3A905-157A-424D-AFFE-5533B73BF00A}"/>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48A208F0-546A-40F3-AF37-A872E0FC93E4}"/>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8A04FCF1-F971-4C8A-A87A-A74488774103}"/>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52 │ </a:t>
            </a:r>
            <a:r>
              <a:rPr sz="1350">
                <a:solidFill>
                  <a:srgbClr val="D4D4D4"/>
                </a:solidFill>
                <a:latin typeface="Consolas"/>
                <a:ea typeface="Consolas"/>
                <a:cs typeface="Consolas"/>
              </a:rPr>
              <a:t>    </a:t>
            </a:r>
            <a:r>
              <a:rPr sz="1350">
                <a:solidFill>
                  <a:srgbClr val="9CDCFE"/>
                </a:solidFill>
                <a:latin typeface="Consolas"/>
                <a:ea typeface="Consolas"/>
                <a:cs typeface="Consolas"/>
              </a:rPr>
              <a:t>mask</a:t>
            </a:r>
            <a:r>
              <a:rPr sz="1350">
                <a:solidFill>
                  <a:srgbClr val="D4D4D4"/>
                </a:solidFill>
                <a:latin typeface="Consolas"/>
                <a:ea typeface="Consolas"/>
                <a:cs typeface="Consolas"/>
              </a:rPr>
              <a:t> = (</a:t>
            </a:r>
            <a:r>
              <a:rPr sz="1350">
                <a:solidFill>
                  <a:srgbClr val="9CDCFE"/>
                </a:solidFill>
                <a:latin typeface="Consolas"/>
                <a:ea typeface="Consolas"/>
                <a:cs typeface="Consolas"/>
              </a:rPr>
              <a:t>gio</a:t>
            </a:r>
            <a:r>
              <a:rPr sz="1350">
                <a:solidFill>
                  <a:srgbClr val="D4D4D4"/>
                </a:solidFill>
                <a:latin typeface="Consolas"/>
                <a:ea typeface="Consolas"/>
                <a:cs typeface="Consolas"/>
              </a:rPr>
              <a:t> &gt;= </a:t>
            </a:r>
            <a:r>
              <a:rPr sz="1350">
                <a:solidFill>
                  <a:srgbClr val="B5CEA8"/>
                </a:solidFill>
                <a:latin typeface="Consolas"/>
                <a:ea typeface="Consolas"/>
                <a:cs typeface="Consolas"/>
              </a:rPr>
              <a:t>800</a:t>
            </a:r>
            <a:r>
              <a:rPr sz="1350">
                <a:solidFill>
                  <a:srgbClr val="D4D4D4"/>
                </a:solidFill>
                <a:latin typeface="Consolas"/>
                <a:ea typeface="Consolas"/>
                <a:cs typeface="Consolas"/>
              </a:rPr>
              <a:t>) &amp; (</a:t>
            </a:r>
            <a:r>
              <a:rPr sz="1350">
                <a:solidFill>
                  <a:srgbClr val="9CDCFE"/>
                </a:solidFill>
                <a:latin typeface="Consolas"/>
                <a:ea typeface="Consolas"/>
                <a:cs typeface="Consolas"/>
              </a:rPr>
              <a:t>gio</a:t>
            </a:r>
            <a:r>
              <a:rPr sz="1350">
                <a:solidFill>
                  <a:srgbClr val="D4D4D4"/>
                </a:solidFill>
                <a:latin typeface="Consolas"/>
                <a:ea typeface="Consolas"/>
                <a:cs typeface="Consolas"/>
              </a:rPr>
              <a:t> &lt;= </a:t>
            </a:r>
            <a:r>
              <a:rPr sz="1350">
                <a:solidFill>
                  <a:srgbClr val="B5CEA8"/>
                </a:solidFill>
                <a:latin typeface="Consolas"/>
                <a:ea typeface="Consolas"/>
                <a:cs typeface="Consolas"/>
              </a:rPr>
              <a:t>1300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53 │ </a:t>
            </a:r>
            <a:r>
              <a:rPr sz="1350">
                <a:solidFill>
                  <a:srgbClr val="D4D4D4"/>
                </a:solidFill>
                <a:latin typeface="Consolas"/>
                <a:ea typeface="Consolas"/>
                <a:cs typeface="Consolas"/>
              </a:rPr>
              <a:t>    </a:t>
            </a:r>
            <a:r>
              <a:rPr sz="1350">
                <a:solidFill>
                  <a:srgbClr val="9CDCFE"/>
                </a:solidFill>
                <a:latin typeface="Consolas"/>
                <a:ea typeface="Consolas"/>
                <a:cs typeface="Consolas"/>
              </a:rPr>
              <a:t>nhan</a:t>
            </a:r>
            <a:r>
              <a:rPr sz="1350">
                <a:solidFill>
                  <a:srgbClr val="D4D4D4"/>
                </a:solidFill>
                <a:latin typeface="Consolas"/>
                <a:ea typeface="Consolas"/>
                <a:cs typeface="Consolas"/>
              </a:rPr>
              <a:t>, </a:t>
            </a:r>
            <a:r>
              <a:rPr sz="1350">
                <a:solidFill>
                  <a:srgbClr val="9CDCFE"/>
                </a:solidFill>
                <a:latin typeface="Consolas"/>
                <a:ea typeface="Consolas"/>
                <a:cs typeface="Consolas"/>
              </a:rPr>
              <a:t>so_luong</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unique</a:t>
            </a:r>
            <a:r>
              <a:rPr sz="1350">
                <a:solidFill>
                  <a:srgbClr val="D4D4D4"/>
                </a:solidFill>
                <a:latin typeface="Consolas"/>
                <a:ea typeface="Consolas"/>
                <a:cs typeface="Consolas"/>
              </a:rPr>
              <a:t>(</a:t>
            </a:r>
            <a:r>
              <a:rPr sz="1350">
                <a:solidFill>
                  <a:srgbClr val="9CDCFE"/>
                </a:solidFill>
                <a:latin typeface="Consolas"/>
                <a:ea typeface="Consolas"/>
                <a:cs typeface="Consolas"/>
              </a:rPr>
              <a:t>trang_thai</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return_counts</a:t>
            </a:r>
            <a:r>
              <a:rPr sz="1350">
                <a:solidFill>
                  <a:srgbClr val="D4D4D4"/>
                </a:solidFill>
                <a:latin typeface="Consolas"/>
                <a:ea typeface="Consolas"/>
                <a:cs typeface="Consolas"/>
              </a:rPr>
              <a:t>=</a:t>
            </a:r>
            <a:r>
              <a:rPr sz="1350">
                <a:solidFill>
                  <a:srgbClr val="C586C0"/>
                </a:solidFill>
                <a:latin typeface="Consolas"/>
                <a:ea typeface="Consolas"/>
                <a:cs typeface="Consolas"/>
              </a:rPr>
              <a:t>True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54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"Từ 800 đến 1300 giờ:"</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9CDCFE"/>
                </a:solidFill>
                <a:latin typeface="Consolas"/>
                <a:ea typeface="Consolas"/>
                <a:cs typeface="Consolas"/>
              </a:rPr>
              <a:t>mask</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9CDCFE"/>
                </a:solidFill>
                <a:latin typeface="Consolas"/>
                <a:ea typeface="Consolas"/>
                <a:cs typeface="Consolas"/>
              </a:rPr>
              <a:t>mask</a:t>
            </a:r>
            <a:r>
              <a:rPr sz="1350">
                <a:solidFill>
                  <a:srgbClr val="D4D4D4"/>
                </a:solidFill>
                <a:latin typeface="Consolas"/>
                <a:ea typeface="Consolas"/>
                <a:cs typeface="Consolas"/>
              </a:rPr>
              <a:t>].</a:t>
            </a:r>
            <a:r>
              <a:rPr sz="1350">
                <a:solidFill>
                  <a:srgbClr val="DCDCAA"/>
                </a:solidFill>
                <a:latin typeface="Consolas"/>
                <a:ea typeface="Consolas"/>
                <a:cs typeface="Consolas"/>
              </a:rPr>
              <a:t>sum</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55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"Trạng thái:"</a:t>
            </a:r>
            <a:r>
              <a:rPr sz="1350">
                <a:solidFill>
                  <a:srgbClr val="D4D4D4"/>
                </a:solidFill>
                <a:latin typeface="Consolas"/>
                <a:ea typeface="Consolas"/>
                <a:cs typeface="Consolas"/>
              </a:rPr>
              <a:t>, </a:t>
            </a:r>
            <a:r>
              <a:rPr sz="1350">
                <a:solidFill>
                  <a:srgbClr val="DCDCAA"/>
                </a:solidFill>
                <a:latin typeface="Consolas"/>
                <a:ea typeface="Consolas"/>
                <a:cs typeface="Consolas"/>
              </a:rPr>
              <a:t>list</a:t>
            </a:r>
            <a:r>
              <a:rPr sz="1350">
                <a:solidFill>
                  <a:srgbClr val="D4D4D4"/>
                </a:solidFill>
                <a:latin typeface="Consolas"/>
                <a:ea typeface="Consolas"/>
                <a:cs typeface="Consolas"/>
              </a:rPr>
              <a:t>(</a:t>
            </a:r>
            <a:r>
              <a:rPr sz="1350">
                <a:solidFill>
                  <a:srgbClr val="DCDCAA"/>
                </a:solidFill>
                <a:latin typeface="Consolas"/>
                <a:ea typeface="Consolas"/>
                <a:cs typeface="Consolas"/>
              </a:rPr>
              <a:t>zip</a:t>
            </a:r>
            <a:r>
              <a:rPr sz="1350">
                <a:solidFill>
                  <a:srgbClr val="D4D4D4"/>
                </a:solidFill>
                <a:latin typeface="Consolas"/>
                <a:ea typeface="Consolas"/>
                <a:cs typeface="Consolas"/>
              </a:rPr>
              <a:t>(</a:t>
            </a:r>
            <a:r>
              <a:rPr sz="1350">
                <a:solidFill>
                  <a:srgbClr val="9CDCFE"/>
                </a:solidFill>
                <a:latin typeface="Consolas"/>
                <a:ea typeface="Consolas"/>
                <a:cs typeface="Consolas"/>
              </a:rPr>
              <a:t>nhan</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so_luong</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56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"Tổng, trung bình:"</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DCDCAA"/>
                </a:solidFill>
                <a:latin typeface="Consolas"/>
                <a:ea typeface="Consolas"/>
                <a:cs typeface="Consolas"/>
              </a:rPr>
              <a:t>sum</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DCDCAA"/>
                </a:solidFill>
                <a:latin typeface="Consolas"/>
                <a:ea typeface="Consolas"/>
                <a:cs typeface="Consolas"/>
              </a:rPr>
              <a:t>mean</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D9BE0A59-CB84-4EF4-9711-BD4E29F4F0A4}"/>
              </a:ext>
            </a:extLst>
          </p:cNvPr>
          <p:cNvGraphicFramePr/>
          <p:nvPr/>
        </p:nvGraphicFramePr>
        <p:xfrm>
          <a:off xmlns:a="http://schemas.openxmlformats.org/drawingml/2006/main" x="523875" y="4095750"/>
          <a:ext xmlns:a="http://schemas.openxmlformats.org/drawingml/2006/main" cx="4762500" cy="1371600"/>
        </p:xfrm>
        <a:graphic xmlns:a="http://schemas.openxmlformats.org/drawingml/2006/main">
          <a:graphicData uri="http://schemas.openxmlformats.org/drawingml/2006/table">
            <a:tbl>
              <a:tblPr/>
              <a:tblGrid>
                <a:gridCol w="2381250"/>
                <a:gridCol w="2381250"/>
              </a:tblGrid>
              <a:tr h="342900">
                <a:tc>
                  <a:txBody>
                    <a:bodyPr/>
                    <a:lstStyle/>
                    <a:p>
                      <a:r>
                        <a:rPr sz="1500" b="1">
                          <a:solidFill>
                            <a:srgbClr val="113F43"/>
                          </a:solidFill>
                          <a:latin typeface="Times New Roman"/>
                          <a:ea typeface="Times New Roman"/>
                          <a:cs typeface="Times New Roman"/>
                        </a:rPr>
                        <a:t>Trạng thái</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Số thiết bị</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BaoTri</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DangChay</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SanSang</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2DD9B5B0-C42D-4B9A-88F5-235DB5A62858}"/>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Hai thiết bị trong khoảng là BC01 và PLC01, tổng 2060 giờ. Các mốc 800 và 1300 là điều kiện của bài, không phải tiêu chuẩn bảo trì.</a:t>
            </a:r>
          </a:p>
        </p:txBody>
      </p:sp>
    </p:spTree>
    <p:extLst>
      <p:ext uri="{BB962C8B-B14F-4D97-AF65-F5344CB8AC3E}">
        <p14:creationId xmlns:p14="http://schemas.microsoft.com/office/powerpoint/2010/main" val="2966899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a289fc1e8cc0449a"/>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7. Broadcasting tạo ma trận nhiều kịch bản</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8</a:t>
            </a:r>
          </a:p>
        </p:txBody>
      </p:sp>
      <p:sp>
        <p:nvSpPr>
          <p:cNvPr id="14" name="">
            <a:extLst xmlns:a="http://schemas.openxmlformats.org/drawingml/2006/main">
              <a:ext uri="{FF2B5EF4-FFF2-40B4-BE49-F238E27FC236}">
                <a16:creationId xmlns:a16="http://schemas.microsoft.com/office/drawing/2014/main" id="{425C304A-44FC-45B9-9331-FE3E6C211BB2}"/>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them chứa ba mức thêm giờ giả định: 0, 80 và 160. gio[:, None] thêm một chiều, đổi dạng từ (4,) thành (4,1). Khi cộng với mảng (3,), broadcasting tạo ma trận (4,3).</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Mỗi dòng vẫn là một thiết bị. Mỗi cột là một kịch bản. Thao tác tạo mảng mới và không sửa giờ gốc hoặc tệp database.</a:t>
            </a:r>
          </a:p>
        </p:txBody>
      </p:sp>
      <p:sp>
        <p:nvSpPr>
          <p:cNvPr id="15" name="">
            <a:extLst xmlns:a="http://schemas.openxmlformats.org/drawingml/2006/main">
              <a:ext uri="{FF2B5EF4-FFF2-40B4-BE49-F238E27FC236}">
                <a16:creationId xmlns:a16="http://schemas.microsoft.com/office/drawing/2014/main" id="{5D7AC567-4180-4E0A-ABC7-4FB853C5F904}"/>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72A65DD6-41B1-40C9-B779-0A489FB3B4BD}"/>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144C6760-0EA8-447E-B4D7-6EC14C465284}"/>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59 │ </a:t>
            </a:r>
            <a:r>
              <a:rPr sz="1350">
                <a:solidFill>
                  <a:srgbClr val="D4D4D4"/>
                </a:solidFill>
                <a:latin typeface="Consolas"/>
                <a:ea typeface="Consolas"/>
                <a:cs typeface="Consolas"/>
              </a:rPr>
              <a:t>    </a:t>
            </a:r>
            <a:r>
              <a:rPr sz="1350">
                <a:solidFill>
                  <a:srgbClr val="9CDCFE"/>
                </a:solidFill>
                <a:latin typeface="Consolas"/>
                <a:ea typeface="Consolas"/>
                <a:cs typeface="Consolas"/>
              </a:rPr>
              <a:t>them</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B5CEA8"/>
                </a:solidFill>
                <a:latin typeface="Consolas"/>
                <a:ea typeface="Consolas"/>
                <a:cs typeface="Consolas"/>
              </a:rPr>
              <a:t>80</a:t>
            </a:r>
            <a:r>
              <a:rPr sz="1350">
                <a:solidFill>
                  <a:srgbClr val="D4D4D4"/>
                </a:solidFill>
                <a:latin typeface="Consolas"/>
                <a:ea typeface="Consolas"/>
                <a:cs typeface="Consolas"/>
              </a:rPr>
              <a:t>, </a:t>
            </a:r>
            <a:r>
              <a:rPr sz="1350">
                <a:solidFill>
                  <a:srgbClr val="B5CEA8"/>
                </a:solidFill>
                <a:latin typeface="Consolas"/>
                <a:ea typeface="Consolas"/>
                <a:cs typeface="Consolas"/>
              </a:rPr>
              <a:t>160</a:t>
            </a:r>
            <a:r>
              <a:rPr sz="1350">
                <a:solidFill>
                  <a:srgbClr val="D4D4D4"/>
                </a:solidFill>
                <a:latin typeface="Consolas"/>
                <a:ea typeface="Consolas"/>
                <a:cs typeface="Consolas"/>
              </a:rPr>
              <a:t>], </a:t>
            </a:r>
            <a:r>
              <a:rPr sz="1350">
                <a:solidFill>
                  <a:srgbClr val="9CDCFE"/>
                </a:solidFill>
                <a:latin typeface="Consolas"/>
                <a:ea typeface="Consolas"/>
                <a:cs typeface="Consolas"/>
              </a:rPr>
              <a:t>dtype</a:t>
            </a:r>
            <a:r>
              <a:rPr sz="1350">
                <a:solidFill>
                  <a:srgbClr val="D4D4D4"/>
                </a:solidFill>
                <a:latin typeface="Consolas"/>
                <a:ea typeface="Consolas"/>
                <a:cs typeface="Consolas"/>
              </a:rPr>
              <a:t>=</a:t>
            </a:r>
            <a:r>
              <a:rPr sz="1350">
                <a:solidFill>
                  <a:srgbClr val="9CDCFE"/>
                </a:solidFill>
                <a:latin typeface="Consolas"/>
                <a:ea typeface="Consolas"/>
                <a:cs typeface="Consolas"/>
              </a:rPr>
              <a:t>float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60 │ </a:t>
            </a:r>
            <a:r>
              <a:rPr sz="1350">
                <a:solidFill>
                  <a:srgbClr val="D4D4D4"/>
                </a:solidFill>
                <a:latin typeface="Consolas"/>
                <a:ea typeface="Consolas"/>
                <a:cs typeface="Consolas"/>
              </a:rPr>
              <a:t>    </a:t>
            </a:r>
            <a:r>
              <a:rPr sz="1350">
                <a:solidFill>
                  <a:srgbClr val="9CDCFE"/>
                </a:solidFill>
                <a:latin typeface="Consolas"/>
                <a:ea typeface="Consolas"/>
                <a:cs typeface="Consolas"/>
              </a:rPr>
              <a:t>kich_ban</a:t>
            </a:r>
            <a:r>
              <a:rPr sz="1350">
                <a:solidFill>
                  <a:srgbClr val="D4D4D4"/>
                </a:solidFill>
                <a:latin typeface="Consolas"/>
                <a:ea typeface="Consolas"/>
                <a:cs typeface="Consolas"/>
              </a:rPr>
              <a:t> = </a:t>
            </a:r>
            <a:r>
              <a:rPr sz="1350">
                <a:solidFill>
                  <a:srgbClr val="9CDCFE"/>
                </a:solidFill>
                <a:latin typeface="Consolas"/>
                <a:ea typeface="Consolas"/>
                <a:cs typeface="Consolas"/>
              </a:rPr>
              <a:t>gio</a:t>
            </a:r>
            <a:r>
              <a:rPr sz="1350">
                <a:solidFill>
                  <a:srgbClr val="D4D4D4"/>
                </a:solidFill>
                <a:latin typeface="Consolas"/>
                <a:ea typeface="Consolas"/>
                <a:cs typeface="Consolas"/>
              </a:rPr>
              <a:t>[:, </a:t>
            </a:r>
            <a:r>
              <a:rPr sz="1350">
                <a:solidFill>
                  <a:srgbClr val="C586C0"/>
                </a:solidFill>
                <a:latin typeface="Consolas"/>
                <a:ea typeface="Consolas"/>
                <a:cs typeface="Consolas"/>
              </a:rPr>
              <a:t>None</a:t>
            </a:r>
            <a:r>
              <a:rPr sz="1350">
                <a:solidFill>
                  <a:srgbClr val="D4D4D4"/>
                </a:solidFill>
                <a:latin typeface="Consolas"/>
                <a:ea typeface="Consolas"/>
                <a:cs typeface="Consolas"/>
              </a:rPr>
              <a:t>] + </a:t>
            </a:r>
            <a:r>
              <a:rPr sz="1350">
                <a:solidFill>
                  <a:srgbClr val="9CDCFE"/>
                </a:solidFill>
                <a:latin typeface="Consolas"/>
                <a:ea typeface="Consolas"/>
                <a:cs typeface="Consolas"/>
              </a:rPr>
              <a:t>them</a:t>
            </a:r>
          </a:p>
        </p:txBody>
      </p:sp>
      <p:graphicFrame>
        <p:nvGraphicFramePr>
          <p:cNvPr id="18" name="">
            <a:extLst xmlns:a="http://schemas.openxmlformats.org/drawingml/2006/main">
              <a:ext uri="{FF2B5EF4-FFF2-40B4-BE49-F238E27FC236}">
                <a16:creationId xmlns:a16="http://schemas.microsoft.com/office/drawing/2014/main" id="{DF467CA4-C4C5-43E0-B509-4BA51F6A8A62}"/>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190625"/>
                <a:gridCol w="1190625"/>
                <a:gridCol w="1190625"/>
                <a:gridCol w="1190625"/>
              </a:tblGrid>
              <a:tr h="342900">
                <a:tc>
                  <a:txBody>
                    <a:bodyPr/>
                    <a:lstStyle/>
                    <a:p>
                      <a:r>
                        <a:rPr sz="1500" b="1">
                          <a:solidFill>
                            <a:srgbClr val="113F43"/>
                          </a:solidFill>
                          <a:latin typeface="Times New Roman"/>
                          <a:ea typeface="Times New Roman"/>
                          <a:cs typeface="Times New Roman"/>
                        </a:rPr>
                        <a:t>MaTB</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+0</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+80</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+160</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420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500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580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1500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1580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1660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860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940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1020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1200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1280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1360</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5D0CB861-E8BA-4A77-9CC1-AC7095CCF991}"/>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Số giờ thêm bằng nhau cho mọi thiết bị là giả định mô phỏng. Những cột này không phải lịch sử vận hành thực tế đã được ghi nhận.</a:t>
            </a:r>
          </a:p>
        </p:txBody>
      </p:sp>
    </p:spTree>
    <p:extLst>
      <p:ext uri="{BB962C8B-B14F-4D97-AF65-F5344CB8AC3E}">
        <p14:creationId xmlns:p14="http://schemas.microsoft.com/office/powerpoint/2010/main" val="2966899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b8c05a5b41b0442e"/>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8. Ý nghĩa axis và phân nhóm có thứ tự</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9</a:t>
            </a:r>
          </a:p>
        </p:txBody>
      </p:sp>
      <p:sp>
        <p:nvSpPr>
          <p:cNvPr id="14" name="">
            <a:extLst xmlns:a="http://schemas.openxmlformats.org/drawingml/2006/main">
              <a:ext uri="{FF2B5EF4-FFF2-40B4-BE49-F238E27FC236}">
                <a16:creationId xmlns:a16="http://schemas.microsoft.com/office/drawing/2014/main" id="{DA4DFB53-6908-43D6-87CD-A8B4579B607E}"/>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mean(axis=0) tổng hợp qua các dòng để trả một trung bình cho mỗi cột kịch bản. count_nonzero(..., axis=0) đếm số thiết bị đạt 1000 giờ trong từng cột.</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np.select chọn nhãn của điều kiện đúng đầu tiên. Phải đặt điều kiện &gt;=1200 trước &gt;=800 vì một giá trị lớn có thể thỏa cả hai. default dùng khi mọi điều kiện đều sai.</a:t>
            </a:r>
          </a:p>
        </p:txBody>
      </p:sp>
      <p:sp>
        <p:nvSpPr>
          <p:cNvPr id="15" name="">
            <a:extLst xmlns:a="http://schemas.openxmlformats.org/drawingml/2006/main">
              <a:ext uri="{FF2B5EF4-FFF2-40B4-BE49-F238E27FC236}">
                <a16:creationId xmlns:a16="http://schemas.microsoft.com/office/drawing/2014/main" id="{6E1602BC-70E9-4F13-970A-21116B295AEE}"/>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EC65C48-BA41-4AD9-9673-52E29FAF3AFF}"/>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6D73B31E-D61B-4D28-8E46-5DC23F68B952}"/>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61 │ </a:t>
            </a:r>
            <a:r>
              <a:rPr sz="1350">
                <a:solidFill>
                  <a:srgbClr val="D4D4D4"/>
                </a:solidFill>
                <a:latin typeface="Consolas"/>
                <a:ea typeface="Consolas"/>
                <a:cs typeface="Consolas"/>
              </a:rPr>
              <a:t>    </a:t>
            </a:r>
            <a:r>
              <a:rPr sz="1350">
                <a:solidFill>
                  <a:srgbClr val="9CDCFE"/>
                </a:solidFill>
                <a:latin typeface="Consolas"/>
                <a:ea typeface="Consolas"/>
                <a:cs typeface="Consolas"/>
              </a:rPr>
              <a:t>trung_binh</a:t>
            </a:r>
            <a:r>
              <a:rPr sz="1350">
                <a:solidFill>
                  <a:srgbClr val="D4D4D4"/>
                </a:solidFill>
                <a:latin typeface="Consolas"/>
                <a:ea typeface="Consolas"/>
                <a:cs typeface="Consolas"/>
              </a:rPr>
              <a:t> = </a:t>
            </a:r>
            <a:r>
              <a:rPr sz="1350">
                <a:solidFill>
                  <a:srgbClr val="9CDCFE"/>
                </a:solidFill>
                <a:latin typeface="Consolas"/>
                <a:ea typeface="Consolas"/>
                <a:cs typeface="Consolas"/>
              </a:rPr>
              <a:t>kich_ban</a:t>
            </a:r>
            <a:r>
              <a:rPr sz="1350">
                <a:solidFill>
                  <a:srgbClr val="D4D4D4"/>
                </a:solidFill>
                <a:latin typeface="Consolas"/>
                <a:ea typeface="Consolas"/>
                <a:cs typeface="Consolas"/>
              </a:rPr>
              <a:t>.</a:t>
            </a:r>
            <a:r>
              <a:rPr sz="1350">
                <a:solidFill>
                  <a:srgbClr val="DCDCAA"/>
                </a:solidFill>
                <a:latin typeface="Consolas"/>
                <a:ea typeface="Consolas"/>
                <a:cs typeface="Consolas"/>
              </a:rPr>
              <a:t>mean</a:t>
            </a:r>
            <a:r>
              <a:rPr sz="1350">
                <a:solidFill>
                  <a:srgbClr val="D4D4D4"/>
                </a:solidFill>
                <a:latin typeface="Consolas"/>
                <a:ea typeface="Consolas"/>
                <a:cs typeface="Consolas"/>
              </a:rPr>
              <a:t>(</a:t>
            </a:r>
            <a:r>
              <a:rPr sz="1350">
                <a:solidFill>
                  <a:srgbClr val="9CDCFE"/>
                </a:solidFill>
                <a:latin typeface="Consolas"/>
                <a:ea typeface="Consolas"/>
                <a:cs typeface="Consolas"/>
              </a:rPr>
              <a:t>axis</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62 │ </a:t>
            </a:r>
            <a:r>
              <a:rPr sz="1350">
                <a:solidFill>
                  <a:srgbClr val="D4D4D4"/>
                </a:solidFill>
                <a:latin typeface="Consolas"/>
                <a:ea typeface="Consolas"/>
                <a:cs typeface="Consolas"/>
              </a:rPr>
              <a:t>    </a:t>
            </a:r>
            <a:r>
              <a:rPr sz="1350">
                <a:solidFill>
                  <a:srgbClr val="9CDCFE"/>
                </a:solidFill>
                <a:latin typeface="Consolas"/>
                <a:ea typeface="Consolas"/>
                <a:cs typeface="Consolas"/>
              </a:rPr>
              <a:t>vuot_moc</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count_nonzero</a:t>
            </a:r>
            <a:r>
              <a:rPr sz="1350">
                <a:solidFill>
                  <a:srgbClr val="D4D4D4"/>
                </a:solidFill>
                <a:latin typeface="Consolas"/>
                <a:ea typeface="Consolas"/>
                <a:cs typeface="Consolas"/>
              </a:rPr>
              <a:t>(</a:t>
            </a:r>
            <a:r>
              <a:rPr sz="1350">
                <a:solidFill>
                  <a:srgbClr val="9CDCFE"/>
                </a:solidFill>
                <a:latin typeface="Consolas"/>
                <a:ea typeface="Consolas"/>
                <a:cs typeface="Consolas"/>
              </a:rPr>
              <a:t>kich_ban</a:t>
            </a:r>
            <a:r>
              <a:rPr sz="1350">
                <a:solidFill>
                  <a:srgbClr val="D4D4D4"/>
                </a:solidFill>
                <a:latin typeface="Consolas"/>
                <a:ea typeface="Consolas"/>
                <a:cs typeface="Consolas"/>
              </a:rPr>
              <a:t> &gt;= </a:t>
            </a:r>
            <a:r>
              <a:rPr sz="1350">
                <a:solidFill>
                  <a:srgbClr val="B5CEA8"/>
                </a:solidFill>
                <a:latin typeface="Consolas"/>
                <a:ea typeface="Consolas"/>
                <a:cs typeface="Consolas"/>
              </a:rPr>
              <a:t>1000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axis</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63 │ </a:t>
            </a:r>
            <a:r>
              <a:rPr sz="1350">
                <a:solidFill>
                  <a:srgbClr val="D4D4D4"/>
                </a:solidFill>
                <a:latin typeface="Consolas"/>
                <a:ea typeface="Consolas"/>
                <a:cs typeface="Consolas"/>
              </a:rPr>
              <a:t>    </a:t>
            </a:r>
            <a:r>
              <a:rPr sz="1350">
                <a:solidFill>
                  <a:srgbClr val="9CDCFE"/>
                </a:solidFill>
                <a:latin typeface="Consolas"/>
                <a:ea typeface="Consolas"/>
                <a:cs typeface="Consolas"/>
              </a:rPr>
              <a:t>nhom</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select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64 │ </a:t>
            </a:r>
            <a:r>
              <a:rPr sz="1350">
                <a:solidFill>
                  <a:srgbClr val="D4D4D4"/>
                </a:solidFill>
                <a:latin typeface="Consolas"/>
                <a:ea typeface="Consolas"/>
                <a:cs typeface="Consolas"/>
              </a:rPr>
              <a:t>        [</a:t>
            </a:r>
            <a:r>
              <a:rPr sz="1350">
                <a:solidFill>
                  <a:srgbClr val="9CDCFE"/>
                </a:solidFill>
                <a:latin typeface="Consolas"/>
                <a:ea typeface="Consolas"/>
                <a:cs typeface="Consolas"/>
              </a:rPr>
              <a:t>kich_ban</a:t>
            </a:r>
            <a:r>
              <a:rPr sz="1350">
                <a:solidFill>
                  <a:srgbClr val="D4D4D4"/>
                </a:solidFill>
                <a:latin typeface="Consolas"/>
                <a:ea typeface="Consolas"/>
                <a:cs typeface="Consolas"/>
              </a:rPr>
              <a:t> &gt;= </a:t>
            </a:r>
            <a:r>
              <a:rPr sz="1350">
                <a:solidFill>
                  <a:srgbClr val="B5CEA8"/>
                </a:solidFill>
                <a:latin typeface="Consolas"/>
                <a:ea typeface="Consolas"/>
                <a:cs typeface="Consolas"/>
              </a:rPr>
              <a:t>1200</a:t>
            </a:r>
            <a:r>
              <a:rPr sz="1350">
                <a:solidFill>
                  <a:srgbClr val="D4D4D4"/>
                </a:solidFill>
                <a:latin typeface="Consolas"/>
                <a:ea typeface="Consolas"/>
                <a:cs typeface="Consolas"/>
              </a:rPr>
              <a:t>, </a:t>
            </a:r>
            <a:r>
              <a:rPr sz="1350">
                <a:solidFill>
                  <a:srgbClr val="9CDCFE"/>
                </a:solidFill>
                <a:latin typeface="Consolas"/>
                <a:ea typeface="Consolas"/>
                <a:cs typeface="Consolas"/>
              </a:rPr>
              <a:t>kich_ban</a:t>
            </a:r>
            <a:r>
              <a:rPr sz="1350">
                <a:solidFill>
                  <a:srgbClr val="D4D4D4"/>
                </a:solidFill>
                <a:latin typeface="Consolas"/>
                <a:ea typeface="Consolas"/>
                <a:cs typeface="Consolas"/>
              </a:rPr>
              <a:t> &gt;= </a:t>
            </a:r>
            <a:r>
              <a:rPr sz="1350">
                <a:solidFill>
                  <a:srgbClr val="B5CEA8"/>
                </a:solidFill>
                <a:latin typeface="Consolas"/>
                <a:ea typeface="Consolas"/>
                <a:cs typeface="Consolas"/>
              </a:rPr>
              <a:t>800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65 │ </a:t>
            </a:r>
            <a:r>
              <a:rPr sz="1350">
                <a:solidFill>
                  <a:srgbClr val="D4D4D4"/>
                </a:solidFill>
                <a:latin typeface="Consolas"/>
                <a:ea typeface="Consolas"/>
                <a:cs typeface="Consolas"/>
              </a:rPr>
              <a:t>        [</a:t>
            </a:r>
            <a:r>
              <a:rPr sz="1350">
                <a:solidFill>
                  <a:srgbClr val="CE9178"/>
                </a:solidFill>
                <a:latin typeface="Consolas"/>
                <a:ea typeface="Consolas"/>
                <a:cs typeface="Consolas"/>
              </a:rPr>
              <a:t>"Cao"</a:t>
            </a:r>
            <a:r>
              <a:rPr sz="1350">
                <a:solidFill>
                  <a:srgbClr val="D4D4D4"/>
                </a:solidFill>
                <a:latin typeface="Consolas"/>
                <a:ea typeface="Consolas"/>
                <a:cs typeface="Consolas"/>
              </a:rPr>
              <a:t>, </a:t>
            </a:r>
            <a:r>
              <a:rPr sz="1350">
                <a:solidFill>
                  <a:srgbClr val="CE9178"/>
                </a:solidFill>
                <a:latin typeface="Consolas"/>
                <a:ea typeface="Consolas"/>
                <a:cs typeface="Consolas"/>
              </a:rPr>
              <a:t>"Vua"</a:t>
            </a:r>
            <a:r>
              <a:rPr sz="1350">
                <a:solidFill>
                  <a:srgbClr val="D4D4D4"/>
                </a:solidFill>
                <a:latin typeface="Consolas"/>
                <a:ea typeface="Consolas"/>
                <a:cs typeface="Consolas"/>
              </a:rPr>
              <a:t>], </a:t>
            </a:r>
            <a:r>
              <a:rPr sz="1350">
                <a:solidFill>
                  <a:srgbClr val="9CDCFE"/>
                </a:solidFill>
                <a:latin typeface="Consolas"/>
                <a:ea typeface="Consolas"/>
                <a:cs typeface="Consolas"/>
              </a:rPr>
              <a:t>default</a:t>
            </a:r>
            <a:r>
              <a:rPr sz="1350">
                <a:solidFill>
                  <a:srgbClr val="D4D4D4"/>
                </a:solidFill>
                <a:latin typeface="Consolas"/>
                <a:ea typeface="Consolas"/>
                <a:cs typeface="Consolas"/>
              </a:rPr>
              <a:t>=</a:t>
            </a:r>
            <a:r>
              <a:rPr sz="1350">
                <a:solidFill>
                  <a:srgbClr val="CE9178"/>
                </a:solidFill>
                <a:latin typeface="Consolas"/>
                <a:ea typeface="Consolas"/>
                <a:cs typeface="Consolas"/>
              </a:rPr>
              <a:t>"Thap"</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66 │ </a:t>
            </a:r>
            <a:r>
              <a:rPr sz="1350">
                <a:solidFill>
                  <a:srgbClr val="D4D4D4"/>
                </a:solidFill>
                <a:latin typeface="Consolas"/>
                <a:ea typeface="Consolas"/>
                <a:cs typeface="Consolas"/>
              </a:rPr>
              <a:t>    )</a:t>
            </a:r>
          </a:p>
        </p:txBody>
      </p:sp>
      <p:graphicFrame>
        <p:nvGraphicFramePr>
          <p:cNvPr id="18" name="">
            <a:extLst xmlns:a="http://schemas.openxmlformats.org/drawingml/2006/main">
              <a:ext uri="{FF2B5EF4-FFF2-40B4-BE49-F238E27FC236}">
                <a16:creationId xmlns:a16="http://schemas.microsoft.com/office/drawing/2014/main" id="{F39C53CB-5ADC-4A84-848C-D702649FEE0B}"/>
              </a:ext>
            </a:extLst>
          </p:cNvPr>
          <p:cNvGraphicFramePr/>
          <p:nvPr/>
        </p:nvGraphicFramePr>
        <p:xfrm>
          <a:off xmlns:a="http://schemas.openxmlformats.org/drawingml/2006/main" x="523875" y="4095750"/>
          <a:ext xmlns:a="http://schemas.openxmlformats.org/drawingml/2006/main" cx="4762500" cy="1028700"/>
        </p:xfrm>
        <a:graphic xmlns:a="http://schemas.openxmlformats.org/drawingml/2006/main">
          <a:graphicData uri="http://schemas.openxmlformats.org/drawingml/2006/table">
            <a:tbl>
              <a:tblPr/>
              <a:tblGrid>
                <a:gridCol w="1190625"/>
                <a:gridCol w="1190625"/>
                <a:gridCol w="1190625"/>
                <a:gridCol w="1190625"/>
              </a:tblGrid>
              <a:tr h="342900">
                <a:tc>
                  <a:txBody>
                    <a:bodyPr/>
                    <a:lstStyle/>
                    <a:p>
                      <a:r>
                        <a:rPr sz="1500" b="1">
                          <a:solidFill>
                            <a:srgbClr val="113F43"/>
                          </a:solidFill>
                          <a:latin typeface="Times New Roman"/>
                          <a:ea typeface="Times New Roman"/>
                          <a:cs typeface="Times New Roman"/>
                        </a:rPr>
                        <a:t>Chỉ tiêu</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+0</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+80</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+160</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Trung bình</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995</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1075</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1155</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Đạt 1000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3</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F4DB9B90-5461-4F3D-BE6C-1D8179BE0C74}"/>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Ở kịch bản +160, BC01 đạt 1020 giờ nên số thiết bị đạt mốc tăng lên 3. Nhãn Cao, Vua, Thap chỉ biểu diễn các khoảng giờ giả định.</a:t>
            </a:r>
          </a:p>
        </p:txBody>
      </p:sp>
    </p:spTree>
    <p:extLst>
      <p:ext uri="{BB962C8B-B14F-4D97-AF65-F5344CB8AC3E}">
        <p14:creationId xmlns:p14="http://schemas.microsoft.com/office/powerpoint/2010/main" val="2966899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963ba73f6a3a4ab9"/>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9. Chuẩn hóa hai đặc trưng khác thang đo</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10</a:t>
            </a:r>
          </a:p>
        </p:txBody>
      </p:sp>
      <p:sp>
        <p:nvSpPr>
          <p:cNvPr id="14" name="">
            <a:extLst xmlns:a="http://schemas.openxmlformats.org/drawingml/2006/main">
              <a:ext uri="{FF2B5EF4-FFF2-40B4-BE49-F238E27FC236}">
                <a16:creationId xmlns:a16="http://schemas.microsoft.com/office/drawing/2014/main" id="{787C554C-7100-45A0-9A77-7BB365D9F71D}"/>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column_stack tạo hai cột: giờ hoạt động và số bản ghi cảnh báo. Nếu cộng trực tiếp, hàng nghìn giờ sẽ lấn át số đếm 0 hoặc 1. Chuẩn hóa từng cột đưa chúng về khoảng so sánh chung.</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Công thức là (x − min) / (max − min). axis=0 tính riêng cho từng cột. Nếu một cột không biến thiên, np.where thay mẫu số 0 bằng 1 để tránh chia cho 0.</a:t>
            </a:r>
          </a:p>
        </p:txBody>
      </p:sp>
      <p:sp>
        <p:nvSpPr>
          <p:cNvPr id="15" name="">
            <a:extLst xmlns:a="http://schemas.openxmlformats.org/drawingml/2006/main">
              <a:ext uri="{FF2B5EF4-FFF2-40B4-BE49-F238E27FC236}">
                <a16:creationId xmlns:a16="http://schemas.microsoft.com/office/drawing/2014/main" id="{716AA78B-3E43-4A6E-9C9F-7B4621CAABF8}"/>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A062A233-9D96-402A-A081-7ECBCC97251B}"/>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FC17DAB2-1191-45E9-B96E-88E80A36563A}"/>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72 │ </a:t>
            </a:r>
            <a:r>
              <a:rPr sz="1350">
                <a:solidFill>
                  <a:srgbClr val="D4D4D4"/>
                </a:solidFill>
                <a:latin typeface="Consolas"/>
                <a:ea typeface="Consolas"/>
                <a:cs typeface="Consolas"/>
              </a:rPr>
              <a:t>    </a:t>
            </a:r>
            <a:r>
              <a:rPr sz="1350">
                <a:solidFill>
                  <a:srgbClr val="9CDCFE"/>
                </a:solidFill>
                <a:latin typeface="Consolas"/>
                <a:ea typeface="Consolas"/>
                <a:cs typeface="Consolas"/>
              </a:rPr>
              <a:t>dac_trung</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column_stack</a:t>
            </a:r>
            <a:r>
              <a:rPr sz="1350">
                <a:solidFill>
                  <a:srgbClr val="D4D4D4"/>
                </a:solidFill>
                <a:latin typeface="Consolas"/>
                <a:ea typeface="Consolas"/>
                <a:cs typeface="Consolas"/>
              </a:rPr>
              <a:t>((</a:t>
            </a:r>
            <a:r>
              <a:rPr sz="1350">
                <a:solidFill>
                  <a:srgbClr val="9CDCFE"/>
                </a:solidFill>
                <a:latin typeface="Consolas"/>
                <a:ea typeface="Consolas"/>
                <a:cs typeface="Consolas"/>
              </a:rPr>
              <a:t>gio</a:t>
            </a:r>
            <a:r>
              <a:rPr sz="1350">
                <a:solidFill>
                  <a:srgbClr val="D4D4D4"/>
                </a:solidFill>
                <a:latin typeface="Consolas"/>
                <a:ea typeface="Consolas"/>
                <a:cs typeface="Consolas"/>
              </a:rPr>
              <a:t>, </a:t>
            </a:r>
            <a:r>
              <a:rPr sz="1350">
                <a:solidFill>
                  <a:srgbClr val="9CDCFE"/>
                </a:solidFill>
                <a:latin typeface="Consolas"/>
                <a:ea typeface="Consolas"/>
                <a:cs typeface="Consolas"/>
              </a:rPr>
              <a:t>dem</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73 │ </a:t>
            </a:r>
            <a:r>
              <a:rPr sz="1350">
                <a:solidFill>
                  <a:srgbClr val="D4D4D4"/>
                </a:solidFill>
                <a:latin typeface="Consolas"/>
                <a:ea typeface="Consolas"/>
                <a:cs typeface="Consolas"/>
              </a:rPr>
              <a:t>    </a:t>
            </a:r>
            <a:r>
              <a:rPr sz="1350">
                <a:solidFill>
                  <a:srgbClr val="9CDCFE"/>
                </a:solidFill>
                <a:latin typeface="Consolas"/>
                <a:ea typeface="Consolas"/>
                <a:cs typeface="Consolas"/>
              </a:rPr>
              <a:t>min_cot</a:t>
            </a:r>
            <a:r>
              <a:rPr sz="1350">
                <a:solidFill>
                  <a:srgbClr val="D4D4D4"/>
                </a:solidFill>
                <a:latin typeface="Consolas"/>
                <a:ea typeface="Consolas"/>
                <a:cs typeface="Consolas"/>
              </a:rPr>
              <a:t> = </a:t>
            </a:r>
            <a:r>
              <a:rPr sz="1350">
                <a:solidFill>
                  <a:srgbClr val="9CDCFE"/>
                </a:solidFill>
                <a:latin typeface="Consolas"/>
                <a:ea typeface="Consolas"/>
                <a:cs typeface="Consolas"/>
              </a:rPr>
              <a:t>dac_trung</a:t>
            </a:r>
            <a:r>
              <a:rPr sz="1350">
                <a:solidFill>
                  <a:srgbClr val="D4D4D4"/>
                </a:solidFill>
                <a:latin typeface="Consolas"/>
                <a:ea typeface="Consolas"/>
                <a:cs typeface="Consolas"/>
              </a:rPr>
              <a:t>.</a:t>
            </a:r>
            <a:r>
              <a:rPr sz="1350">
                <a:solidFill>
                  <a:srgbClr val="DCDCAA"/>
                </a:solidFill>
                <a:latin typeface="Consolas"/>
                <a:ea typeface="Consolas"/>
                <a:cs typeface="Consolas"/>
              </a:rPr>
              <a:t>min</a:t>
            </a:r>
            <a:r>
              <a:rPr sz="1350">
                <a:solidFill>
                  <a:srgbClr val="D4D4D4"/>
                </a:solidFill>
                <a:latin typeface="Consolas"/>
                <a:ea typeface="Consolas"/>
                <a:cs typeface="Consolas"/>
              </a:rPr>
              <a:t>(</a:t>
            </a:r>
            <a:r>
              <a:rPr sz="1350">
                <a:solidFill>
                  <a:srgbClr val="9CDCFE"/>
                </a:solidFill>
                <a:latin typeface="Consolas"/>
                <a:ea typeface="Consolas"/>
                <a:cs typeface="Consolas"/>
              </a:rPr>
              <a:t>axis</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74 │ </a:t>
            </a:r>
            <a:r>
              <a:rPr sz="1350">
                <a:solidFill>
                  <a:srgbClr val="D4D4D4"/>
                </a:solidFill>
                <a:latin typeface="Consolas"/>
                <a:ea typeface="Consolas"/>
                <a:cs typeface="Consolas"/>
              </a:rPr>
              <a:t>    </a:t>
            </a:r>
            <a:r>
              <a:rPr sz="1350">
                <a:solidFill>
                  <a:srgbClr val="9CDCFE"/>
                </a:solidFill>
                <a:latin typeface="Consolas"/>
                <a:ea typeface="Consolas"/>
                <a:cs typeface="Consolas"/>
              </a:rPr>
              <a:t>do_rong</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ptp</a:t>
            </a:r>
            <a:r>
              <a:rPr sz="1350">
                <a:solidFill>
                  <a:srgbClr val="D4D4D4"/>
                </a:solidFill>
                <a:latin typeface="Consolas"/>
                <a:ea typeface="Consolas"/>
                <a:cs typeface="Consolas"/>
              </a:rPr>
              <a:t>(</a:t>
            </a:r>
            <a:r>
              <a:rPr sz="1350">
                <a:solidFill>
                  <a:srgbClr val="9CDCFE"/>
                </a:solidFill>
                <a:latin typeface="Consolas"/>
                <a:ea typeface="Consolas"/>
                <a:cs typeface="Consolas"/>
              </a:rPr>
              <a:t>dac_trung</a:t>
            </a:r>
            <a:r>
              <a:rPr sz="1350">
                <a:solidFill>
                  <a:srgbClr val="D4D4D4"/>
                </a:solidFill>
                <a:latin typeface="Consolas"/>
                <a:ea typeface="Consolas"/>
                <a:cs typeface="Consolas"/>
              </a:rPr>
              <a:t>, </a:t>
            </a:r>
            <a:r>
              <a:rPr sz="1350">
                <a:solidFill>
                  <a:srgbClr val="9CDCFE"/>
                </a:solidFill>
                <a:latin typeface="Consolas"/>
                <a:ea typeface="Consolas"/>
                <a:cs typeface="Consolas"/>
              </a:rPr>
              <a:t>axis</a:t>
            </a:r>
            <a:r>
              <a:rPr sz="1350">
                <a:solidFill>
                  <a:srgbClr val="D4D4D4"/>
                </a:solidFill>
                <a:latin typeface="Consolas"/>
                <a:ea typeface="Consolas"/>
                <a:cs typeface="Consolas"/>
              </a:rPr>
              <a:t>=</a:t>
            </a:r>
            <a:r>
              <a:rPr sz="1350">
                <a:solidFill>
                  <a:srgbClr val="B5CEA8"/>
                </a:solidFill>
                <a:latin typeface="Consolas"/>
                <a:ea typeface="Consolas"/>
                <a:cs typeface="Consolas"/>
              </a:rPr>
              <a:t>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75 │ </a:t>
            </a:r>
            <a:r>
              <a:rPr sz="1350">
                <a:solidFill>
                  <a:srgbClr val="D4D4D4"/>
                </a:solidFill>
                <a:latin typeface="Consolas"/>
                <a:ea typeface="Consolas"/>
                <a:cs typeface="Consolas"/>
              </a:rPr>
              <a:t>    </a:t>
            </a:r>
            <a:r>
              <a:rPr sz="1350">
                <a:solidFill>
                  <a:srgbClr val="9CDCFE"/>
                </a:solidFill>
                <a:latin typeface="Consolas"/>
                <a:ea typeface="Consolas"/>
                <a:cs typeface="Consolas"/>
              </a:rPr>
              <a:t>mau_so</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where</a:t>
            </a:r>
            <a:r>
              <a:rPr sz="1350">
                <a:solidFill>
                  <a:srgbClr val="D4D4D4"/>
                </a:solidFill>
                <a:latin typeface="Consolas"/>
                <a:ea typeface="Consolas"/>
                <a:cs typeface="Consolas"/>
              </a:rPr>
              <a:t>(</a:t>
            </a:r>
            <a:r>
              <a:rPr sz="1350">
                <a:solidFill>
                  <a:srgbClr val="9CDCFE"/>
                </a:solidFill>
                <a:latin typeface="Consolas"/>
                <a:ea typeface="Consolas"/>
                <a:cs typeface="Consolas"/>
              </a:rPr>
              <a:t>do_rong</a:t>
            </a:r>
            <a:r>
              <a:rPr sz="1350">
                <a:solidFill>
                  <a:srgbClr val="D4D4D4"/>
                </a:solidFill>
                <a:latin typeface="Consolas"/>
                <a:ea typeface="Consolas"/>
                <a:cs typeface="Consolas"/>
              </a:rPr>
              <a:t> == </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B5CEA8"/>
                </a:solidFill>
                <a:latin typeface="Consolas"/>
                <a:ea typeface="Consolas"/>
                <a:cs typeface="Consolas"/>
              </a:rPr>
              <a:t>1</a:t>
            </a:r>
            <a:r>
              <a:rPr sz="1350">
                <a:solidFill>
                  <a:srgbClr val="D4D4D4"/>
                </a:solidFill>
                <a:latin typeface="Consolas"/>
                <a:ea typeface="Consolas"/>
                <a:cs typeface="Consolas"/>
              </a:rPr>
              <a:t>, </a:t>
            </a:r>
            <a:r>
              <a:rPr sz="1350">
                <a:solidFill>
                  <a:srgbClr val="9CDCFE"/>
                </a:solidFill>
                <a:latin typeface="Consolas"/>
                <a:ea typeface="Consolas"/>
                <a:cs typeface="Consolas"/>
              </a:rPr>
              <a:t>do_rong</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76 │ </a:t>
            </a:r>
            <a:r>
              <a:rPr sz="1350">
                <a:solidFill>
                  <a:srgbClr val="D4D4D4"/>
                </a:solidFill>
                <a:latin typeface="Consolas"/>
                <a:ea typeface="Consolas"/>
                <a:cs typeface="Consolas"/>
              </a:rPr>
              <a:t>    </a:t>
            </a:r>
            <a:r>
              <a:rPr sz="1350">
                <a:solidFill>
                  <a:srgbClr val="9CDCFE"/>
                </a:solidFill>
                <a:latin typeface="Consolas"/>
                <a:ea typeface="Consolas"/>
                <a:cs typeface="Consolas"/>
              </a:rPr>
              <a:t>chuan</a:t>
            </a:r>
            <a:r>
              <a:rPr sz="1350">
                <a:solidFill>
                  <a:srgbClr val="D4D4D4"/>
                </a:solidFill>
                <a:latin typeface="Consolas"/>
                <a:ea typeface="Consolas"/>
                <a:cs typeface="Consolas"/>
              </a:rPr>
              <a:t> = (</a:t>
            </a:r>
            <a:r>
              <a:rPr sz="1350">
                <a:solidFill>
                  <a:srgbClr val="9CDCFE"/>
                </a:solidFill>
                <a:latin typeface="Consolas"/>
                <a:ea typeface="Consolas"/>
                <a:cs typeface="Consolas"/>
              </a:rPr>
              <a:t>dac_trung</a:t>
            </a:r>
            <a:r>
              <a:rPr sz="1350">
                <a:solidFill>
                  <a:srgbClr val="D4D4D4"/>
                </a:solidFill>
                <a:latin typeface="Consolas"/>
                <a:ea typeface="Consolas"/>
                <a:cs typeface="Consolas"/>
              </a:rPr>
              <a:t> - </a:t>
            </a:r>
            <a:r>
              <a:rPr sz="1350">
                <a:solidFill>
                  <a:srgbClr val="9CDCFE"/>
                </a:solidFill>
                <a:latin typeface="Consolas"/>
                <a:ea typeface="Consolas"/>
                <a:cs typeface="Consolas"/>
              </a:rPr>
              <a:t>min_cot</a:t>
            </a:r>
            <a:r>
              <a:rPr sz="1350">
                <a:solidFill>
                  <a:srgbClr val="D4D4D4"/>
                </a:solidFill>
                <a:latin typeface="Consolas"/>
                <a:ea typeface="Consolas"/>
                <a:cs typeface="Consolas"/>
              </a:rPr>
              <a:t>) / </a:t>
            </a:r>
            <a:r>
              <a:rPr sz="1350">
                <a:solidFill>
                  <a:srgbClr val="9CDCFE"/>
                </a:solidFill>
                <a:latin typeface="Consolas"/>
                <a:ea typeface="Consolas"/>
                <a:cs typeface="Consolas"/>
              </a:rPr>
              <a:t>mau_so</a:t>
            </a:r>
          </a:p>
        </p:txBody>
      </p:sp>
      <p:graphicFrame>
        <p:nvGraphicFramePr>
          <p:cNvPr id="18" name="">
            <a:extLst xmlns:a="http://schemas.openxmlformats.org/drawingml/2006/main">
              <a:ext uri="{FF2B5EF4-FFF2-40B4-BE49-F238E27FC236}">
                <a16:creationId xmlns:a16="http://schemas.microsoft.com/office/drawing/2014/main" id="{341B5716-2F2D-438E-84E0-9BEA9DC90E59}"/>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587500"/>
                <a:gridCol w="1587500"/>
                <a:gridCol w="1587500"/>
              </a:tblGrid>
              <a:tr h="342900">
                <a:tc>
                  <a:txBody>
                    <a:bodyPr/>
                    <a:lstStyle/>
                    <a:p>
                      <a:r>
                        <a:rPr sz="1500" b="1">
                          <a:solidFill>
                            <a:srgbClr val="113F43"/>
                          </a:solidFill>
                          <a:latin typeface="Times New Roman"/>
                          <a:ea typeface="Times New Roman"/>
                          <a:cs typeface="Times New Roman"/>
                        </a:rPr>
                        <a:t>MaTB</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Giờ chuẩn</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CB chuẩn</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0,000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1,000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0,407</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0,722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982E8679-D5D3-4721-9E5B-25E2A2B85072}"/>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BC01: (860 − 420) / (1500 − 420) = 0,4074. Cột không biến thiên trở thành 0, vì mọi giá trị bằng min của cột đó.</a:t>
            </a:r>
          </a:p>
        </p:txBody>
      </p:sp>
    </p:spTree>
    <p:extLst>
      <p:ext uri="{BB962C8B-B14F-4D97-AF65-F5344CB8AC3E}">
        <p14:creationId xmlns:p14="http://schemas.microsoft.com/office/powerpoint/2010/main" val="2966899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b314b0c5216946be"/>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10. Tích ma trận và thứ tự ưu tiên</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11</a:t>
            </a:r>
          </a:p>
        </p:txBody>
      </p:sp>
      <p:sp>
        <p:nvSpPr>
          <p:cNvPr id="14" name="">
            <a:extLst xmlns:a="http://schemas.openxmlformats.org/drawingml/2006/main">
              <a:ext uri="{FF2B5EF4-FFF2-40B4-BE49-F238E27FC236}">
                <a16:creationId xmlns:a16="http://schemas.microsoft.com/office/drawing/2014/main" id="{C8675FC4-70BF-4EC2-B5A3-A7B964B5A195}"/>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chuan có dạng (4,2), trong_so có dạng (2,). Phép @ tính tổng có trọng số trên mỗi dòng và trả bốn điểm. Trọng số 0,6 dành cho giờ, 0,4 dành cho số cảnh báo, theo đúng thứ tự cột.</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argsort trả vị trí sắp xếp, không trả mã thiết bị. Đổi dấu điểm để xếp giảm dần. kind="stable" giữ thứ tự ban đầu khi hai điểm bằng nhau.</a:t>
            </a:r>
          </a:p>
        </p:txBody>
      </p:sp>
      <p:sp>
        <p:nvSpPr>
          <p:cNvPr id="15" name="">
            <a:extLst xmlns:a="http://schemas.openxmlformats.org/drawingml/2006/main">
              <a:ext uri="{FF2B5EF4-FFF2-40B4-BE49-F238E27FC236}">
                <a16:creationId xmlns:a16="http://schemas.microsoft.com/office/drawing/2014/main" id="{53423FFF-14B8-4746-A1C9-8EBDCFE4BCBE}"/>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2EC5E1F0-A92B-4B85-AC25-E95F514CCD21}"/>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F33C4D48-1C54-4D38-8823-A8E504C04B40}"/>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81 │ </a:t>
            </a:r>
            <a:r>
              <a:rPr sz="1350">
                <a:solidFill>
                  <a:srgbClr val="D4D4D4"/>
                </a:solidFill>
                <a:latin typeface="Consolas"/>
                <a:ea typeface="Consolas"/>
                <a:cs typeface="Consolas"/>
              </a:rPr>
              <a:t>    </a:t>
            </a:r>
            <a:r>
              <a:rPr sz="1350">
                <a:solidFill>
                  <a:srgbClr val="9CDCFE"/>
                </a:solidFill>
                <a:latin typeface="Consolas"/>
                <a:ea typeface="Consolas"/>
                <a:cs typeface="Consolas"/>
              </a:rPr>
              <a:t>trong_so</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B5CEA8"/>
                </a:solidFill>
                <a:latin typeface="Consolas"/>
                <a:ea typeface="Consolas"/>
                <a:cs typeface="Consolas"/>
              </a:rPr>
              <a:t>0.6</a:t>
            </a:r>
            <a:r>
              <a:rPr sz="1350">
                <a:solidFill>
                  <a:srgbClr val="D4D4D4"/>
                </a:solidFill>
                <a:latin typeface="Consolas"/>
                <a:ea typeface="Consolas"/>
                <a:cs typeface="Consolas"/>
              </a:rPr>
              <a:t>, </a:t>
            </a:r>
            <a:r>
              <a:rPr sz="1350">
                <a:solidFill>
                  <a:srgbClr val="B5CEA8"/>
                </a:solidFill>
                <a:latin typeface="Consolas"/>
                <a:ea typeface="Consolas"/>
                <a:cs typeface="Consolas"/>
              </a:rPr>
              <a:t>0.4</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82 │ </a:t>
            </a:r>
            <a:r>
              <a:rPr sz="1350">
                <a:solidFill>
                  <a:srgbClr val="D4D4D4"/>
                </a:solidFill>
                <a:latin typeface="Consolas"/>
                <a:ea typeface="Consolas"/>
                <a:cs typeface="Consolas"/>
              </a:rPr>
              <a:t>    </a:t>
            </a:r>
            <a:r>
              <a:rPr sz="1350">
                <a:solidFill>
                  <a:srgbClr val="9CDCFE"/>
                </a:solidFill>
                <a:latin typeface="Consolas"/>
                <a:ea typeface="Consolas"/>
                <a:cs typeface="Consolas"/>
              </a:rPr>
              <a:t>diem</a:t>
            </a:r>
            <a:r>
              <a:rPr sz="1350">
                <a:solidFill>
                  <a:srgbClr val="D4D4D4"/>
                </a:solidFill>
                <a:latin typeface="Consolas"/>
                <a:ea typeface="Consolas"/>
                <a:cs typeface="Consolas"/>
              </a:rPr>
              <a:t> = </a:t>
            </a:r>
            <a:r>
              <a:rPr sz="1350">
                <a:solidFill>
                  <a:srgbClr val="9CDCFE"/>
                </a:solidFill>
                <a:latin typeface="Consolas"/>
                <a:ea typeface="Consolas"/>
                <a:cs typeface="Consolas"/>
              </a:rPr>
              <a:t>chuan</a:t>
            </a:r>
            <a:r>
              <a:rPr sz="1350">
                <a:solidFill>
                  <a:srgbClr val="D4D4D4"/>
                </a:solidFill>
                <a:latin typeface="Consolas"/>
                <a:ea typeface="Consolas"/>
                <a:cs typeface="Consolas"/>
              </a:rPr>
              <a:t> @ </a:t>
            </a:r>
            <a:r>
              <a:rPr sz="1350">
                <a:solidFill>
                  <a:srgbClr val="9CDCFE"/>
                </a:solidFill>
                <a:latin typeface="Consolas"/>
                <a:ea typeface="Consolas"/>
                <a:cs typeface="Consolas"/>
              </a:rPr>
              <a:t>trong_so</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83 │ </a:t>
            </a:r>
            <a:r>
              <a:rPr sz="1350">
                <a:solidFill>
                  <a:srgbClr val="D4D4D4"/>
                </a:solidFill>
                <a:latin typeface="Consolas"/>
                <a:ea typeface="Consolas"/>
                <a:cs typeface="Consolas"/>
              </a:rPr>
              <a:t>    </a:t>
            </a:r>
            <a:r>
              <a:rPr sz="1350">
                <a:solidFill>
                  <a:srgbClr val="9CDCFE"/>
                </a:solidFill>
                <a:latin typeface="Consolas"/>
                <a:ea typeface="Consolas"/>
                <a:cs typeface="Consolas"/>
              </a:rPr>
              <a:t>thu_tu</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argsort</a:t>
            </a:r>
            <a:r>
              <a:rPr sz="1350">
                <a:solidFill>
                  <a:srgbClr val="D4D4D4"/>
                </a:solidFill>
                <a:latin typeface="Consolas"/>
                <a:ea typeface="Consolas"/>
                <a:cs typeface="Consolas"/>
              </a:rPr>
              <a:t>(-</a:t>
            </a:r>
            <a:r>
              <a:rPr sz="1350">
                <a:solidFill>
                  <a:srgbClr val="9CDCFE"/>
                </a:solidFill>
                <a:latin typeface="Consolas"/>
                <a:ea typeface="Consolas"/>
                <a:cs typeface="Consolas"/>
              </a:rPr>
              <a:t>diem</a:t>
            </a:r>
            <a:r>
              <a:rPr sz="1350">
                <a:solidFill>
                  <a:srgbClr val="D4D4D4"/>
                </a:solidFill>
                <a:latin typeface="Consolas"/>
                <a:ea typeface="Consolas"/>
                <a:cs typeface="Consolas"/>
              </a:rPr>
              <a:t>, </a:t>
            </a:r>
            <a:r>
              <a:rPr sz="1350">
                <a:solidFill>
                  <a:srgbClr val="9CDCFE"/>
                </a:solidFill>
                <a:latin typeface="Consolas"/>
                <a:ea typeface="Consolas"/>
                <a:cs typeface="Consolas"/>
              </a:rPr>
              <a:t>kind</a:t>
            </a:r>
            <a:r>
              <a:rPr sz="1350">
                <a:solidFill>
                  <a:srgbClr val="D4D4D4"/>
                </a:solidFill>
                <a:latin typeface="Consolas"/>
                <a:ea typeface="Consolas"/>
                <a:cs typeface="Consolas"/>
              </a:rPr>
              <a:t>=</a:t>
            </a:r>
            <a:r>
              <a:rPr sz="1350">
                <a:solidFill>
                  <a:srgbClr val="CE9178"/>
                </a:solidFill>
                <a:latin typeface="Consolas"/>
                <a:ea typeface="Consolas"/>
                <a:cs typeface="Consolas"/>
              </a:rPr>
              <a:t>"stable"</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844DAFCB-4503-4786-840A-392176045420}"/>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587500"/>
                <a:gridCol w="1587500"/>
                <a:gridCol w="1587500"/>
              </a:tblGrid>
              <a:tr h="342900">
                <a:tc>
                  <a:txBody>
                    <a:bodyPr/>
                    <a:lstStyle/>
                    <a:p>
                      <a:r>
                        <a:rPr sz="1500" b="1">
                          <a:solidFill>
                            <a:srgbClr val="113F43"/>
                          </a:solidFill>
                          <a:latin typeface="Times New Roman"/>
                          <a:ea typeface="Times New Roman"/>
                          <a:cs typeface="Times New Roman"/>
                        </a:rPr>
                        <a:t>Hạng</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MaTB</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Điểm</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0,644</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0,600</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3</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0,433</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4</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0,400</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10971D01-001B-4DF4-BA46-0E9B9701F35A}"/>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Điểm BC01 = 0,6 × 0,4074 + 0,4 × 1 = 0,6444. Đây là thước đo minh họa được định nghĩa bởi trọng số, không phải xác suất hỏng.</a:t>
            </a:r>
          </a:p>
        </p:txBody>
      </p:sp>
    </p:spTree>
    <p:extLst>
      <p:ext uri="{BB962C8B-B14F-4D97-AF65-F5344CB8AC3E}">
        <p14:creationId xmlns:p14="http://schemas.microsoft.com/office/powerpoint/2010/main" val="2966899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7fe6ffd15ec2425f"/>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11. Đổi trọng số và đọc sự thay đổi</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12</a:t>
            </a:r>
          </a:p>
        </p:txBody>
      </p:sp>
      <p:sp>
        <p:nvSpPr>
          <p:cNvPr id="14" name="">
            <a:extLst xmlns:a="http://schemas.openxmlformats.org/drawingml/2006/main">
              <a:ext uri="{FF2B5EF4-FFF2-40B4-BE49-F238E27FC236}">
                <a16:creationId xmlns:a16="http://schemas.microsoft.com/office/drawing/2014/main" id="{405F6AFA-EA50-49DD-A7F2-ED67DC1982D1}"/>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Để khảo sát độ nhạy, giữ nguyên đặc trưng và cách chuẩn hóa, chỉ đổi trọng số sang 0,3 cho giờ và 0,7 cho cảnh báo. Như vậy, chênh lệch thứ tự xuất phát từ quy tắc ưu tiên.</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AGV01 có giờ thấp nhất nhưng có một bản ghi cảnh báo. Khi tăng trọng số cảnh báo, thiết bị này lên hạng 2. Cần trình bày cả quy tắc và dữ liệu khi giải thích lựa chọn.</a:t>
            </a:r>
          </a:p>
        </p:txBody>
      </p:sp>
      <p:sp>
        <p:nvSpPr>
          <p:cNvPr id="15" name="">
            <a:extLst xmlns:a="http://schemas.openxmlformats.org/drawingml/2006/main">
              <a:ext uri="{FF2B5EF4-FFF2-40B4-BE49-F238E27FC236}">
                <a16:creationId xmlns:a16="http://schemas.microsoft.com/office/drawing/2014/main" id="{644CA2BB-BB6E-4A6F-B9AE-23D35027FC85}"/>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27090970-6457-4394-87CE-FC6620E9B75E}"/>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247B2727-149E-4F2F-A631-7E7BA3302CD2}"/>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84 │ </a:t>
            </a:r>
            <a:r>
              <a:rPr sz="1350">
                <a:solidFill>
                  <a:srgbClr val="D4D4D4"/>
                </a:solidFill>
                <a:latin typeface="Consolas"/>
                <a:ea typeface="Consolas"/>
                <a:cs typeface="Consolas"/>
              </a:rPr>
              <a:t>    </a:t>
            </a:r>
            <a:r>
              <a:rPr sz="1350">
                <a:solidFill>
                  <a:srgbClr val="9CDCFE"/>
                </a:solidFill>
                <a:latin typeface="Consolas"/>
                <a:ea typeface="Consolas"/>
                <a:cs typeface="Consolas"/>
              </a:rPr>
              <a:t>trong_so_moi</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array</a:t>
            </a:r>
            <a:r>
              <a:rPr sz="1350">
                <a:solidFill>
                  <a:srgbClr val="D4D4D4"/>
                </a:solidFill>
                <a:latin typeface="Consolas"/>
                <a:ea typeface="Consolas"/>
                <a:cs typeface="Consolas"/>
              </a:rPr>
              <a:t>([</a:t>
            </a:r>
            <a:r>
              <a:rPr sz="1350">
                <a:solidFill>
                  <a:srgbClr val="B5CEA8"/>
                </a:solidFill>
                <a:latin typeface="Consolas"/>
                <a:ea typeface="Consolas"/>
                <a:cs typeface="Consolas"/>
              </a:rPr>
              <a:t>0.3</a:t>
            </a:r>
            <a:r>
              <a:rPr sz="1350">
                <a:solidFill>
                  <a:srgbClr val="D4D4D4"/>
                </a:solidFill>
                <a:latin typeface="Consolas"/>
                <a:ea typeface="Consolas"/>
                <a:cs typeface="Consolas"/>
              </a:rPr>
              <a:t>, </a:t>
            </a:r>
            <a:r>
              <a:rPr sz="1350">
                <a:solidFill>
                  <a:srgbClr val="B5CEA8"/>
                </a:solidFill>
                <a:latin typeface="Consolas"/>
                <a:ea typeface="Consolas"/>
                <a:cs typeface="Consolas"/>
              </a:rPr>
              <a:t>0.7</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85 │ </a:t>
            </a:r>
            <a:r>
              <a:rPr sz="1350">
                <a:solidFill>
                  <a:srgbClr val="D4D4D4"/>
                </a:solidFill>
                <a:latin typeface="Consolas"/>
                <a:ea typeface="Consolas"/>
                <a:cs typeface="Consolas"/>
              </a:rPr>
              <a:t>    </a:t>
            </a:r>
            <a:r>
              <a:rPr sz="1350">
                <a:solidFill>
                  <a:srgbClr val="9CDCFE"/>
                </a:solidFill>
                <a:latin typeface="Consolas"/>
                <a:ea typeface="Consolas"/>
                <a:cs typeface="Consolas"/>
              </a:rPr>
              <a:t>diem_moi</a:t>
            </a:r>
            <a:r>
              <a:rPr sz="1350">
                <a:solidFill>
                  <a:srgbClr val="D4D4D4"/>
                </a:solidFill>
                <a:latin typeface="Consolas"/>
                <a:ea typeface="Consolas"/>
                <a:cs typeface="Consolas"/>
              </a:rPr>
              <a:t> = </a:t>
            </a:r>
            <a:r>
              <a:rPr sz="1350">
                <a:solidFill>
                  <a:srgbClr val="9CDCFE"/>
                </a:solidFill>
                <a:latin typeface="Consolas"/>
                <a:ea typeface="Consolas"/>
                <a:cs typeface="Consolas"/>
              </a:rPr>
              <a:t>chuan</a:t>
            </a:r>
            <a:r>
              <a:rPr sz="1350">
                <a:solidFill>
                  <a:srgbClr val="D4D4D4"/>
                </a:solidFill>
                <a:latin typeface="Consolas"/>
                <a:ea typeface="Consolas"/>
                <a:cs typeface="Consolas"/>
              </a:rPr>
              <a:t> @ </a:t>
            </a:r>
            <a:r>
              <a:rPr sz="1350">
                <a:solidFill>
                  <a:srgbClr val="9CDCFE"/>
                </a:solidFill>
                <a:latin typeface="Consolas"/>
                <a:ea typeface="Consolas"/>
                <a:cs typeface="Consolas"/>
              </a:rPr>
              <a:t>trong_so_moi</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86 │ </a:t>
            </a:r>
            <a:r>
              <a:rPr sz="1350">
                <a:solidFill>
                  <a:srgbClr val="D4D4D4"/>
                </a:solidFill>
                <a:latin typeface="Consolas"/>
                <a:ea typeface="Consolas"/>
                <a:cs typeface="Consolas"/>
              </a:rPr>
              <a:t>    </a:t>
            </a:r>
            <a:r>
              <a:rPr sz="1350">
                <a:solidFill>
                  <a:srgbClr val="9CDCFE"/>
                </a:solidFill>
                <a:latin typeface="Consolas"/>
                <a:ea typeface="Consolas"/>
                <a:cs typeface="Consolas"/>
              </a:rPr>
              <a:t>thu_tu_moi</a:t>
            </a:r>
            <a:r>
              <a:rPr sz="1350">
                <a:solidFill>
                  <a:srgbClr val="D4D4D4"/>
                </a:solidFill>
                <a:latin typeface="Consolas"/>
                <a:ea typeface="Consolas"/>
                <a:cs typeface="Consolas"/>
              </a:rPr>
              <a:t> =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argsort</a:t>
            </a:r>
            <a:r>
              <a:rPr sz="1350">
                <a:solidFill>
                  <a:srgbClr val="D4D4D4"/>
                </a:solidFill>
                <a:latin typeface="Consolas"/>
                <a:ea typeface="Consolas"/>
                <a:cs typeface="Consolas"/>
              </a:rPr>
              <a:t>(-</a:t>
            </a:r>
            <a:r>
              <a:rPr sz="1350">
                <a:solidFill>
                  <a:srgbClr val="9CDCFE"/>
                </a:solidFill>
                <a:latin typeface="Consolas"/>
                <a:ea typeface="Consolas"/>
                <a:cs typeface="Consolas"/>
              </a:rPr>
              <a:t>diem_moi</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kind</a:t>
            </a:r>
            <a:r>
              <a:rPr sz="1350">
                <a:solidFill>
                  <a:srgbClr val="D4D4D4"/>
                </a:solidFill>
                <a:latin typeface="Consolas"/>
                <a:ea typeface="Consolas"/>
                <a:cs typeface="Consolas"/>
              </a:rPr>
              <a:t>=</a:t>
            </a:r>
            <a:r>
              <a:rPr sz="1350">
                <a:solidFill>
                  <a:srgbClr val="CE9178"/>
                </a:solidFill>
                <a:latin typeface="Consolas"/>
                <a:ea typeface="Consolas"/>
                <a:cs typeface="Consolas"/>
              </a:rPr>
              <a:t>"stable"</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87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"Thứ tự 0.6/0.4:"</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9CDCFE"/>
                </a:solidFill>
                <a:latin typeface="Consolas"/>
                <a:ea typeface="Consolas"/>
                <a:cs typeface="Consolas"/>
              </a:rPr>
              <a:t>thu_tu</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88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"Điểm:"</a:t>
            </a:r>
            <a:r>
              <a:rPr sz="1350">
                <a:solidFill>
                  <a:srgbClr val="D4D4D4"/>
                </a:solidFill>
                <a:latin typeface="Consolas"/>
                <a:ea typeface="Consolas"/>
                <a:cs typeface="Consolas"/>
              </a:rPr>
              <a:t>,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round</a:t>
            </a:r>
            <a:r>
              <a:rPr sz="1350">
                <a:solidFill>
                  <a:srgbClr val="D4D4D4"/>
                </a:solidFill>
                <a:latin typeface="Consolas"/>
                <a:ea typeface="Consolas"/>
                <a:cs typeface="Consolas"/>
              </a:rPr>
              <a:t>(</a:t>
            </a:r>
            <a:r>
              <a:rPr sz="1350">
                <a:solidFill>
                  <a:srgbClr val="9CDCFE"/>
                </a:solidFill>
                <a:latin typeface="Consolas"/>
                <a:ea typeface="Consolas"/>
                <a:cs typeface="Consolas"/>
              </a:rPr>
              <a:t>diem</a:t>
            </a:r>
            <a:r>
              <a:rPr sz="1350">
                <a:solidFill>
                  <a:srgbClr val="D4D4D4"/>
                </a:solidFill>
                <a:latin typeface="Consolas"/>
                <a:ea typeface="Consolas"/>
                <a:cs typeface="Consolas"/>
              </a:rPr>
              <a:t>[</a:t>
            </a:r>
            <a:r>
              <a:rPr sz="1350">
                <a:solidFill>
                  <a:srgbClr val="9CDCFE"/>
                </a:solidFill>
                <a:latin typeface="Consolas"/>
                <a:ea typeface="Consolas"/>
                <a:cs typeface="Consolas"/>
              </a:rPr>
              <a:t>thu_tu</a:t>
            </a:r>
            <a:r>
              <a:rPr sz="1350">
                <a:solidFill>
                  <a:srgbClr val="D4D4D4"/>
                </a:solidFill>
                <a:latin typeface="Consolas"/>
                <a:ea typeface="Consolas"/>
                <a:cs typeface="Consolas"/>
              </a:rPr>
              <a:t>], </a:t>
            </a:r>
            <a:r>
              <a:rPr sz="1350">
                <a:solidFill>
                  <a:srgbClr val="B5CEA8"/>
                </a:solidFill>
                <a:latin typeface="Consolas"/>
                <a:ea typeface="Consolas"/>
                <a:cs typeface="Consolas"/>
              </a:rPr>
              <a:t>3</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89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"Thứ tự 0.3/0.7:"</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9CDCFE"/>
                </a:solidFill>
                <a:latin typeface="Consolas"/>
                <a:ea typeface="Consolas"/>
                <a:cs typeface="Consolas"/>
              </a:rPr>
              <a:t>thu_tu_moi</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5739AF4E-45E2-42F4-9CC2-B59C51C729B8}"/>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1587500"/>
                <a:gridCol w="1587500"/>
                <a:gridCol w="1587500"/>
              </a:tblGrid>
              <a:tr h="342900">
                <a:tc>
                  <a:txBody>
                    <a:bodyPr/>
                    <a:lstStyle/>
                    <a:p>
                      <a:r>
                        <a:rPr sz="1500" b="1">
                          <a:solidFill>
                            <a:srgbClr val="113F43"/>
                          </a:solidFill>
                          <a:latin typeface="Times New Roman"/>
                          <a:ea typeface="Times New Roman"/>
                          <a:cs typeface="Times New Roman"/>
                        </a:rPr>
                        <a:t>Hạng</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0,6 / 0,4</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0,3 / 0,7</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BC01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2</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3</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ASRS01</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4</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AGV01</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PLC01</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688B6600-9569-4463-A96C-65389904AB5B}"/>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Có thể thảo luận thiết bị nào cần xem xét trước theo từng mục đích. Không kết luận một bộ trọng số là chính sách đúng chỉ từ bốn thiết bị mẫu.</a:t>
            </a:r>
          </a:p>
        </p:txBody>
      </p:sp>
    </p:spTree>
    <p:extLst>
      <p:ext uri="{BB962C8B-B14F-4D97-AF65-F5344CB8AC3E}">
        <p14:creationId xmlns:p14="http://schemas.microsoft.com/office/powerpoint/2010/main" val="2966899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ad85804e735c4dd5"/>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12. Xuất báo cáo và kiểm tra tệp đã lưu</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13</a:t>
            </a:r>
          </a:p>
        </p:txBody>
      </p:sp>
      <p:sp>
        <p:nvSpPr>
          <p:cNvPr id="14" name="">
            <a:extLst xmlns:a="http://schemas.openxmlformats.org/drawingml/2006/main">
              <a:ext uri="{FF2B5EF4-FFF2-40B4-BE49-F238E27FC236}">
                <a16:creationId xmlns:a16="http://schemas.microsoft.com/office/drawing/2014/main" id="{A65F4738-BAD1-4282-A255-69D2DBFACCB3}"/>
              </a:ext>
            </a:extLst>
          </p:cNvPr>
          <p:cNvSpPr>
            <a:spLocks xmlns:a="http://schemas.openxmlformats.org/drawingml/2006/main" noGrp="1"/>
          </p:cNvSpPr>
          <p:nvPr/>
        </p:nvSpPr>
        <p:spPr>
          <a:xfrm xmlns:a="http://schemas.openxmlformats.org/drawingml/2006/main">
            <a:off x="52387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Thư viện csv ghi dữ liệu sau phân tích mà không cần pandas. newline="" để csv quản lý dấu xuống dòng. encoding="utf-8-sig" hỗ trợ mở tiếng Việt trong Excel.</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writerow ghi tiêu đề, writerows ghi nhiều dòng. Hàm luu_csv được gọi cho bảng nguồn, kịch bản, thứ tự ưu tiên và so sánh điểm của hai bộ trọng số.</a:t>
            </a:r>
          </a:p>
        </p:txBody>
      </p:sp>
      <p:sp>
        <p:nvSpPr>
          <p:cNvPr id="15" name="">
            <a:extLst xmlns:a="http://schemas.openxmlformats.org/drawingml/2006/main">
              <a:ext uri="{FF2B5EF4-FFF2-40B4-BE49-F238E27FC236}">
                <a16:creationId xmlns:a16="http://schemas.microsoft.com/office/drawing/2014/main" id="{43EE5283-D062-4197-A49B-EAEA8BB10D61}"/>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D5F41439-92BC-4A98-BCF6-1052E6992CA7}"/>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4AB865C7-E8F5-4429-B817-3BF3B6BC332F}"/>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10 │ </a:t>
            </a:r>
            <a:r>
              <a:rPr sz="1350">
                <a:solidFill>
                  <a:srgbClr val="C586C0"/>
                </a:solidFill>
                <a:latin typeface="Consolas"/>
                <a:ea typeface="Consolas"/>
                <a:cs typeface="Consolas"/>
              </a:rPr>
              <a:t>def</a:t>
            </a:r>
            <a:r>
              <a:rPr sz="1350">
                <a:solidFill>
                  <a:srgbClr val="D4D4D4"/>
                </a:solidFill>
                <a:latin typeface="Consolas"/>
                <a:ea typeface="Consolas"/>
                <a:cs typeface="Consolas"/>
              </a:rPr>
              <a:t> </a:t>
            </a:r>
            <a:r>
              <a:rPr sz="1350">
                <a:solidFill>
                  <a:srgbClr val="DCDCAA"/>
                </a:solidFill>
                <a:latin typeface="Consolas"/>
                <a:ea typeface="Consolas"/>
                <a:cs typeface="Consolas"/>
              </a:rPr>
              <a:t>luu_csv</a:t>
            </a:r>
            <a:r>
              <a:rPr sz="1350">
                <a:solidFill>
                  <a:srgbClr val="D4D4D4"/>
                </a:solidFill>
                <a:latin typeface="Consolas"/>
                <a:ea typeface="Consolas"/>
                <a:cs typeface="Consolas"/>
              </a:rPr>
              <a:t>(</a:t>
            </a:r>
            <a:r>
              <a:rPr sz="1350">
                <a:solidFill>
                  <a:srgbClr val="9CDCFE"/>
                </a:solidFill>
                <a:latin typeface="Consolas"/>
                <a:ea typeface="Consolas"/>
                <a:cs typeface="Consolas"/>
              </a:rPr>
              <a:t>path</a:t>
            </a:r>
            <a:r>
              <a:rPr sz="1350">
                <a:solidFill>
                  <a:srgbClr val="D4D4D4"/>
                </a:solidFill>
                <a:latin typeface="Consolas"/>
                <a:ea typeface="Consolas"/>
                <a:cs typeface="Consolas"/>
              </a:rPr>
              <a:t>, </a:t>
            </a:r>
            <a:r>
              <a:rPr sz="1350">
                <a:solidFill>
                  <a:srgbClr val="9CDCFE"/>
                </a:solidFill>
                <a:latin typeface="Consolas"/>
                <a:ea typeface="Consolas"/>
                <a:cs typeface="Consolas"/>
              </a:rPr>
              <a:t>header</a:t>
            </a:r>
            <a:r>
              <a:rPr sz="1350">
                <a:solidFill>
                  <a:srgbClr val="D4D4D4"/>
                </a:solidFill>
                <a:latin typeface="Consolas"/>
                <a:ea typeface="Consolas"/>
                <a:cs typeface="Consolas"/>
              </a:rPr>
              <a:t>, </a:t>
            </a:r>
            <a:r>
              <a:rPr sz="1350">
                <a:solidFill>
                  <a:srgbClr val="9CDCFE"/>
                </a:solidFill>
                <a:latin typeface="Consolas"/>
                <a:ea typeface="Consolas"/>
                <a:cs typeface="Consolas"/>
              </a:rPr>
              <a:t>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11 │ </a:t>
            </a:r>
            <a:r>
              <a:rPr sz="1350">
                <a:solidFill>
                  <a:srgbClr val="D4D4D4"/>
                </a:solidFill>
                <a:latin typeface="Consolas"/>
                <a:ea typeface="Consolas"/>
                <a:cs typeface="Consolas"/>
              </a:rPr>
              <a:t>    </a:t>
            </a:r>
            <a:r>
              <a:rPr sz="1350">
                <a:solidFill>
                  <a:srgbClr val="C586C0"/>
                </a:solidFill>
                <a:latin typeface="Consolas"/>
                <a:ea typeface="Consolas"/>
                <a:cs typeface="Consolas"/>
              </a:rPr>
              <a:t>with</a:t>
            </a:r>
            <a:r>
              <a:rPr sz="1350">
                <a:solidFill>
                  <a:srgbClr val="D4D4D4"/>
                </a:solidFill>
                <a:latin typeface="Consolas"/>
                <a:ea typeface="Consolas"/>
                <a:cs typeface="Consolas"/>
              </a:rPr>
              <a:t> </a:t>
            </a:r>
            <a:r>
              <a:rPr sz="1350">
                <a:solidFill>
                  <a:srgbClr val="9CDCFE"/>
                </a:solidFill>
                <a:latin typeface="Consolas"/>
                <a:ea typeface="Consolas"/>
                <a:cs typeface="Consolas"/>
              </a:rPr>
              <a:t>path</a:t>
            </a:r>
            <a:r>
              <a:rPr sz="1350">
                <a:solidFill>
                  <a:srgbClr val="D4D4D4"/>
                </a:solidFill>
                <a:latin typeface="Consolas"/>
                <a:ea typeface="Consolas"/>
                <a:cs typeface="Consolas"/>
              </a:rPr>
              <a:t>.</a:t>
            </a:r>
            <a:r>
              <a:rPr sz="1350">
                <a:solidFill>
                  <a:srgbClr val="DCDCAA"/>
                </a:solidFill>
                <a:latin typeface="Consolas"/>
                <a:ea typeface="Consolas"/>
                <a:cs typeface="Consolas"/>
              </a:rPr>
              <a:t>open</a:t>
            </a:r>
            <a:r>
              <a:rPr sz="1350">
                <a:solidFill>
                  <a:srgbClr val="D4D4D4"/>
                </a:solidFill>
                <a:latin typeface="Consolas"/>
                <a:ea typeface="Consolas"/>
                <a:cs typeface="Consolas"/>
              </a:rPr>
              <a:t>(</a:t>
            </a:r>
            <a:r>
              <a:rPr sz="1350">
                <a:solidFill>
                  <a:srgbClr val="CE9178"/>
                </a:solidFill>
                <a:latin typeface="Consolas"/>
                <a:ea typeface="Consolas"/>
                <a:cs typeface="Consolas"/>
              </a:rPr>
              <a:t>"w"</a:t>
            </a:r>
            <a:r>
              <a:rPr sz="1350">
                <a:solidFill>
                  <a:srgbClr val="D4D4D4"/>
                </a:solidFill>
                <a:latin typeface="Consolas"/>
                <a:ea typeface="Consolas"/>
                <a:cs typeface="Consolas"/>
              </a:rPr>
              <a:t>, </a:t>
            </a:r>
            <a:r>
              <a:rPr sz="1350">
                <a:solidFill>
                  <a:srgbClr val="9CDCFE"/>
                </a:solidFill>
                <a:latin typeface="Consolas"/>
                <a:ea typeface="Consolas"/>
                <a:cs typeface="Consolas"/>
              </a:rPr>
              <a:t>encoding</a:t>
            </a:r>
            <a:r>
              <a:rPr sz="1350">
                <a:solidFill>
                  <a:srgbClr val="D4D4D4"/>
                </a:solidFill>
                <a:latin typeface="Consolas"/>
                <a:ea typeface="Consolas"/>
                <a:cs typeface="Consolas"/>
              </a:rPr>
              <a:t>=</a:t>
            </a:r>
            <a:r>
              <a:rPr sz="1350">
                <a:solidFill>
                  <a:srgbClr val="CE9178"/>
                </a:solidFill>
                <a:latin typeface="Consolas"/>
                <a:ea typeface="Consolas"/>
                <a:cs typeface="Consolas"/>
              </a:rPr>
              <a:t>"utf-8-sig"</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newline</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D4D4D4"/>
                </a:solidFill>
                <a:latin typeface="Consolas"/>
                <a:ea typeface="Consolas"/>
                <a:cs typeface="Consolas"/>
              </a:rPr>
              <a:t>) </a:t>
            </a:r>
            <a:r>
              <a:rPr sz="1350">
                <a:solidFill>
                  <a:srgbClr val="C586C0"/>
                </a:solidFill>
                <a:latin typeface="Consolas"/>
                <a:ea typeface="Consolas"/>
                <a:cs typeface="Consolas"/>
              </a:rPr>
              <a:t>as</a:t>
            </a:r>
            <a:r>
              <a:rPr sz="1350">
                <a:solidFill>
                  <a:srgbClr val="D4D4D4"/>
                </a:solidFill>
                <a:latin typeface="Consolas"/>
                <a:ea typeface="Consolas"/>
                <a:cs typeface="Consolas"/>
              </a:rPr>
              <a:t> </a:t>
            </a:r>
            <a:r>
              <a:rPr sz="1350">
                <a:solidFill>
                  <a:srgbClr val="9CDCFE"/>
                </a:solidFill>
                <a:latin typeface="Consolas"/>
                <a:ea typeface="Consolas"/>
                <a:cs typeface="Consolas"/>
              </a:rPr>
              <a:t>f</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12 │ </a:t>
            </a:r>
            <a:r>
              <a:rPr sz="1350">
                <a:solidFill>
                  <a:srgbClr val="D4D4D4"/>
                </a:solidFill>
                <a:latin typeface="Consolas"/>
                <a:ea typeface="Consolas"/>
                <a:cs typeface="Consolas"/>
              </a:rPr>
              <a:t>        </a:t>
            </a:r>
            <a:r>
              <a:rPr sz="1350">
                <a:solidFill>
                  <a:srgbClr val="9CDCFE"/>
                </a:solidFill>
                <a:latin typeface="Consolas"/>
                <a:ea typeface="Consolas"/>
                <a:cs typeface="Consolas"/>
              </a:rPr>
              <a:t>writer</a:t>
            </a:r>
            <a:r>
              <a:rPr sz="1350">
                <a:solidFill>
                  <a:srgbClr val="D4D4D4"/>
                </a:solidFill>
                <a:latin typeface="Consolas"/>
                <a:ea typeface="Consolas"/>
                <a:cs typeface="Consolas"/>
              </a:rPr>
              <a:t> = </a:t>
            </a:r>
            <a:r>
              <a:rPr sz="1350">
                <a:solidFill>
                  <a:srgbClr val="9CDCFE"/>
                </a:solidFill>
                <a:latin typeface="Consolas"/>
                <a:ea typeface="Consolas"/>
                <a:cs typeface="Consolas"/>
              </a:rPr>
              <a:t>csv</a:t>
            </a:r>
            <a:r>
              <a:rPr sz="1350">
                <a:solidFill>
                  <a:srgbClr val="D4D4D4"/>
                </a:solidFill>
                <a:latin typeface="Consolas"/>
                <a:ea typeface="Consolas"/>
                <a:cs typeface="Consolas"/>
              </a:rPr>
              <a:t>.</a:t>
            </a:r>
            <a:r>
              <a:rPr sz="1350">
                <a:solidFill>
                  <a:srgbClr val="DCDCAA"/>
                </a:solidFill>
                <a:latin typeface="Consolas"/>
                <a:ea typeface="Consolas"/>
                <a:cs typeface="Consolas"/>
              </a:rPr>
              <a:t>writer</a:t>
            </a:r>
            <a:r>
              <a:rPr sz="1350">
                <a:solidFill>
                  <a:srgbClr val="D4D4D4"/>
                </a:solidFill>
                <a:latin typeface="Consolas"/>
                <a:ea typeface="Consolas"/>
                <a:cs typeface="Consolas"/>
              </a:rPr>
              <a:t>(</a:t>
            </a:r>
            <a:r>
              <a:rPr sz="1350">
                <a:solidFill>
                  <a:srgbClr val="9CDCFE"/>
                </a:solidFill>
                <a:latin typeface="Consolas"/>
                <a:ea typeface="Consolas"/>
                <a:cs typeface="Consolas"/>
              </a:rPr>
              <a:t>f</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13 │ </a:t>
            </a:r>
            <a:r>
              <a:rPr sz="1350">
                <a:solidFill>
                  <a:srgbClr val="D4D4D4"/>
                </a:solidFill>
                <a:latin typeface="Consolas"/>
                <a:ea typeface="Consolas"/>
                <a:cs typeface="Consolas"/>
              </a:rPr>
              <a:t>        </a:t>
            </a:r>
            <a:r>
              <a:rPr sz="1350">
                <a:solidFill>
                  <a:srgbClr val="9CDCFE"/>
                </a:solidFill>
                <a:latin typeface="Consolas"/>
                <a:ea typeface="Consolas"/>
                <a:cs typeface="Consolas"/>
              </a:rPr>
              <a:t>writer</a:t>
            </a:r>
            <a:r>
              <a:rPr sz="1350">
                <a:solidFill>
                  <a:srgbClr val="D4D4D4"/>
                </a:solidFill>
                <a:latin typeface="Consolas"/>
                <a:ea typeface="Consolas"/>
                <a:cs typeface="Consolas"/>
              </a:rPr>
              <a:t>.</a:t>
            </a:r>
            <a:r>
              <a:rPr sz="1350">
                <a:solidFill>
                  <a:srgbClr val="DCDCAA"/>
                </a:solidFill>
                <a:latin typeface="Consolas"/>
                <a:ea typeface="Consolas"/>
                <a:cs typeface="Consolas"/>
              </a:rPr>
              <a:t>writerow</a:t>
            </a:r>
            <a:r>
              <a:rPr sz="1350">
                <a:solidFill>
                  <a:srgbClr val="D4D4D4"/>
                </a:solidFill>
                <a:latin typeface="Consolas"/>
                <a:ea typeface="Consolas"/>
                <a:cs typeface="Consolas"/>
              </a:rPr>
              <a:t>(</a:t>
            </a:r>
            <a:r>
              <a:rPr sz="1350">
                <a:solidFill>
                  <a:srgbClr val="9CDCFE"/>
                </a:solidFill>
                <a:latin typeface="Consolas"/>
                <a:ea typeface="Consolas"/>
                <a:cs typeface="Consolas"/>
              </a:rPr>
              <a:t>header</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14 │ </a:t>
            </a:r>
            <a:r>
              <a:rPr sz="1350">
                <a:solidFill>
                  <a:srgbClr val="D4D4D4"/>
                </a:solidFill>
                <a:latin typeface="Consolas"/>
                <a:ea typeface="Consolas"/>
                <a:cs typeface="Consolas"/>
              </a:rPr>
              <a:t>        </a:t>
            </a:r>
            <a:r>
              <a:rPr sz="1350">
                <a:solidFill>
                  <a:srgbClr val="9CDCFE"/>
                </a:solidFill>
                <a:latin typeface="Consolas"/>
                <a:ea typeface="Consolas"/>
                <a:cs typeface="Consolas"/>
              </a:rPr>
              <a:t>writer</a:t>
            </a:r>
            <a:r>
              <a:rPr sz="1350">
                <a:solidFill>
                  <a:srgbClr val="D4D4D4"/>
                </a:solidFill>
                <a:latin typeface="Consolas"/>
                <a:ea typeface="Consolas"/>
                <a:cs typeface="Consolas"/>
              </a:rPr>
              <a:t>.</a:t>
            </a:r>
            <a:r>
              <a:rPr sz="1350">
                <a:solidFill>
                  <a:srgbClr val="DCDCAA"/>
                </a:solidFill>
                <a:latin typeface="Consolas"/>
                <a:ea typeface="Consolas"/>
                <a:cs typeface="Consolas"/>
              </a:rPr>
              <a:t>writerows</a:t>
            </a:r>
            <a:r>
              <a:rPr sz="1350">
                <a:solidFill>
                  <a:srgbClr val="D4D4D4"/>
                </a:solidFill>
                <a:latin typeface="Consolas"/>
                <a:ea typeface="Consolas"/>
                <a:cs typeface="Consolas"/>
              </a:rPr>
              <a:t>(</a:t>
            </a:r>
            <a:r>
              <a:rPr sz="1350">
                <a:solidFill>
                  <a:srgbClr val="9CDCFE"/>
                </a:solidFill>
                <a:latin typeface="Consolas"/>
                <a:ea typeface="Consolas"/>
                <a:cs typeface="Consolas"/>
              </a:rPr>
              <a:t>rows</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97 │ </a:t>
            </a:r>
            <a:r>
              <a:rPr sz="1350">
                <a:solidFill>
                  <a:srgbClr val="D4D4D4"/>
                </a:solidFill>
                <a:latin typeface="Consolas"/>
                <a:ea typeface="Consolas"/>
                <a:cs typeface="Consolas"/>
              </a:rPr>
              <a:t>    </a:t>
            </a:r>
            <a:r>
              <a:rPr sz="1350">
                <a:solidFill>
                  <a:srgbClr val="DCDCAA"/>
                </a:solidFill>
                <a:latin typeface="Consolas"/>
                <a:ea typeface="Consolas"/>
                <a:cs typeface="Consolas"/>
              </a:rPr>
              <a:t>luu_csv</a:t>
            </a:r>
            <a:r>
              <a:rPr sz="1350">
                <a:solidFill>
                  <a:srgbClr val="D4D4D4"/>
                </a:solidFill>
                <a:latin typeface="Consolas"/>
                <a:ea typeface="Consolas"/>
                <a:cs typeface="Consolas"/>
              </a:rPr>
              <a:t>(</a:t>
            </a:r>
            <a:r>
              <a:rPr sz="1350">
                <a:solidFill>
                  <a:srgbClr val="9CDCFE"/>
                </a:solidFill>
                <a:latin typeface="Consolas"/>
                <a:ea typeface="Consolas"/>
                <a:cs typeface="Consolas"/>
              </a:rPr>
              <a:t>output</a:t>
            </a:r>
            <a:r>
              <a:rPr sz="1350">
                <a:solidFill>
                  <a:srgbClr val="D4D4D4"/>
                </a:solidFill>
                <a:latin typeface="Consolas"/>
                <a:ea typeface="Consolas"/>
                <a:cs typeface="Consolas"/>
              </a:rPr>
              <a:t> / </a:t>
            </a:r>
            <a:r>
              <a:rPr sz="1350">
                <a:solidFill>
                  <a:srgbClr val="CE9178"/>
                </a:solidFill>
                <a:latin typeface="Consolas"/>
                <a:ea typeface="Consolas"/>
                <a:cs typeface="Consolas"/>
              </a:rPr>
              <a:t>"kich_ban_gio.csv"</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98 │ </a:t>
            </a:r>
            <a:r>
              <a:rPr sz="1350">
                <a:solidFill>
                  <a:srgbClr val="D4D4D4"/>
                </a:solidFill>
                <a:latin typeface="Consolas"/>
                <a:ea typeface="Consolas"/>
                <a:cs typeface="Consolas"/>
              </a:rPr>
              <a:t>            [</a:t>
            </a:r>
            <a:r>
              <a:rPr sz="1350">
                <a:solidFill>
                  <a:srgbClr val="CE9178"/>
                </a:solidFill>
                <a:latin typeface="Consolas"/>
                <a:ea typeface="Consolas"/>
                <a:cs typeface="Consolas"/>
              </a:rPr>
              <a:t>"MaTB"</a:t>
            </a:r>
            <a:r>
              <a:rPr sz="1350">
                <a:solidFill>
                  <a:srgbClr val="D4D4D4"/>
                </a:solidFill>
                <a:latin typeface="Consolas"/>
                <a:ea typeface="Consolas"/>
                <a:cs typeface="Consolas"/>
              </a:rPr>
              <a:t>, </a:t>
            </a:r>
            <a:r>
              <a:rPr sz="1350">
                <a:solidFill>
                  <a:srgbClr val="CE9178"/>
                </a:solidFill>
                <a:latin typeface="Consolas"/>
                <a:ea typeface="Consolas"/>
                <a:cs typeface="Consolas"/>
              </a:rPr>
              <a:t>"Them0"</a:t>
            </a:r>
            <a:r>
              <a:rPr sz="1350">
                <a:solidFill>
                  <a:srgbClr val="D4D4D4"/>
                </a:solidFill>
                <a:latin typeface="Consolas"/>
                <a:ea typeface="Consolas"/>
                <a:cs typeface="Consolas"/>
              </a:rPr>
              <a:t>, </a:t>
            </a:r>
            <a:r>
              <a:rPr sz="1350">
                <a:solidFill>
                  <a:srgbClr val="CE9178"/>
                </a:solidFill>
                <a:latin typeface="Consolas"/>
                <a:ea typeface="Consolas"/>
                <a:cs typeface="Consolas"/>
              </a:rPr>
              <a:t>"Them80"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CE9178"/>
                </a:solidFill>
                <a:latin typeface="Consolas"/>
                <a:ea typeface="Consolas"/>
                <a:cs typeface="Consolas"/>
              </a:rPr>
              <a:t>"Them160"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99 │ </a:t>
            </a:r>
            <a:r>
              <a:rPr sz="1350">
                <a:solidFill>
                  <a:srgbClr val="D4D4D4"/>
                </a:solidFill>
                <a:latin typeface="Consolas"/>
                <a:ea typeface="Consolas"/>
                <a:cs typeface="Consolas"/>
              </a:rPr>
              <a:t>            ((</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9CDCFE"/>
                </a:solidFill>
                <a:latin typeface="Consolas"/>
                <a:ea typeface="Consolas"/>
                <a:cs typeface="Consolas"/>
              </a:rPr>
              <a:t>a</a:t>
            </a:r>
            <a:r>
              <a:rPr sz="1350">
                <a:solidFill>
                  <a:srgbClr val="D4D4D4"/>
                </a:solidFill>
                <a:latin typeface="Consolas"/>
                <a:ea typeface="Consolas"/>
                <a:cs typeface="Consolas"/>
              </a:rPr>
              <a:t>) </a:t>
            </a:r>
            <a:r>
              <a:rPr sz="1350">
                <a:solidFill>
                  <a:srgbClr val="C586C0"/>
                </a:solidFill>
                <a:latin typeface="Consolas"/>
                <a:ea typeface="Consolas"/>
                <a:cs typeface="Consolas"/>
              </a:rPr>
              <a:t>for</a:t>
            </a:r>
            <a:r>
              <a:rPr sz="1350">
                <a:solidFill>
                  <a:srgbClr val="D4D4D4"/>
                </a:solidFill>
                <a:latin typeface="Consolas"/>
                <a:ea typeface="Consolas"/>
                <a:cs typeface="Consolas"/>
              </a:rPr>
              <a:t> </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9CDCFE"/>
                </a:solidFill>
                <a:latin typeface="Consolas"/>
                <a:ea typeface="Consolas"/>
                <a:cs typeface="Consolas"/>
              </a:rPr>
              <a:t>a</a:t>
            </a:r>
            <a:r>
              <a:rPr sz="1350">
                <a:solidFill>
                  <a:srgbClr val="D4D4D4"/>
                </a:solidFill>
                <a:latin typeface="Consolas"/>
                <a:ea typeface="Consolas"/>
                <a:cs typeface="Consolas"/>
              </a:rPr>
              <a:t> </a:t>
            </a:r>
            <a:r>
              <a:rPr sz="1350">
                <a:solidFill>
                  <a:srgbClr val="C586C0"/>
                </a:solidFill>
                <a:latin typeface="Consolas"/>
                <a:ea typeface="Consolas"/>
                <a:cs typeface="Consolas"/>
              </a:rPr>
              <a:t>in</a:t>
            </a:r>
            <a:r>
              <a:rPr sz="1350">
                <a:solidFill>
                  <a:srgbClr val="D4D4D4"/>
                </a:solidFill>
                <a:latin typeface="Consolas"/>
                <a:ea typeface="Consolas"/>
                <a:cs typeface="Consolas"/>
              </a:rPr>
              <a:t> </a:t>
            </a:r>
            <a:r>
              <a:rPr sz="1350">
                <a:solidFill>
                  <a:srgbClr val="DCDCAA"/>
                </a:solidFill>
                <a:latin typeface="Consolas"/>
                <a:ea typeface="Consolas"/>
                <a:cs typeface="Consolas"/>
              </a:rPr>
              <a:t>zip</a:t>
            </a:r>
            <a:r>
              <a:rPr sz="1350">
                <a:solidFill>
                  <a:srgbClr val="D4D4D4"/>
                </a:solidFill>
                <a:latin typeface="Consolas"/>
                <a:ea typeface="Consolas"/>
                <a:cs typeface="Consolas"/>
              </a:rPr>
              <a:t>(</a:t>
            </a:r>
            <a:r>
              <a:rPr sz="1350">
                <a:solidFill>
                  <a:srgbClr val="9CDCFE"/>
                </a:solidFill>
                <a:latin typeface="Consolas"/>
                <a:ea typeface="Consolas"/>
                <a:cs typeface="Consolas"/>
              </a:rPr>
              <a:t>ma</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kich_ban</a:t>
            </a:r>
            <a:r>
              <a:rPr sz="1350">
                <a:solidFill>
                  <a:srgbClr val="D4D4D4"/>
                </a:solidFill>
                <a:latin typeface="Consolas"/>
                <a:ea typeface="Consolas"/>
                <a:cs typeface="Consolas"/>
              </a:rPr>
              <a:t>)))</a:t>
            </a:r>
          </a:p>
        </p:txBody>
      </p:sp>
      <p:graphicFrame>
        <p:nvGraphicFramePr>
          <p:cNvPr id="18" name="">
            <a:extLst xmlns:a="http://schemas.openxmlformats.org/drawingml/2006/main">
              <a:ext uri="{FF2B5EF4-FFF2-40B4-BE49-F238E27FC236}">
                <a16:creationId xmlns:a16="http://schemas.microsoft.com/office/drawing/2014/main" id="{75566016-508B-4D00-8E09-F382DB31EE03}"/>
              </a:ext>
            </a:extLst>
          </p:cNvPr>
          <p:cNvGraphicFramePr/>
          <p:nvPr/>
        </p:nvGraphicFramePr>
        <p:xfrm>
          <a:off xmlns:a="http://schemas.openxmlformats.org/drawingml/2006/main" x="523875" y="4095750"/>
          <a:ext xmlns:a="http://schemas.openxmlformats.org/drawingml/2006/main" cx="4762500" cy="1714500"/>
        </p:xfrm>
        <a:graphic xmlns:a="http://schemas.openxmlformats.org/drawingml/2006/main">
          <a:graphicData uri="http://schemas.openxmlformats.org/drawingml/2006/table">
            <a:tbl>
              <a:tblPr/>
              <a:tblGrid>
                <a:gridCol w="2381250"/>
                <a:gridCol w="2381250"/>
              </a:tblGrid>
              <a:tr h="342900">
                <a:tc>
                  <a:txBody>
                    <a:bodyPr/>
                    <a:lstStyle/>
                    <a:p>
                      <a:r>
                        <a:rPr sz="1500" b="1">
                          <a:solidFill>
                            <a:srgbClr val="113F43"/>
                          </a:solidFill>
                          <a:latin typeface="Times New Roman"/>
                          <a:ea typeface="Times New Roman"/>
                          <a:cs typeface="Times New Roman"/>
                        </a:rPr>
                        <a:t>Tên CSV (đuôi .csv)</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Nội dung</a:t>
                      </a:r>
                    </a:p>
                  </a:txBody>
                  <a:tcPr marL="91440" marR="91440" marT="45720" marB="45720">
                    <a:solidFill>
                      <a:srgbClr val="E3F2F3"/>
                    </a:solidFill>
                  </a:tcPr>
                </a:tc>
              </a:tr>
              <a:tr h="342900">
                <a:tc>
                  <a:txBody>
                    <a:bodyPr/>
                    <a:lstStyle/>
                    <a:p>
                      <a:r>
                        <a:rPr sz="1500">
                          <a:solidFill>
                            <a:srgbClr val="171717"/>
                          </a:solidFill>
                          <a:latin typeface="Times New Roman"/>
                          <a:ea typeface="Times New Roman"/>
                          <a:cs typeface="Times New Roman"/>
                        </a:rPr>
                        <a:t>thiet_bi_numpy</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Giờ, trạng thái, số CB</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kich_ban_gio</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Ba kịch bản</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xep_hang</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Thứ tự 0,6 / 0,4</a:t>
                      </a:r>
                    </a:p>
                  </a:txBody>
                  <a:tcPr marL="91440" marR="91440" marT="45720" marB="45720">
                    <a:solidFill>
                      <a:srgbClr val="FFFFFF"/>
                    </a:solidFill>
                  </a:tcPr>
                </a:tc>
              </a:tr>
              <a:tr h="342900">
                <a:tc>
                  <a:txBody>
                    <a:bodyPr/>
                    <a:lstStyle/>
                    <a:p>
                      <a:r>
                        <a:rPr sz="1500">
                          <a:solidFill>
                            <a:srgbClr val="171717"/>
                          </a:solidFill>
                          <a:latin typeface="Times New Roman"/>
                          <a:ea typeface="Times New Roman"/>
                          <a:cs typeface="Times New Roman"/>
                        </a:rPr>
                        <a:t>so_sanh_trong_so</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Điểm hai bộ</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45CAB9BF-6F4C-4DBA-962C-3D2EB6723F60}"/>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Chạy lại sẽ ghi đè các CSV cùng tên. Tệp kết quả nằm riêng trong ket_qua_numpy, database nguồn tiếp tục mở chỉ đọc.</a:t>
            </a:r>
          </a:p>
        </p:txBody>
      </p:sp>
    </p:spTree>
    <p:extLst>
      <p:ext uri="{BB962C8B-B14F-4D97-AF65-F5344CB8AC3E}">
        <p14:creationId xmlns:p14="http://schemas.microsoft.com/office/powerpoint/2010/main" val="2966899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dd99f8be2cd2416e"/>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13. Kiểm chứng từ đầu vào đến kết quả</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14</a:t>
            </a:r>
          </a:p>
        </p:txBody>
      </p:sp>
      <p:sp>
        <p:nvSpPr>
          <p:cNvPr id="14" name="">
            <a:extLst xmlns:a="http://schemas.openxmlformats.org/drawingml/2006/main">
              <a:ext uri="{FF2B5EF4-FFF2-40B4-BE49-F238E27FC236}">
                <a16:creationId xmlns:a16="http://schemas.microsoft.com/office/drawing/2014/main" id="{A3ABDEA5-DD12-47E8-A738-1A65B319F6A8}"/>
              </a:ext>
            </a:extLst>
          </p:cNvPr>
          <p:cNvSpPr>
            <a:spLocks xmlns:a="http://schemas.openxmlformats.org/drawingml/2006/main" noGrp="1"/>
          </p:cNvSpPr>
          <p:nvPr/>
        </p:nvSpPr>
        <p:spPr>
          <a:xfrm xmlns:a="http://schemas.openxmlformats.org/drawingml/2006/main">
            <a:off x="523875" y="161925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Các assert đối chiếu giả định với bản database bài học: đủ mã thiết bị, tổng giờ đúng, ma trận đúng dạng và thứ tự ưu tiên đúng. np.isclose và np.allclose phù hợp khi so sánh số thực có thể có sai số biểu diễn.</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Mã còn so sánh SHA-256 của tệp trước và sau khi chạy. Hash bằng nhau xác nhận nội dung tệp nguồn không thay đổi trong lần thực hiện này.</a:t>
            </a:r>
          </a:p>
        </p:txBody>
      </p:sp>
      <p:sp>
        <p:nvSpPr>
          <p:cNvPr id="15" name="">
            <a:extLst xmlns:a="http://schemas.openxmlformats.org/drawingml/2006/main">
              <a:ext uri="{FF2B5EF4-FFF2-40B4-BE49-F238E27FC236}">
                <a16:creationId xmlns:a16="http://schemas.microsoft.com/office/drawing/2014/main" id="{C65750DE-59CB-4117-8957-107084AA50CB}"/>
              </a:ext>
            </a:extLst>
          </p:cNvPr>
          <p:cNvSpPr>
            <a:spLocks xmlns:a="http://schemas.openxmlformats.org/drawingml/2006/main" noGrp="1"/>
          </p:cNvSpPr>
          <p:nvPr/>
        </p:nvSpPr>
        <p:spPr>
          <a:xfrm xmlns:a="http://schemas.openxmlformats.org/drawingml/2006/main">
            <a:off x="5572125" y="1628775"/>
            <a:ext cx="6096000" cy="4114800"/>
          </a:xfrm>
          <a:prstGeom xmlns:a="http://schemas.openxmlformats.org/drawingml/2006/main" prst="rect">
            <a:avLst/>
          </a:prstGeom>
          <a:solidFill xmlns:a="http://schemas.openxmlformats.org/drawingml/2006/main">
            <a:srgbClr val="1E1E1E"/>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2435163-001A-4492-94D2-D7BEF2EAE214}"/>
              </a:ext>
            </a:extLst>
          </p:cNvPr>
          <p:cNvSpPr>
            <a:spLocks xmlns:a="http://schemas.openxmlformats.org/drawingml/2006/main" noGrp="1"/>
          </p:cNvSpPr>
          <p:nvPr/>
        </p:nvSpPr>
        <p:spPr>
          <a:xfrm xmlns:a="http://schemas.openxmlformats.org/drawingml/2006/main">
            <a:off x="5705475" y="1704975"/>
            <a:ext cx="5829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9CDCFE"/>
                </a:solidFill>
                <a:latin typeface="Consolas"/>
                <a:ea typeface="Consolas"/>
                <a:cs typeface="Consolas"/>
              </a:defRPr>
            </a:defPPr>
            <a:lvl1pPr>
              <a:defRPr sz="1200">
                <a:solidFill>
                  <a:srgbClr val="9CDCFE"/>
                </a:solidFill>
                <a:latin typeface="Consolas"/>
                <a:ea typeface="Consolas"/>
                <a:cs typeface="Consolas"/>
              </a:defRPr>
            </a:lvl1pPr>
            <a:lvl2pPr>
              <a:defRPr sz="1200">
                <a:solidFill>
                  <a:srgbClr val="9CDCFE"/>
                </a:solidFill>
                <a:latin typeface="Consolas"/>
                <a:ea typeface="Consolas"/>
                <a:cs typeface="Consolas"/>
              </a:defRPr>
            </a:lvl2pPr>
            <a:lvl3pPr>
              <a:defRPr sz="1200">
                <a:solidFill>
                  <a:srgbClr val="9CDCFE"/>
                </a:solidFill>
                <a:latin typeface="Consolas"/>
                <a:ea typeface="Consolas"/>
                <a:cs typeface="Consolas"/>
              </a:defRPr>
            </a:lvl3pPr>
            <a:lvl4pPr>
              <a:defRPr sz="1200">
                <a:solidFill>
                  <a:srgbClr val="9CDCFE"/>
                </a:solidFill>
                <a:latin typeface="Consolas"/>
                <a:ea typeface="Consolas"/>
                <a:cs typeface="Consolas"/>
              </a:defRPr>
            </a:lvl4pPr>
            <a:lvl5pPr>
              <a:defRPr sz="1200">
                <a:solidFill>
                  <a:srgbClr val="9CDCFE"/>
                </a:solidFill>
                <a:latin typeface="Consolas"/>
                <a:ea typeface="Consolas"/>
                <a:cs typeface="Consolas"/>
              </a:defRPr>
            </a:lvl5pPr>
            <a:lvl6pPr>
              <a:defRPr sz="1200">
                <a:solidFill>
                  <a:srgbClr val="9CDCFE"/>
                </a:solidFill>
                <a:latin typeface="Consolas"/>
                <a:ea typeface="Consolas"/>
                <a:cs typeface="Consolas"/>
              </a:defRPr>
            </a:lvl6pPr>
            <a:lvl7pPr>
              <a:defRPr sz="1200">
                <a:solidFill>
                  <a:srgbClr val="9CDCFE"/>
                </a:solidFill>
                <a:latin typeface="Consolas"/>
                <a:ea typeface="Consolas"/>
                <a:cs typeface="Consolas"/>
              </a:defRPr>
            </a:lvl7pPr>
            <a:lvl8pPr>
              <a:defRPr sz="1200">
                <a:solidFill>
                  <a:srgbClr val="9CDCFE"/>
                </a:solidFill>
                <a:latin typeface="Consolas"/>
                <a:ea typeface="Consolas"/>
                <a:cs typeface="Consolas"/>
              </a:defRPr>
            </a:lvl8pPr>
            <a:lvl9pPr>
              <a:defRPr sz="1200">
                <a:solidFill>
                  <a:srgbClr val="9CDCFE"/>
                </a:solidFill>
                <a:latin typeface="Consolas"/>
                <a:ea typeface="Consolas"/>
                <a:cs typeface="Consolas"/>
              </a:defRPr>
            </a:lvl9pPr>
          </a:lstStyle>
          <a:p xmlns:a="http://schemas.openxmlformats.org/drawingml/2006/main">
            <a:pPr>
              <a:defRPr sz="1200">
                <a:solidFill>
                  <a:srgbClr val="9CDCFE"/>
                </a:solidFill>
                <a:latin typeface="Consolas"/>
                <a:ea typeface="Consolas"/>
                <a:cs typeface="Consolas"/>
              </a:defRPr>
            </a:pPr>
            <a:r>
              <a:rPr sz="1200">
                <a:solidFill>
                  <a:srgbClr val="9CDCFE"/>
                </a:solidFill>
                <a:latin typeface="Consolas"/>
                <a:ea typeface="Consolas"/>
                <a:cs typeface="Consolas"/>
              </a:rPr>
              <a:t>luong_numpy.py · số dòng trong tệp mẫu</a:t>
            </a:r>
          </a:p>
        </p:txBody>
      </p:sp>
      <p:sp>
        <p:nvSpPr>
          <p:cNvPr id="17" name="">
            <a:extLst xmlns:a="http://schemas.openxmlformats.org/drawingml/2006/main">
              <a:ext uri="{FF2B5EF4-FFF2-40B4-BE49-F238E27FC236}">
                <a16:creationId xmlns:a16="http://schemas.microsoft.com/office/drawing/2014/main" id="{A2134860-BB09-4F3F-B20F-F484180C5939}"/>
              </a:ext>
            </a:extLst>
          </p:cNvPr>
          <p:cNvSpPr>
            <a:spLocks xmlns:a="http://schemas.openxmlformats.org/drawingml/2006/main" noGrp="1"/>
          </p:cNvSpPr>
          <p:nvPr/>
        </p:nvSpPr>
        <p:spPr>
          <a:xfrm xmlns:a="http://schemas.openxmlformats.org/drawingml/2006/main">
            <a:off x="5686425" y="1952625"/>
            <a:ext cx="58674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D4D4D4"/>
                </a:solidFill>
                <a:latin typeface="Consolas"/>
                <a:ea typeface="Consolas"/>
                <a:cs typeface="Consolas"/>
              </a:defRPr>
            </a:defPPr>
            <a:lvl1pPr>
              <a:defRPr sz="1350">
                <a:solidFill>
                  <a:srgbClr val="D4D4D4"/>
                </a:solidFill>
                <a:latin typeface="Consolas"/>
                <a:ea typeface="Consolas"/>
                <a:cs typeface="Consolas"/>
              </a:defRPr>
            </a:lvl1pPr>
            <a:lvl2pPr>
              <a:defRPr sz="1350">
                <a:solidFill>
                  <a:srgbClr val="D4D4D4"/>
                </a:solidFill>
                <a:latin typeface="Consolas"/>
                <a:ea typeface="Consolas"/>
                <a:cs typeface="Consolas"/>
              </a:defRPr>
            </a:lvl2pPr>
            <a:lvl3pPr>
              <a:defRPr sz="1350">
                <a:solidFill>
                  <a:srgbClr val="D4D4D4"/>
                </a:solidFill>
                <a:latin typeface="Consolas"/>
                <a:ea typeface="Consolas"/>
                <a:cs typeface="Consolas"/>
              </a:defRPr>
            </a:lvl3pPr>
            <a:lvl4pPr>
              <a:defRPr sz="1350">
                <a:solidFill>
                  <a:srgbClr val="D4D4D4"/>
                </a:solidFill>
                <a:latin typeface="Consolas"/>
                <a:ea typeface="Consolas"/>
                <a:cs typeface="Consolas"/>
              </a:defRPr>
            </a:lvl4pPr>
            <a:lvl5pPr>
              <a:defRPr sz="1350">
                <a:solidFill>
                  <a:srgbClr val="D4D4D4"/>
                </a:solidFill>
                <a:latin typeface="Consolas"/>
                <a:ea typeface="Consolas"/>
                <a:cs typeface="Consolas"/>
              </a:defRPr>
            </a:lvl5pPr>
            <a:lvl6pPr>
              <a:defRPr sz="1350">
                <a:solidFill>
                  <a:srgbClr val="D4D4D4"/>
                </a:solidFill>
                <a:latin typeface="Consolas"/>
                <a:ea typeface="Consolas"/>
                <a:cs typeface="Consolas"/>
              </a:defRPr>
            </a:lvl6pPr>
            <a:lvl7pPr>
              <a:defRPr sz="1350">
                <a:solidFill>
                  <a:srgbClr val="D4D4D4"/>
                </a:solidFill>
                <a:latin typeface="Consolas"/>
                <a:ea typeface="Consolas"/>
                <a:cs typeface="Consolas"/>
              </a:defRPr>
            </a:lvl7pPr>
            <a:lvl8pPr>
              <a:defRPr sz="1350">
                <a:solidFill>
                  <a:srgbClr val="D4D4D4"/>
                </a:solidFill>
                <a:latin typeface="Consolas"/>
                <a:ea typeface="Consolas"/>
                <a:cs typeface="Consolas"/>
              </a:defRPr>
            </a:lvl8pPr>
            <a:lvl9pPr>
              <a:defRPr sz="1350">
                <a:solidFill>
                  <a:srgbClr val="D4D4D4"/>
                </a:solidFill>
                <a:latin typeface="Consolas"/>
                <a:ea typeface="Consolas"/>
                <a:cs typeface="Consolas"/>
              </a:defRPr>
            </a:lvl9pPr>
          </a:lstStyle>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109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DCDCAA"/>
                </a:solidFill>
                <a:latin typeface="Consolas"/>
                <a:ea typeface="Consolas"/>
                <a:cs typeface="Consolas"/>
              </a:rPr>
              <a:t>tolist</a:t>
            </a:r>
            <a:r>
              <a:rPr sz="1350">
                <a:solidFill>
                  <a:srgbClr val="D4D4D4"/>
                </a:solidFill>
                <a:latin typeface="Consolas"/>
                <a:ea typeface="Consolas"/>
                <a:cs typeface="Consolas"/>
              </a:rPr>
              <a:t>() == [</a:t>
            </a:r>
            <a:r>
              <a:rPr sz="1350">
                <a:solidFill>
                  <a:srgbClr val="CE9178"/>
                </a:solidFill>
                <a:latin typeface="Consolas"/>
                <a:ea typeface="Consolas"/>
                <a:cs typeface="Consolas"/>
              </a:rPr>
              <a:t>"AGV01"</a:t>
            </a:r>
            <a:r>
              <a:rPr sz="1350">
                <a:solidFill>
                  <a:srgbClr val="D4D4D4"/>
                </a:solidFill>
                <a:latin typeface="Consolas"/>
                <a:ea typeface="Consolas"/>
                <a:cs typeface="Consolas"/>
              </a:rPr>
              <a:t>, </a:t>
            </a:r>
            <a:r>
              <a:rPr sz="1350">
                <a:solidFill>
                  <a:srgbClr val="CE9178"/>
                </a:solidFill>
                <a:latin typeface="Consolas"/>
                <a:ea typeface="Consolas"/>
                <a:cs typeface="Consolas"/>
              </a:rPr>
              <a:t>"ASRS01"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CE9178"/>
                </a:solidFill>
                <a:latin typeface="Consolas"/>
                <a:ea typeface="Consolas"/>
                <a:cs typeface="Consolas"/>
              </a:rPr>
              <a:t>"BC01"</a:t>
            </a:r>
            <a:r>
              <a:rPr sz="1350">
                <a:solidFill>
                  <a:srgbClr val="D4D4D4"/>
                </a:solidFill>
                <a:latin typeface="Consolas"/>
                <a:ea typeface="Consolas"/>
                <a:cs typeface="Consolas"/>
              </a:rPr>
              <a:t>, </a:t>
            </a:r>
            <a:r>
              <a:rPr sz="1350">
                <a:solidFill>
                  <a:srgbClr val="CE9178"/>
                </a:solidFill>
                <a:latin typeface="Consolas"/>
                <a:ea typeface="Consolas"/>
                <a:cs typeface="Consolas"/>
              </a:rPr>
              <a:t>"PLC01"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110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isclose</a:t>
            </a:r>
            <a:r>
              <a:rPr sz="1350">
                <a:solidFill>
                  <a:srgbClr val="D4D4D4"/>
                </a:solidFill>
                <a:latin typeface="Consolas"/>
                <a:ea typeface="Consolas"/>
                <a:cs typeface="Consolas"/>
              </a:rPr>
              <a:t>(</a:t>
            </a:r>
            <a:r>
              <a:rPr sz="1350">
                <a:solidFill>
                  <a:srgbClr val="9CDCFE"/>
                </a:solidFill>
                <a:latin typeface="Consolas"/>
                <a:ea typeface="Consolas"/>
                <a:cs typeface="Consolas"/>
              </a:rPr>
              <a:t>gio</a:t>
            </a:r>
            <a:r>
              <a:rPr sz="1350">
                <a:solidFill>
                  <a:srgbClr val="D4D4D4"/>
                </a:solidFill>
                <a:latin typeface="Consolas"/>
                <a:ea typeface="Consolas"/>
                <a:cs typeface="Consolas"/>
              </a:rPr>
              <a:t>.</a:t>
            </a:r>
            <a:r>
              <a:rPr sz="1350">
                <a:solidFill>
                  <a:srgbClr val="DCDCAA"/>
                </a:solidFill>
                <a:latin typeface="Consolas"/>
                <a:ea typeface="Consolas"/>
                <a:cs typeface="Consolas"/>
              </a:rPr>
              <a:t>sum</a:t>
            </a:r>
            <a:r>
              <a:rPr sz="1350">
                <a:solidFill>
                  <a:srgbClr val="D4D4D4"/>
                </a:solidFill>
                <a:latin typeface="Consolas"/>
                <a:ea typeface="Consolas"/>
                <a:cs typeface="Consolas"/>
              </a:rPr>
              <a:t>(), </a:t>
            </a:r>
            <a:r>
              <a:rPr sz="1350">
                <a:solidFill>
                  <a:srgbClr val="B5CEA8"/>
                </a:solidFill>
                <a:latin typeface="Consolas"/>
                <a:ea typeface="Consolas"/>
                <a:cs typeface="Consolas"/>
              </a:rPr>
              <a:t>3980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111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dem</a:t>
            </a:r>
            <a:r>
              <a:rPr sz="1350">
                <a:solidFill>
                  <a:srgbClr val="D4D4D4"/>
                </a:solidFill>
                <a:latin typeface="Consolas"/>
                <a:ea typeface="Consolas"/>
                <a:cs typeface="Consolas"/>
              </a:rPr>
              <a:t>.</a:t>
            </a:r>
            <a:r>
              <a:rPr sz="1350">
                <a:solidFill>
                  <a:srgbClr val="DCDCAA"/>
                </a:solidFill>
                <a:latin typeface="Consolas"/>
                <a:ea typeface="Consolas"/>
                <a:cs typeface="Consolas"/>
              </a:rPr>
              <a:t>tolist</a:t>
            </a:r>
            <a:r>
              <a:rPr sz="1350">
                <a:solidFill>
                  <a:srgbClr val="D4D4D4"/>
                </a:solidFill>
                <a:latin typeface="Consolas"/>
                <a:ea typeface="Consolas"/>
                <a:cs typeface="Consolas"/>
              </a:rPr>
              <a:t>() == [</a:t>
            </a:r>
            <a:r>
              <a:rPr sz="1350">
                <a:solidFill>
                  <a:srgbClr val="B5CEA8"/>
                </a:solidFill>
                <a:latin typeface="Consolas"/>
                <a:ea typeface="Consolas"/>
                <a:cs typeface="Consolas"/>
              </a:rPr>
              <a:t>1</a:t>
            </a:r>
            <a:r>
              <a:rPr sz="1350">
                <a:solidFill>
                  <a:srgbClr val="D4D4D4"/>
                </a:solidFill>
                <a:latin typeface="Consolas"/>
                <a:ea typeface="Consolas"/>
                <a:cs typeface="Consolas"/>
              </a:rPr>
              <a:t>, </a:t>
            </a:r>
            <a:r>
              <a:rPr sz="1350">
                <a:solidFill>
                  <a:srgbClr val="B5CEA8"/>
                </a:solidFill>
                <a:latin typeface="Consolas"/>
                <a:ea typeface="Consolas"/>
                <a:cs typeface="Consolas"/>
              </a:rPr>
              <a:t>0</a:t>
            </a:r>
            <a:r>
              <a:rPr sz="1350">
                <a:solidFill>
                  <a:srgbClr val="D4D4D4"/>
                </a:solidFill>
                <a:latin typeface="Consolas"/>
                <a:ea typeface="Consolas"/>
                <a:cs typeface="Consolas"/>
              </a:rPr>
              <a:t>, </a:t>
            </a:r>
            <a:r>
              <a:rPr sz="1350">
                <a:solidFill>
                  <a:srgbClr val="B5CEA8"/>
                </a:solidFill>
                <a:latin typeface="Consolas"/>
                <a:ea typeface="Consolas"/>
                <a:cs typeface="Consolas"/>
              </a:rPr>
              <a:t>1</a:t>
            </a:r>
            <a:r>
              <a:rPr sz="1350">
                <a:solidFill>
                  <a:srgbClr val="D4D4D4"/>
                </a:solidFill>
                <a:latin typeface="Consolas"/>
                <a:ea typeface="Consolas"/>
                <a:cs typeface="Consolas"/>
              </a:rPr>
              <a:t>, </a:t>
            </a:r>
            <a:r>
              <a:rPr sz="1350">
                <a:solidFill>
                  <a:srgbClr val="B5CEA8"/>
                </a:solidFill>
                <a:latin typeface="Consolas"/>
                <a:ea typeface="Consolas"/>
                <a:cs typeface="Consolas"/>
              </a:rPr>
              <a:t>0</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112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kich_ban</a:t>
            </a:r>
            <a:r>
              <a:rPr sz="1350">
                <a:solidFill>
                  <a:srgbClr val="D4D4D4"/>
                </a:solidFill>
                <a:latin typeface="Consolas"/>
                <a:ea typeface="Consolas"/>
                <a:cs typeface="Consolas"/>
              </a:rPr>
              <a:t>.</a:t>
            </a:r>
            <a:r>
              <a:rPr sz="1350">
                <a:solidFill>
                  <a:srgbClr val="9CDCFE"/>
                </a:solidFill>
                <a:latin typeface="Consolas"/>
                <a:ea typeface="Consolas"/>
                <a:cs typeface="Consolas"/>
              </a:rPr>
              <a:t>shape</a:t>
            </a:r>
            <a:r>
              <a:rPr sz="1350">
                <a:solidFill>
                  <a:srgbClr val="D4D4D4"/>
                </a:solidFill>
                <a:latin typeface="Consolas"/>
                <a:ea typeface="Consolas"/>
                <a:cs typeface="Consolas"/>
              </a:rPr>
              <a:t> == (</a:t>
            </a:r>
            <a:r>
              <a:rPr sz="1350">
                <a:solidFill>
                  <a:srgbClr val="B5CEA8"/>
                </a:solidFill>
                <a:latin typeface="Consolas"/>
                <a:ea typeface="Consolas"/>
                <a:cs typeface="Consolas"/>
              </a:rPr>
              <a:t>4</a:t>
            </a:r>
            <a:r>
              <a:rPr sz="1350">
                <a:solidFill>
                  <a:srgbClr val="D4D4D4"/>
                </a:solidFill>
                <a:latin typeface="Consolas"/>
                <a:ea typeface="Consolas"/>
                <a:cs typeface="Consolas"/>
              </a:rPr>
              <a:t>, </a:t>
            </a:r>
            <a:r>
              <a:rPr sz="1350">
                <a:solidFill>
                  <a:srgbClr val="B5CEA8"/>
                </a:solidFill>
                <a:latin typeface="Consolas"/>
                <a:ea typeface="Consolas"/>
                <a:cs typeface="Consolas"/>
              </a:rPr>
              <a:t>3</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113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np</a:t>
            </a:r>
            <a:r>
              <a:rPr sz="1350">
                <a:solidFill>
                  <a:srgbClr val="D4D4D4"/>
                </a:solidFill>
                <a:latin typeface="Consolas"/>
                <a:ea typeface="Consolas"/>
                <a:cs typeface="Consolas"/>
              </a:rPr>
              <a:t>.</a:t>
            </a:r>
            <a:r>
              <a:rPr sz="1350">
                <a:solidFill>
                  <a:srgbClr val="DCDCAA"/>
                </a:solidFill>
                <a:latin typeface="Consolas"/>
                <a:ea typeface="Consolas"/>
                <a:cs typeface="Consolas"/>
              </a:rPr>
              <a:t>allclose</a:t>
            </a:r>
            <a:r>
              <a:rPr sz="1350">
                <a:solidFill>
                  <a:srgbClr val="D4D4D4"/>
                </a:solidFill>
                <a:latin typeface="Consolas"/>
                <a:ea typeface="Consolas"/>
                <a:cs typeface="Consolas"/>
              </a:rPr>
              <a:t>(</a:t>
            </a:r>
            <a:r>
              <a:rPr sz="1350">
                <a:solidFill>
                  <a:srgbClr val="9CDCFE"/>
                </a:solidFill>
                <a:latin typeface="Consolas"/>
                <a:ea typeface="Consolas"/>
                <a:cs typeface="Consolas"/>
              </a:rPr>
              <a:t>trung_binh</a:t>
            </a:r>
            <a:r>
              <a:rPr sz="1350">
                <a:solidFill>
                  <a:srgbClr val="D4D4D4"/>
                </a:solidFill>
                <a:latin typeface="Consolas"/>
                <a:ea typeface="Consolas"/>
                <a:cs typeface="Consolas"/>
              </a:rPr>
              <a:t>, [</a:t>
            </a:r>
            <a:r>
              <a:rPr sz="1350">
                <a:solidFill>
                  <a:srgbClr val="B5CEA8"/>
                </a:solidFill>
                <a:latin typeface="Consolas"/>
                <a:ea typeface="Consolas"/>
                <a:cs typeface="Consolas"/>
              </a:rPr>
              <a:t>995</a:t>
            </a:r>
            <a:r>
              <a:rPr sz="1350">
                <a:solidFill>
                  <a:srgbClr val="D4D4D4"/>
                </a:solidFill>
                <a:latin typeface="Consolas"/>
                <a:ea typeface="Consolas"/>
                <a:cs typeface="Consolas"/>
              </a:rPr>
              <a:t>, </a:t>
            </a:r>
            <a:r>
              <a:rPr sz="1350">
                <a:solidFill>
                  <a:srgbClr val="B5CEA8"/>
                </a:solidFill>
                <a:latin typeface="Consolas"/>
                <a:ea typeface="Consolas"/>
                <a:cs typeface="Consolas"/>
              </a:rPr>
              <a:t>1075</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B5CEA8"/>
                </a:solidFill>
                <a:latin typeface="Consolas"/>
                <a:ea typeface="Consolas"/>
                <a:cs typeface="Consolas"/>
              </a:rPr>
              <a:t>1155</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114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vuot_moc</a:t>
            </a:r>
            <a:r>
              <a:rPr sz="1350">
                <a:solidFill>
                  <a:srgbClr val="D4D4D4"/>
                </a:solidFill>
                <a:latin typeface="Consolas"/>
                <a:ea typeface="Consolas"/>
                <a:cs typeface="Consolas"/>
              </a:rPr>
              <a:t>.</a:t>
            </a:r>
            <a:r>
              <a:rPr sz="1350">
                <a:solidFill>
                  <a:srgbClr val="DCDCAA"/>
                </a:solidFill>
                <a:latin typeface="Consolas"/>
                <a:ea typeface="Consolas"/>
                <a:cs typeface="Consolas"/>
              </a:rPr>
              <a:t>tolist</a:t>
            </a:r>
            <a:r>
              <a:rPr sz="1350">
                <a:solidFill>
                  <a:srgbClr val="D4D4D4"/>
                </a:solidFill>
                <a:latin typeface="Consolas"/>
                <a:ea typeface="Consolas"/>
                <a:cs typeface="Consolas"/>
              </a:rPr>
              <a:t>() == [</a:t>
            </a:r>
            <a:r>
              <a:rPr sz="1350">
                <a:solidFill>
                  <a:srgbClr val="B5CEA8"/>
                </a:solidFill>
                <a:latin typeface="Consolas"/>
                <a:ea typeface="Consolas"/>
                <a:cs typeface="Consolas"/>
              </a:rPr>
              <a:t>2</a:t>
            </a:r>
            <a:r>
              <a:rPr sz="1350">
                <a:solidFill>
                  <a:srgbClr val="D4D4D4"/>
                </a:solidFill>
                <a:latin typeface="Consolas"/>
                <a:ea typeface="Consolas"/>
                <a:cs typeface="Consolas"/>
              </a:rPr>
              <a:t>, </a:t>
            </a:r>
            <a:r>
              <a:rPr sz="1350">
                <a:solidFill>
                  <a:srgbClr val="B5CEA8"/>
                </a:solidFill>
                <a:latin typeface="Consolas"/>
                <a:ea typeface="Consolas"/>
                <a:cs typeface="Consolas"/>
              </a:rPr>
              <a:t>2</a:t>
            </a:r>
            <a:r>
              <a:rPr sz="1350">
                <a:solidFill>
                  <a:srgbClr val="D4D4D4"/>
                </a:solidFill>
                <a:latin typeface="Consolas"/>
                <a:ea typeface="Consolas"/>
                <a:cs typeface="Consolas"/>
              </a:rPr>
              <a:t>, </a:t>
            </a:r>
            <a:r>
              <a:rPr sz="1350">
                <a:solidFill>
                  <a:srgbClr val="B5CEA8"/>
                </a:solidFill>
                <a:latin typeface="Consolas"/>
                <a:ea typeface="Consolas"/>
                <a:cs typeface="Consolas"/>
              </a:rPr>
              <a:t>3</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115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9CDCFE"/>
                </a:solidFill>
                <a:latin typeface="Consolas"/>
                <a:ea typeface="Consolas"/>
                <a:cs typeface="Consolas"/>
              </a:rPr>
              <a:t>thu_tu</a:t>
            </a:r>
            <a:r>
              <a:rPr sz="1350">
                <a:solidFill>
                  <a:srgbClr val="D4D4D4"/>
                </a:solidFill>
                <a:latin typeface="Consolas"/>
                <a:ea typeface="Consolas"/>
                <a:cs typeface="Consolas"/>
              </a:rPr>
              <a:t>].</a:t>
            </a:r>
            <a:r>
              <a:rPr sz="1350">
                <a:solidFill>
                  <a:srgbClr val="DCDCAA"/>
                </a:solidFill>
                <a:latin typeface="Consolas"/>
                <a:ea typeface="Consolas"/>
                <a:cs typeface="Consolas"/>
              </a:rPr>
              <a:t>tolist</a:t>
            </a:r>
            <a:r>
              <a:rPr sz="1350">
                <a:solidFill>
                  <a:srgbClr val="D4D4D4"/>
                </a:solidFill>
                <a:latin typeface="Consolas"/>
                <a:ea typeface="Consolas"/>
                <a:cs typeface="Consolas"/>
              </a:rPr>
              <a:t>() == [</a:t>
            </a:r>
            <a:r>
              <a:rPr sz="1350">
                <a:solidFill>
                  <a:srgbClr val="CE9178"/>
                </a:solidFill>
                <a:latin typeface="Consolas"/>
                <a:ea typeface="Consolas"/>
                <a:cs typeface="Consolas"/>
              </a:rPr>
              <a:t>"BC01"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CE9178"/>
                </a:solidFill>
                <a:latin typeface="Consolas"/>
                <a:ea typeface="Consolas"/>
                <a:cs typeface="Consolas"/>
              </a:rPr>
              <a:t>"ASRS01"</a:t>
            </a:r>
            <a:r>
              <a:rPr sz="1350">
                <a:solidFill>
                  <a:srgbClr val="D4D4D4"/>
                </a:solidFill>
                <a:latin typeface="Consolas"/>
                <a:ea typeface="Consolas"/>
                <a:cs typeface="Consolas"/>
              </a:rPr>
              <a:t>, </a:t>
            </a:r>
            <a:r>
              <a:rPr sz="1350">
                <a:solidFill>
                  <a:srgbClr val="CE9178"/>
                </a:solidFill>
                <a:latin typeface="Consolas"/>
                <a:ea typeface="Consolas"/>
                <a:cs typeface="Consolas"/>
              </a:rPr>
              <a:t>"PLC01"</a:t>
            </a:r>
            <a:r>
              <a:rPr sz="1350">
                <a:solidFill>
                  <a:srgbClr val="D4D4D4"/>
                </a:solidFill>
                <a:latin typeface="Consolas"/>
                <a:ea typeface="Consolas"/>
                <a:cs typeface="Consolas"/>
              </a:rPr>
              <a:t>, </a:t>
            </a:r>
            <a:r>
              <a:rPr sz="1350">
                <a:solidFill>
                  <a:srgbClr val="CE9178"/>
                </a:solidFill>
                <a:latin typeface="Consolas"/>
                <a:ea typeface="Consolas"/>
                <a:cs typeface="Consolas"/>
              </a:rPr>
              <a:t>"AGV01"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116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ma</a:t>
            </a:r>
            <a:r>
              <a:rPr sz="1350">
                <a:solidFill>
                  <a:srgbClr val="D4D4D4"/>
                </a:solidFill>
                <a:latin typeface="Consolas"/>
                <a:ea typeface="Consolas"/>
                <a:cs typeface="Consolas"/>
              </a:rPr>
              <a:t>[</a:t>
            </a:r>
            <a:r>
              <a:rPr sz="1350">
                <a:solidFill>
                  <a:srgbClr val="9CDCFE"/>
                </a:solidFill>
                <a:latin typeface="Consolas"/>
                <a:ea typeface="Consolas"/>
                <a:cs typeface="Consolas"/>
              </a:rPr>
              <a:t>thu_tu_moi</a:t>
            </a:r>
            <a:r>
              <a:rPr sz="1350">
                <a:solidFill>
                  <a:srgbClr val="D4D4D4"/>
                </a:solidFill>
                <a:latin typeface="Consolas"/>
                <a:ea typeface="Consolas"/>
                <a:cs typeface="Consolas"/>
              </a:rPr>
              <a:t>].</a:t>
            </a:r>
            <a:r>
              <a:rPr sz="1350">
                <a:solidFill>
                  <a:srgbClr val="DCDCAA"/>
                </a:solidFill>
                <a:latin typeface="Consolas"/>
                <a:ea typeface="Consolas"/>
                <a:cs typeface="Consolas"/>
              </a:rPr>
              <a:t>tolist</a:t>
            </a:r>
            <a:r>
              <a:rPr sz="1350">
                <a:solidFill>
                  <a:srgbClr val="D4D4D4"/>
                </a:solidFill>
                <a:latin typeface="Consolas"/>
                <a:ea typeface="Consolas"/>
                <a:cs typeface="Consolas"/>
              </a:rPr>
              <a:t>() == [</a:t>
            </a:r>
            <a:r>
              <a:rPr sz="1350">
                <a:solidFill>
                  <a:srgbClr val="CE9178"/>
                </a:solidFill>
                <a:latin typeface="Consolas"/>
                <a:ea typeface="Consolas"/>
                <a:cs typeface="Consolas"/>
              </a:rPr>
              <a:t>"BC01"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CE9178"/>
                </a:solidFill>
                <a:latin typeface="Consolas"/>
                <a:ea typeface="Consolas"/>
                <a:cs typeface="Consolas"/>
              </a:rPr>
              <a:t>"AGV01"</a:t>
            </a:r>
            <a:r>
              <a:rPr sz="1350">
                <a:solidFill>
                  <a:srgbClr val="D4D4D4"/>
                </a:solidFill>
                <a:latin typeface="Consolas"/>
                <a:ea typeface="Consolas"/>
                <a:cs typeface="Consolas"/>
              </a:rPr>
              <a:t>, </a:t>
            </a:r>
            <a:r>
              <a:rPr sz="1350">
                <a:solidFill>
                  <a:srgbClr val="CE9178"/>
                </a:solidFill>
                <a:latin typeface="Consolas"/>
                <a:ea typeface="Consolas"/>
                <a:cs typeface="Consolas"/>
              </a:rPr>
              <a:t>"ASRS01"</a:t>
            </a:r>
            <a:r>
              <a:rPr sz="1350">
                <a:solidFill>
                  <a:srgbClr val="D4D4D4"/>
                </a:solidFill>
                <a:latin typeface="Consolas"/>
                <a:ea typeface="Consolas"/>
                <a:cs typeface="Consolas"/>
              </a:rPr>
              <a:t>, </a:t>
            </a:r>
            <a:r>
              <a:rPr sz="1350">
                <a:solidFill>
                  <a:srgbClr val="CE9178"/>
                </a:solidFill>
                <a:latin typeface="Consolas"/>
                <a:ea typeface="Consolas"/>
                <a:cs typeface="Consolas"/>
              </a:rPr>
              <a:t>"PLC01"</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117 │ </a:t>
            </a:r>
            <a:r>
              <a:rPr sz="1350">
                <a:solidFill>
                  <a:srgbClr val="D4D4D4"/>
                </a:solidFill>
                <a:latin typeface="Consolas"/>
                <a:ea typeface="Consolas"/>
                <a:cs typeface="Consolas"/>
              </a:rPr>
              <a:t>    </a:t>
            </a:r>
            <a:r>
              <a:rPr sz="1350">
                <a:solidFill>
                  <a:srgbClr val="9CDCFE"/>
                </a:solidFill>
                <a:latin typeface="Consolas"/>
                <a:ea typeface="Consolas"/>
                <a:cs typeface="Consolas"/>
              </a:rPr>
              <a:t>sau</a:t>
            </a:r>
            <a:r>
              <a:rPr sz="1350">
                <a:solidFill>
                  <a:srgbClr val="D4D4D4"/>
                </a:solidFill>
                <a:latin typeface="Consolas"/>
                <a:ea typeface="Consolas"/>
                <a:cs typeface="Consolas"/>
              </a:rPr>
              <a:t> = </a:t>
            </a:r>
            <a:r>
              <a:rPr sz="1350">
                <a:solidFill>
                  <a:srgbClr val="9CDCFE"/>
                </a:solidFill>
                <a:latin typeface="Consolas"/>
                <a:ea typeface="Consolas"/>
                <a:cs typeface="Consolas"/>
              </a:rPr>
              <a:t>hashlib</a:t>
            </a:r>
            <a:r>
              <a:rPr sz="1350">
                <a:solidFill>
                  <a:srgbClr val="D4D4D4"/>
                </a:solidFill>
                <a:latin typeface="Consolas"/>
                <a:ea typeface="Consolas"/>
                <a:cs typeface="Consolas"/>
              </a:rPr>
              <a:t>.</a:t>
            </a:r>
            <a:r>
              <a:rPr sz="1350">
                <a:solidFill>
                  <a:srgbClr val="DCDCAA"/>
                </a:solidFill>
                <a:latin typeface="Consolas"/>
                <a:ea typeface="Consolas"/>
                <a:cs typeface="Consolas"/>
              </a:rPr>
              <a:t>sha256</a:t>
            </a:r>
            <a:r>
              <a:rPr sz="1350">
                <a:solidFill>
                  <a:srgbClr val="D4D4D4"/>
                </a:solidFill>
                <a:latin typeface="Consolas"/>
                <a:ea typeface="Consolas"/>
                <a:cs typeface="Consolas"/>
              </a:rPr>
              <a:t>(</a:t>
            </a:r>
            <a:r>
              <a:rPr sz="1350">
                <a:solidFill>
                  <a:srgbClr val="9CDCFE"/>
                </a:solidFill>
                <a:latin typeface="Consolas"/>
                <a:ea typeface="Consolas"/>
                <a:cs typeface="Consolas"/>
              </a:rPr>
              <a:t>db</a:t>
            </a:r>
            <a:r>
              <a:rPr sz="1350">
                <a:solidFill>
                  <a:srgbClr val="D4D4D4"/>
                </a:solidFill>
                <a:latin typeface="Consolas"/>
                <a:ea typeface="Consolas"/>
                <a:cs typeface="Consolas"/>
              </a:rPr>
              <a:t>.</a:t>
            </a:r>
            <a:r>
              <a:rPr sz="1350">
                <a:solidFill>
                  <a:srgbClr val="DCDCAA"/>
                </a:solidFill>
                <a:latin typeface="Consolas"/>
                <a:ea typeface="Consolas"/>
                <a:cs typeface="Consolas"/>
              </a:rPr>
              <a:t>read_bytes</a:t>
            </a:r>
            <a:r>
              <a:rPr sz="1350">
                <a:solidFill>
                  <a:srgbClr val="D4D4D4"/>
                </a:solidFill>
                <a:latin typeface="Consolas"/>
                <a:ea typeface="Consolas"/>
                <a:cs typeface="Consolas"/>
              </a:rPr>
              <a:t>()).</a:t>
            </a:r>
            <a:r>
              <a:rPr sz="1350">
                <a:solidFill>
                  <a:srgbClr val="9CDCFE"/>
                </a:solidFill>
                <a:latin typeface="Consolas"/>
                <a:ea typeface="Consolas"/>
                <a:cs typeface="Consolas"/>
              </a:rPr>
              <a:t>hexdige</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CDCAA"/>
                </a:solidFill>
                <a:latin typeface="Consolas"/>
                <a:ea typeface="Consolas"/>
                <a:cs typeface="Consolas"/>
              </a:rPr>
              <a:t>st</a:t>
            </a:r>
            <a:r>
              <a:rPr sz="1350">
                <a:solidFill>
                  <a:srgbClr val="D4D4D4"/>
                </a:solidFill>
                <a:latin typeface="Consolas"/>
                <a:ea typeface="Consolas"/>
                <a:cs typeface="Consolas"/>
              </a:rPr>
              <a:t>()</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118 │ </a:t>
            </a:r>
            <a:r>
              <a:rPr sz="1350">
                <a:solidFill>
                  <a:srgbClr val="D4D4D4"/>
                </a:solidFill>
                <a:latin typeface="Consolas"/>
                <a:ea typeface="Consolas"/>
                <a:cs typeface="Consolas"/>
              </a:rPr>
              <a:t>    </a:t>
            </a:r>
            <a:r>
              <a:rPr sz="1350">
                <a:solidFill>
                  <a:srgbClr val="9CDCFE"/>
                </a:solidFill>
                <a:latin typeface="Consolas"/>
                <a:ea typeface="Consolas"/>
                <a:cs typeface="Consolas"/>
              </a:rPr>
              <a:t>assert</a:t>
            </a:r>
            <a:r>
              <a:rPr sz="1350">
                <a:solidFill>
                  <a:srgbClr val="D4D4D4"/>
                </a:solidFill>
                <a:latin typeface="Consolas"/>
                <a:ea typeface="Consolas"/>
                <a:cs typeface="Consolas"/>
              </a:rPr>
              <a:t> </a:t>
            </a:r>
            <a:r>
              <a:rPr sz="1350">
                <a:solidFill>
                  <a:srgbClr val="9CDCFE"/>
                </a:solidFill>
                <a:latin typeface="Consolas"/>
                <a:ea typeface="Consolas"/>
                <a:cs typeface="Consolas"/>
              </a:rPr>
              <a:t>truoc</a:t>
            </a:r>
            <a:r>
              <a:rPr sz="1350">
                <a:solidFill>
                  <a:srgbClr val="D4D4D4"/>
                </a:solidFill>
                <a:latin typeface="Consolas"/>
                <a:ea typeface="Consolas"/>
                <a:cs typeface="Consolas"/>
              </a:rPr>
              <a:t> == </a:t>
            </a:r>
            <a:r>
              <a:rPr sz="1350">
                <a:solidFill>
                  <a:srgbClr val="9CDCFE"/>
                </a:solidFill>
                <a:latin typeface="Consolas"/>
                <a:ea typeface="Consolas"/>
                <a:cs typeface="Consolas"/>
              </a:rPr>
              <a:t>sau</a:t>
            </a:r>
            <a:r>
              <a:rPr sz="1350">
                <a:solidFill>
                  <a:srgbClr val="D4D4D4"/>
                </a:solidFill>
                <a:latin typeface="Consolas"/>
                <a:ea typeface="Consolas"/>
                <a:cs typeface="Consolas"/>
              </a:rPr>
              <a:t>, </a:t>
            </a:r>
            <a:r>
              <a:rPr sz="1350">
                <a:solidFill>
                  <a:srgbClr val="CE9178"/>
                </a:solidFill>
                <a:latin typeface="Consolas"/>
                <a:ea typeface="Consolas"/>
                <a:cs typeface="Consolas"/>
              </a:rPr>
              <a:t>"Tệp nguồn đã thay đổi"</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119 │ </a:t>
            </a:r>
            <a:r>
              <a:rPr sz="1350">
                <a:solidFill>
                  <a:srgbClr val="D4D4D4"/>
                </a:solidFill>
                <a:latin typeface="Consolas"/>
                <a:ea typeface="Consolas"/>
                <a:cs typeface="Consolas"/>
              </a:rPr>
              <a:t>    </a:t>
            </a:r>
            <a:r>
              <a:rPr sz="1350">
                <a:solidFill>
                  <a:srgbClr val="DCDCAA"/>
                </a:solidFill>
                <a:latin typeface="Consolas"/>
                <a:ea typeface="Consolas"/>
                <a:cs typeface="Consolas"/>
              </a:rPr>
              <a:t>print</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D4D4D4"/>
                </a:solidFill>
                <a:latin typeface="Consolas"/>
                <a:ea typeface="Consolas"/>
                <a:cs typeface="Consolas"/>
              </a:rPr>
              <a:t>Đã </a:t>
            </a:r>
            <a:r>
              <a:rPr sz="1350">
                <a:solidFill>
                  <a:srgbClr val="9CDCFE"/>
                </a:solidFill>
                <a:latin typeface="Consolas"/>
                <a:ea typeface="Consolas"/>
                <a:cs typeface="Consolas"/>
              </a:rPr>
              <a:t>ki</a:t>
            </a:r>
            <a:r>
              <a:rPr sz="1350">
                <a:solidFill>
                  <a:srgbClr val="D4D4D4"/>
                </a:solidFill>
                <a:latin typeface="Consolas"/>
                <a:ea typeface="Consolas"/>
                <a:cs typeface="Consolas"/>
              </a:rPr>
              <a:t>ể</a:t>
            </a:r>
            <a:r>
              <a:rPr sz="1350">
                <a:solidFill>
                  <a:srgbClr val="9CDCFE"/>
                </a:solidFill>
                <a:latin typeface="Consolas"/>
                <a:ea typeface="Consolas"/>
                <a:cs typeface="Consolas"/>
              </a:rPr>
              <a:t>m</a:t>
            </a:r>
            <a:r>
              <a:rPr sz="1350">
                <a:solidFill>
                  <a:srgbClr val="D4D4D4"/>
                </a:solidFill>
                <a:latin typeface="Consolas"/>
                <a:ea typeface="Consolas"/>
                <a:cs typeface="Consolas"/>
              </a:rPr>
              <a:t> </a:t>
            </a:r>
            <a:r>
              <a:rPr sz="1350">
                <a:solidFill>
                  <a:srgbClr val="9CDCFE"/>
                </a:solidFill>
                <a:latin typeface="Consolas"/>
                <a:ea typeface="Consolas"/>
                <a:cs typeface="Consolas"/>
              </a:rPr>
              <a:t>ch</a:t>
            </a:r>
            <a:r>
              <a:rPr sz="1350">
                <a:solidFill>
                  <a:srgbClr val="D4D4D4"/>
                </a:solidFill>
                <a:latin typeface="Consolas"/>
                <a:ea typeface="Consolas"/>
                <a:cs typeface="Consolas"/>
              </a:rPr>
              <a:t>ứ</a:t>
            </a:r>
            <a:r>
              <a:rPr sz="1350">
                <a:solidFill>
                  <a:srgbClr val="9CDCFE"/>
                </a:solidFill>
                <a:latin typeface="Consolas"/>
                <a:ea typeface="Consolas"/>
                <a:cs typeface="Consolas"/>
              </a:rPr>
              <a:t>ng</a:t>
            </a:r>
            <a:r>
              <a:rPr sz="1350">
                <a:solidFill>
                  <a:srgbClr val="D4D4D4"/>
                </a:solidFill>
                <a:latin typeface="Consolas"/>
                <a:ea typeface="Consolas"/>
                <a:cs typeface="Consolas"/>
              </a:rPr>
              <a:t> </a:t>
            </a:r>
            <a:r>
              <a:rPr sz="1350">
                <a:solidFill>
                  <a:srgbClr val="9CDCFE"/>
                </a:solidFill>
                <a:latin typeface="Consolas"/>
                <a:ea typeface="Consolas"/>
                <a:cs typeface="Consolas"/>
              </a:rPr>
              <a:t>k</a:t>
            </a:r>
            <a:r>
              <a:rPr sz="1350">
                <a:solidFill>
                  <a:srgbClr val="D4D4D4"/>
                </a:solidFill>
                <a:latin typeface="Consolas"/>
                <a:ea typeface="Consolas"/>
                <a:cs typeface="Consolas"/>
              </a:rPr>
              <a:t>ế</a:t>
            </a:r>
            <a:r>
              <a:rPr sz="1350">
                <a:solidFill>
                  <a:srgbClr val="9CDCFE"/>
                </a:solidFill>
                <a:latin typeface="Consolas"/>
                <a:ea typeface="Consolas"/>
                <a:cs typeface="Consolas"/>
              </a:rPr>
              <a:t>t</a:t>
            </a:r>
            <a:r>
              <a:rPr sz="1350">
                <a:solidFill>
                  <a:srgbClr val="D4D4D4"/>
                </a:solidFill>
                <a:latin typeface="Consolas"/>
                <a:ea typeface="Consolas"/>
                <a:cs typeface="Consolas"/>
              </a:rPr>
              <a:t> </a:t>
            </a:r>
            <a:r>
              <a:rPr sz="1350">
                <a:solidFill>
                  <a:srgbClr val="9CDCFE"/>
                </a:solidFill>
                <a:latin typeface="Consolas"/>
                <a:ea typeface="Consolas"/>
                <a:cs typeface="Consolas"/>
              </a:rPr>
              <a:t>qu</a:t>
            </a:r>
            <a:r>
              <a:rPr sz="1350">
                <a:solidFill>
                  <a:srgbClr val="D4D4D4"/>
                </a:solidFill>
                <a:latin typeface="Consolas"/>
                <a:ea typeface="Consolas"/>
                <a:cs typeface="Consolas"/>
              </a:rPr>
              <a:t>ả </a:t>
            </a:r>
            <a:r>
              <a:rPr sz="1350">
                <a:solidFill>
                  <a:srgbClr val="9CDCFE"/>
                </a:solidFill>
                <a:latin typeface="Consolas"/>
                <a:ea typeface="Consolas"/>
                <a:cs typeface="Consolas"/>
              </a:rPr>
              <a:t>v</a:t>
            </a:r>
            <a:r>
              <a:rPr sz="1350">
                <a:solidFill>
                  <a:srgbClr val="D4D4D4"/>
                </a:solidFill>
                <a:latin typeface="Consolas"/>
                <a:ea typeface="Consolas"/>
                <a:cs typeface="Consolas"/>
              </a:rPr>
              <a:t>à </a:t>
            </a:r>
            <a:r>
              <a:rPr sz="1350">
                <a:solidFill>
                  <a:srgbClr val="9CDCFE"/>
                </a:solidFill>
                <a:latin typeface="Consolas"/>
                <a:ea typeface="Consolas"/>
                <a:cs typeface="Consolas"/>
              </a:rPr>
              <a:t>gi</a:t>
            </a:r>
            <a:r>
              <a:rPr sz="1350">
                <a:solidFill>
                  <a:srgbClr val="D4D4D4"/>
                </a:solidFill>
                <a:latin typeface="Consolas"/>
                <a:ea typeface="Consolas"/>
                <a:cs typeface="Consolas"/>
              </a:rPr>
              <a:t>ữ </a:t>
            </a:r>
            <a:r>
              <a:rPr sz="1350">
                <a:solidFill>
                  <a:srgbClr val="9CDCFE"/>
                </a:solidFill>
                <a:latin typeface="Consolas"/>
                <a:ea typeface="Consolas"/>
                <a:cs typeface="Consolas"/>
              </a:rPr>
              <a:t>nguy</a:t>
            </a:r>
            <a:r>
              <a:rPr sz="1350">
                <a:solidFill>
                  <a:srgbClr val="D4D4D4"/>
                </a:solidFill>
                <a:latin typeface="Consolas"/>
                <a:ea typeface="Consolas"/>
                <a:cs typeface="Consolas"/>
              </a:rPr>
              <a:t>ê</a:t>
            </a:r>
            <a:r>
              <a:rPr sz="1350">
                <a:solidFill>
                  <a:srgbClr val="9CDCFE"/>
                </a:solidFill>
                <a:latin typeface="Consolas"/>
                <a:ea typeface="Consolas"/>
                <a:cs typeface="Consolas"/>
              </a:rPr>
              <a:t>n</a:t>
            </a:r>
          </a:p>
          <a:p xmlns:a="http://schemas.openxmlformats.org/drawingml/2006/main">
            <a:pPr>
              <a:spcBef>
                <a:spcPts val="0"/>
              </a:spcBef>
              <a:spcAft>
                <a:spcPts val="0"/>
              </a:spcAft>
              <a:defRPr sz="1350">
                <a:solidFill>
                  <a:srgbClr val="D4D4D4"/>
                </a:solidFill>
                <a:latin typeface="Consolas"/>
                <a:ea typeface="Consolas"/>
                <a:cs typeface="Consolas"/>
              </a:defRPr>
            </a:pPr>
            <a:r>
              <a:rPr sz="1350">
                <a:solidFill>
                  <a:srgbClr val="858585"/>
                </a:solidFill>
                <a:latin typeface="Consolas"/>
                <a:ea typeface="Consolas"/>
                <a:cs typeface="Consolas"/>
              </a:rPr>
              <a:t>    │ </a:t>
            </a:r>
            <a:r>
              <a:rPr sz="1350">
                <a:solidFill>
                  <a:srgbClr val="D4D4D4"/>
                </a:solidFill>
                <a:latin typeface="Consolas"/>
                <a:ea typeface="Consolas"/>
                <a:cs typeface="Consolas"/>
              </a:rPr>
              <a:t> </a:t>
            </a:r>
            <a:r>
              <a:rPr sz="1350">
                <a:solidFill>
                  <a:srgbClr val="9CDCFE"/>
                </a:solidFill>
                <a:latin typeface="Consolas"/>
                <a:ea typeface="Consolas"/>
                <a:cs typeface="Consolas"/>
              </a:rPr>
              <a:t>database</a:t>
            </a:r>
            <a:r>
              <a:rPr sz="1350">
                <a:solidFill>
                  <a:srgbClr val="D4D4D4"/>
                </a:solidFill>
                <a:latin typeface="Consolas"/>
                <a:ea typeface="Consolas"/>
                <a:cs typeface="Consolas"/>
              </a:rPr>
              <a:t>.</a:t>
            </a:r>
            <a:r>
              <a:rPr sz="1350">
                <a:solidFill>
                  <a:srgbClr val="CE9178"/>
                </a:solidFill>
                <a:latin typeface="Consolas"/>
                <a:ea typeface="Consolas"/>
                <a:cs typeface="Consolas"/>
              </a:rPr>
              <a:t>"</a:t>
            </a:r>
            <a:r>
              <a:rPr sz="1350">
                <a:solidFill>
                  <a:srgbClr val="D4D4D4"/>
                </a:solidFill>
                <a:latin typeface="Consolas"/>
                <a:ea typeface="Consolas"/>
                <a:cs typeface="Consolas"/>
              </a:rPr>
              <a:t>)</a:t>
            </a:r>
          </a:p>
        </p:txBody>
      </p:sp>
      <p:sp>
        <p:nvSpPr>
          <p:cNvPr id="18" name="">
            <a:extLst xmlns:a="http://schemas.openxmlformats.org/drawingml/2006/main">
              <a:ext uri="{FF2B5EF4-FFF2-40B4-BE49-F238E27FC236}">
                <a16:creationId xmlns:a16="http://schemas.microsoft.com/office/drawing/2014/main" id="{A773F0B3-40C8-408B-9FC8-FDC8C9A01DEF}"/>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Khi dùng database khác, các con số mốc có thể thay đổi. Cần xây lại kỳ vọng theo dữ liệu mới, không xóa kiểm tra chỉ để chương trình chạy tiếp.</a:t>
            </a:r>
          </a:p>
        </p:txBody>
      </p:sp>
    </p:spTree>
    <p:extLst>
      <p:ext uri="{BB962C8B-B14F-4D97-AF65-F5344CB8AC3E}">
        <p14:creationId xmlns:p14="http://schemas.microsoft.com/office/powerpoint/2010/main" val="2966899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BC60FDE-91E7-41C8-A1D3-FFE828CA0CB6}"/>
              </a:ext>
            </a:extLst>
          </p:cNvPr>
          <p:cNvSpPr>
            <a:spLocks xmlns:a="http://schemas.openxmlformats.org/drawingml/2006/main" noGrp="1"/>
          </p:cNvSpPr>
          <p:nvPr/>
        </p:nvSpPr>
        <p:spPr>
          <a:xfrm xmlns:a="http://schemas.openxmlformats.org/drawingml/2006/main">
            <a:off x="2075688" y="274320"/>
            <a:ext cx="933876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725" b="1">
                <a:solidFill>
                  <a:srgbClr val="FF0000"/>
                </a:solidFill>
                <a:latin typeface="Times New Roman"/>
                <a:ea typeface="Times New Roman"/>
                <a:cs typeface="Times New Roman"/>
              </a:defRPr>
            </a:defPPr>
            <a:lvl1pPr>
              <a:buNone/>
              <a:defRPr sz="1725" b="1">
                <a:solidFill>
                  <a:srgbClr val="FF0000"/>
                </a:solidFill>
                <a:latin typeface="Times New Roman"/>
                <a:ea typeface="Times New Roman"/>
                <a:cs typeface="Times New Roman"/>
              </a:defRPr>
            </a:lvl1pPr>
            <a:lvl2pPr>
              <a:buNone/>
              <a:defRPr sz="1725" b="1">
                <a:solidFill>
                  <a:srgbClr val="FF0000"/>
                </a:solidFill>
                <a:latin typeface="Times New Roman"/>
                <a:ea typeface="Times New Roman"/>
                <a:cs typeface="Times New Roman"/>
              </a:defRPr>
            </a:lvl2pPr>
            <a:lvl3pPr>
              <a:buNone/>
              <a:defRPr sz="1725" b="1">
                <a:solidFill>
                  <a:srgbClr val="FF0000"/>
                </a:solidFill>
                <a:latin typeface="Times New Roman"/>
                <a:ea typeface="Times New Roman"/>
                <a:cs typeface="Times New Roman"/>
              </a:defRPr>
            </a:lvl3pPr>
            <a:lvl4pPr>
              <a:buNone/>
              <a:defRPr sz="1725" b="1">
                <a:solidFill>
                  <a:srgbClr val="FF0000"/>
                </a:solidFill>
                <a:latin typeface="Times New Roman"/>
                <a:ea typeface="Times New Roman"/>
                <a:cs typeface="Times New Roman"/>
              </a:defRPr>
            </a:lvl4pPr>
            <a:lvl5pPr>
              <a:buNone/>
              <a:defRPr sz="1725" b="1">
                <a:solidFill>
                  <a:srgbClr val="FF0000"/>
                </a:solidFill>
                <a:latin typeface="Times New Roman"/>
                <a:ea typeface="Times New Roman"/>
                <a:cs typeface="Times New Roman"/>
              </a:defRPr>
            </a:lvl5pPr>
            <a:lvl6pPr>
              <a:buNone/>
              <a:defRPr sz="1725" b="1">
                <a:solidFill>
                  <a:srgbClr val="FF0000"/>
                </a:solidFill>
                <a:latin typeface="Times New Roman"/>
                <a:ea typeface="Times New Roman"/>
                <a:cs typeface="Times New Roman"/>
              </a:defRPr>
            </a:lvl6pPr>
            <a:lvl7pPr>
              <a:buNone/>
              <a:defRPr sz="1725" b="1">
                <a:solidFill>
                  <a:srgbClr val="FF0000"/>
                </a:solidFill>
                <a:latin typeface="Times New Roman"/>
                <a:ea typeface="Times New Roman"/>
                <a:cs typeface="Times New Roman"/>
              </a:defRPr>
            </a:lvl7pPr>
            <a:lvl8pPr>
              <a:buNone/>
              <a:defRPr sz="1725" b="1">
                <a:solidFill>
                  <a:srgbClr val="FF0000"/>
                </a:solidFill>
                <a:latin typeface="Times New Roman"/>
                <a:ea typeface="Times New Roman"/>
                <a:cs typeface="Times New Roman"/>
              </a:defRPr>
            </a:lvl8pPr>
            <a:lvl9pPr>
              <a:buNone/>
              <a:defRPr sz="1725" b="1">
                <a:solidFill>
                  <a:srgbClr val="FF0000"/>
                </a:solidFill>
                <a:latin typeface="Times New Roman"/>
                <a:ea typeface="Times New Roman"/>
                <a:cs typeface="Times New Roman"/>
              </a:defRPr>
            </a:lvl9pPr>
          </a:lstStyle>
          <a:p xmlns:a="http://schemas.openxmlformats.org/drawingml/2006/main">
            <a:pPr marL="0" indent="0">
              <a:buNone/>
              <a:defRPr sz="1725" b="1">
                <a:solidFill>
                  <a:srgbClr val="FF0000"/>
                </a:solidFill>
                <a:latin typeface="Times New Roman"/>
                <a:ea typeface="Times New Roman"/>
                <a:cs typeface="Times New Roman"/>
              </a:defRPr>
            </a:pPr>
            <a:r>
              <a:rPr sz="1725" b="1">
                <a:solidFill>
                  <a:srgbClr val="FF0000"/>
                </a:solidFill>
                <a:latin typeface="Times New Roman"/>
                <a:ea typeface="Times New Roman"/>
                <a:cs typeface="Times New Roman"/>
              </a:rPr>
              <a:t/>
            </a:r>
            <a:endParaRPr sz="1450"/>
          </a:p>
        </p:txBody>
      </p:sp>
      <p:sp>
        <p:nvSpPr>
          <p:cNvPr id="4" name="Shape 1">
            <a:extLst xmlns:a="http://schemas.openxmlformats.org/drawingml/2006/main">
              <a:ext uri="{FF2B5EF4-FFF2-40B4-BE49-F238E27FC236}">
                <a16:creationId xmlns:a16="http://schemas.microsoft.com/office/drawing/2014/main" id="{7E558849-BF56-403A-A8CD-62E9C7EB9B33}"/>
              </a:ext>
            </a:extLst>
          </p:cNvPr>
          <p:cNvSpPr>
            <a:spLocks xmlns:a="http://schemas.openxmlformats.org/drawingml/2006/main" noGrp="1"/>
          </p:cNvSpPr>
          <p:nvPr/>
        </p:nvSpPr>
        <p:spPr>
          <a:xfrm xmlns:a="http://schemas.openxmlformats.org/drawingml/2006/main">
            <a:off x="502920" y="786384"/>
            <a:ext cx="11185855" cy="0"/>
          </a:xfrm>
          <a:prstGeom xmlns:a="http://schemas.openxmlformats.org/drawingml/2006/main" prst="line">
            <a:avLst/>
          </a:prstGeom>
          <a:noFill xmlns:a="http://schemas.openxmlformats.org/drawingml/2006/main"/>
          <a:ln xmlns:a="http://schemas.openxmlformats.org/drawingml/2006/main" w="28575">
            <a:solidFill>
              <a:srgbClr val="0D8C8E"/>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1426D15C-89A2-49C8-9D29-89F38A8CDD74}"/>
              </a:ext>
            </a:extLst>
          </p:cNvPr>
          <p:cNvSpPr>
            <a:spLocks xmlns:a="http://schemas.openxmlformats.org/drawingml/2006/main" noGrp="1"/>
          </p:cNvSpPr>
          <p:nvPr/>
        </p:nvSpPr>
        <p:spPr>
          <a:xfrm xmlns:a="http://schemas.openxmlformats.org/drawingml/2006/main">
            <a:off x="11521440" y="694944"/>
            <a:ext cx="182880" cy="182880"/>
          </a:xfrm>
          <a:prstGeom xmlns:a="http://schemas.openxmlformats.org/drawingml/2006/main" prst="ellipse">
            <a:avLst/>
          </a:prstGeom>
          <a:solidFill xmlns:a="http://schemas.openxmlformats.org/drawingml/2006/main">
            <a:srgbClr val="0D8C8E"/>
          </a:solidFill>
        </p:spPr>
        <p:txBody>
          <a:bodyPr xmlns:a="http://schemas.openxmlformats.org/drawingml/2006/main"/>
          <a:lstStyle xmlns:a="http://schemas.openxmlformats.org/drawingml/2006/main"/>
          <a:p xmlns:a="http://schemas.openxmlformats.org/drawingml/2006/main">
            <a:endParaRPr/>
          </a:p>
        </p:txBody>
      </p:sp>
      <p:pic>
        <p:nvPicPr>
          <p:cNvPr id="6" name="Picture 5">
            <a:extLst xmlns:a="http://schemas.openxmlformats.org/drawingml/2006/main">
              <a:ext uri="{FF2B5EF4-FFF2-40B4-BE49-F238E27FC236}">
                <a16:creationId xmlns:a16="http://schemas.microsoft.com/office/drawing/2014/main" id="{F2143502-D32B-440A-BE40-93DBFA6CF1E6}"/>
              </a:ext>
            </a:extLst>
          </p:cNvPr>
          <p:cNvPicPr>
            <a:picLocks xmlns:a="http://schemas.openxmlformats.org/drawingml/2006/main" noChangeAspect="1"/>
          </p:cNvPicPr>
          <p:nvPr/>
        </p:nvPicPr>
        <p:blipFill>
          <a:blip xmlns:r="http://schemas.openxmlformats.org/officeDocument/2006/relationships" xmlns:a="http://schemas.openxmlformats.org/drawingml/2006/main" r:embed="Rbee4a97a5ba74424"/>
          <a:stretch xmlns:a="http://schemas.openxmlformats.org/drawingml/2006/main"/>
        </p:blipFill>
        <p:spPr>
          <a:xfrm xmlns:a="http://schemas.openxmlformats.org/drawingml/2006/main">
            <a:off x="502930" y="274320"/>
            <a:ext cx="1298428" cy="29778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D9BB113-034A-4B25-BF02-A36C2DE8C556}"/>
              </a:ext>
            </a:extLst>
          </p:cNvPr>
          <p:cNvSpPr>
            <a:spLocks xmlns:a="http://schemas.openxmlformats.org/drawingml/2006/main" noGrp="1"/>
          </p:cNvSpPr>
          <p:nvPr/>
        </p:nvSpPr>
        <p:spPr>
          <a:xfrm xmlns:a="http://schemas.openxmlformats.org/drawingml/2006/main">
            <a:off x="504825" y="1028700"/>
            <a:ext cx="11163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0000"/>
                </a:solidFill>
                <a:latin typeface="Times New Roman"/>
                <a:ea typeface="Times New Roman"/>
                <a:cs typeface="Times New Roman"/>
              </a:defRPr>
            </a:defPPr>
            <a:lvl1pPr>
              <a:buNone/>
              <a:defRPr sz="2850" b="1">
                <a:solidFill>
                  <a:srgbClr val="FF0000"/>
                </a:solidFill>
                <a:latin typeface="Times New Roman"/>
                <a:ea typeface="Times New Roman"/>
                <a:cs typeface="Times New Roman"/>
              </a:defRPr>
            </a:lvl1pPr>
            <a:lvl2pPr>
              <a:buNone/>
              <a:defRPr sz="2850" b="1">
                <a:solidFill>
                  <a:srgbClr val="FF0000"/>
                </a:solidFill>
                <a:latin typeface="Times New Roman"/>
                <a:ea typeface="Times New Roman"/>
                <a:cs typeface="Times New Roman"/>
              </a:defRPr>
            </a:lvl2pPr>
            <a:lvl3pPr>
              <a:buNone/>
              <a:defRPr sz="2850" b="1">
                <a:solidFill>
                  <a:srgbClr val="FF0000"/>
                </a:solidFill>
                <a:latin typeface="Times New Roman"/>
                <a:ea typeface="Times New Roman"/>
                <a:cs typeface="Times New Roman"/>
              </a:defRPr>
            </a:lvl3pPr>
            <a:lvl4pPr>
              <a:buNone/>
              <a:defRPr sz="2850" b="1">
                <a:solidFill>
                  <a:srgbClr val="FF0000"/>
                </a:solidFill>
                <a:latin typeface="Times New Roman"/>
                <a:ea typeface="Times New Roman"/>
                <a:cs typeface="Times New Roman"/>
              </a:defRPr>
            </a:lvl4pPr>
            <a:lvl5pPr>
              <a:buNone/>
              <a:defRPr sz="2850" b="1">
                <a:solidFill>
                  <a:srgbClr val="FF0000"/>
                </a:solidFill>
                <a:latin typeface="Times New Roman"/>
                <a:ea typeface="Times New Roman"/>
                <a:cs typeface="Times New Roman"/>
              </a:defRPr>
            </a:lvl5pPr>
            <a:lvl6pPr>
              <a:buNone/>
              <a:defRPr sz="2850" b="1">
                <a:solidFill>
                  <a:srgbClr val="FF0000"/>
                </a:solidFill>
                <a:latin typeface="Times New Roman"/>
                <a:ea typeface="Times New Roman"/>
                <a:cs typeface="Times New Roman"/>
              </a:defRPr>
            </a:lvl6pPr>
            <a:lvl7pPr>
              <a:buNone/>
              <a:defRPr sz="2850" b="1">
                <a:solidFill>
                  <a:srgbClr val="FF0000"/>
                </a:solidFill>
                <a:latin typeface="Times New Roman"/>
                <a:ea typeface="Times New Roman"/>
                <a:cs typeface="Times New Roman"/>
              </a:defRPr>
            </a:lvl7pPr>
            <a:lvl8pPr>
              <a:buNone/>
              <a:defRPr sz="2850" b="1">
                <a:solidFill>
                  <a:srgbClr val="FF0000"/>
                </a:solidFill>
                <a:latin typeface="Times New Roman"/>
                <a:ea typeface="Times New Roman"/>
                <a:cs typeface="Times New Roman"/>
              </a:defRPr>
            </a:lvl8pPr>
            <a:lvl9pPr>
              <a:buNone/>
              <a:defRPr sz="2850" b="1">
                <a:solidFill>
                  <a:srgbClr val="FF0000"/>
                </a:solidFill>
                <a:latin typeface="Times New Roman"/>
                <a:ea typeface="Times New Roman"/>
                <a:cs typeface="Times New Roman"/>
              </a:defRPr>
            </a:lvl9pPr>
          </a:lstStyle>
          <a:p xmlns:a="http://schemas.openxmlformats.org/drawingml/2006/main">
            <a:pPr>
              <a:buNone/>
              <a:defRPr sz="2625" b="1">
                <a:solidFill>
                  <a:srgbClr val="FF0000"/>
                </a:solidFill>
                <a:latin typeface="Times New Roman"/>
                <a:ea typeface="Times New Roman"/>
                <a:cs typeface="Times New Roman"/>
              </a:defRPr>
            </a:pPr>
            <a:r>
              <a:rPr sz="2625" b="1">
                <a:solidFill>
                  <a:srgbClr val="FF0000"/>
                </a:solidFill>
                <a:latin typeface="Times New Roman"/>
                <a:ea typeface="Times New Roman"/>
                <a:cs typeface="Times New Roman"/>
              </a:rPr>
              <a:t>14. Bài thực hành tự vận dụng</a:t>
            </a:r>
          </a:p>
        </p:txBody>
      </p:sp>
      <p:sp>
        <p:nvSpPr>
          <p:cNvPr id="13" name="Rectangle 12">
            <a:extLst xmlns:a="http://schemas.openxmlformats.org/drawingml/2006/main">
              <a:ext uri="{FF2B5EF4-FFF2-40B4-BE49-F238E27FC236}">
                <a16:creationId xmlns:a16="http://schemas.microsoft.com/office/drawing/2014/main" id="{ED0C33CE-7011-472B-94E9-2390C6A8B465}"/>
              </a:ext>
            </a:extLst>
          </p:cNvPr>
          <p:cNvSpPr>
            <a:spLocks xmlns:a="http://schemas.openxmlformats.org/drawingml/2006/main" noGrp="1"/>
          </p:cNvSpPr>
          <p:nvPr/>
        </p:nvSpPr>
        <p:spPr>
          <a:xfrm xmlns:a="http://schemas.openxmlformats.org/drawingml/2006/main">
            <a:off x="1133475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718096"/>
                </a:solidFill>
                <a:latin typeface="Times New Roman"/>
                <a:ea typeface="Times New Roman"/>
                <a:cs typeface="Times New Roman"/>
              </a:defRPr>
            </a:defPPr>
            <a:lvl1pPr>
              <a:buNone/>
              <a:defRPr sz="1350" b="0">
                <a:solidFill>
                  <a:srgbClr val="718096"/>
                </a:solidFill>
                <a:latin typeface="Times New Roman"/>
                <a:ea typeface="Times New Roman"/>
                <a:cs typeface="Times New Roman"/>
              </a:defRPr>
            </a:lvl1pPr>
            <a:lvl2pPr>
              <a:buNone/>
              <a:defRPr sz="1350" b="0">
                <a:solidFill>
                  <a:srgbClr val="718096"/>
                </a:solidFill>
                <a:latin typeface="Times New Roman"/>
                <a:ea typeface="Times New Roman"/>
                <a:cs typeface="Times New Roman"/>
              </a:defRPr>
            </a:lvl2pPr>
            <a:lvl3pPr>
              <a:buNone/>
              <a:defRPr sz="1350" b="0">
                <a:solidFill>
                  <a:srgbClr val="718096"/>
                </a:solidFill>
                <a:latin typeface="Times New Roman"/>
                <a:ea typeface="Times New Roman"/>
                <a:cs typeface="Times New Roman"/>
              </a:defRPr>
            </a:lvl3pPr>
            <a:lvl4pPr>
              <a:buNone/>
              <a:defRPr sz="1350" b="0">
                <a:solidFill>
                  <a:srgbClr val="718096"/>
                </a:solidFill>
                <a:latin typeface="Times New Roman"/>
                <a:ea typeface="Times New Roman"/>
                <a:cs typeface="Times New Roman"/>
              </a:defRPr>
            </a:lvl4pPr>
            <a:lvl5pPr>
              <a:buNone/>
              <a:defRPr sz="1350" b="0">
                <a:solidFill>
                  <a:srgbClr val="718096"/>
                </a:solidFill>
                <a:latin typeface="Times New Roman"/>
                <a:ea typeface="Times New Roman"/>
                <a:cs typeface="Times New Roman"/>
              </a:defRPr>
            </a:lvl5pPr>
            <a:lvl6pPr>
              <a:buNone/>
              <a:defRPr sz="1350" b="0">
                <a:solidFill>
                  <a:srgbClr val="718096"/>
                </a:solidFill>
                <a:latin typeface="Times New Roman"/>
                <a:ea typeface="Times New Roman"/>
                <a:cs typeface="Times New Roman"/>
              </a:defRPr>
            </a:lvl6pPr>
            <a:lvl7pPr>
              <a:buNone/>
              <a:defRPr sz="1350" b="0">
                <a:solidFill>
                  <a:srgbClr val="718096"/>
                </a:solidFill>
                <a:latin typeface="Times New Roman"/>
                <a:ea typeface="Times New Roman"/>
                <a:cs typeface="Times New Roman"/>
              </a:defRPr>
            </a:lvl7pPr>
            <a:lvl8pPr>
              <a:buNone/>
              <a:defRPr sz="1350" b="0">
                <a:solidFill>
                  <a:srgbClr val="718096"/>
                </a:solidFill>
                <a:latin typeface="Times New Roman"/>
                <a:ea typeface="Times New Roman"/>
                <a:cs typeface="Times New Roman"/>
              </a:defRPr>
            </a:lvl8pPr>
            <a:lvl9pPr>
              <a:buNone/>
              <a:defRPr sz="1350" b="0">
                <a:solidFill>
                  <a:srgbClr val="718096"/>
                </a:solidFill>
                <a:latin typeface="Times New Roman"/>
                <a:ea typeface="Times New Roman"/>
                <a:cs typeface="Times New Roman"/>
              </a:defRPr>
            </a:lvl9pPr>
          </a:lstStyle>
          <a:p xmlns:a="http://schemas.openxmlformats.org/drawingml/2006/main">
            <a:pPr>
              <a:buNone/>
              <a:defRPr sz="1350" b="0">
                <a:solidFill>
                  <a:srgbClr val="718096"/>
                </a:solidFill>
                <a:latin typeface="Times New Roman"/>
                <a:ea typeface="Times New Roman"/>
                <a:cs typeface="Times New Roman"/>
              </a:defRPr>
            </a:pPr>
            <a:r>
              <a:rPr sz="1350" b="0">
                <a:solidFill>
                  <a:srgbClr val="718096"/>
                </a:solidFill>
                <a:latin typeface="Times New Roman"/>
                <a:ea typeface="Times New Roman"/>
                <a:cs typeface="Times New Roman"/>
              </a:rPr>
              <a:t>15</a:t>
            </a:r>
          </a:p>
        </p:txBody>
      </p:sp>
      <p:sp>
        <p:nvSpPr>
          <p:cNvPr id="14" name="">
            <a:extLst xmlns:a="http://schemas.openxmlformats.org/drawingml/2006/main">
              <a:ext uri="{FF2B5EF4-FFF2-40B4-BE49-F238E27FC236}">
                <a16:creationId xmlns:a16="http://schemas.microsoft.com/office/drawing/2014/main" id="{D9108B8E-4DA0-4106-9FD1-72705DC897E1}"/>
              </a:ext>
            </a:extLst>
          </p:cNvPr>
          <p:cNvSpPr>
            <a:spLocks xmlns:a="http://schemas.openxmlformats.org/drawingml/2006/main" noGrp="1"/>
          </p:cNvSpPr>
          <p:nvPr/>
        </p:nvSpPr>
        <p:spPr>
          <a:xfrm xmlns:a="http://schemas.openxmlformats.org/drawingml/2006/main">
            <a:off x="523875" y="1666875"/>
            <a:ext cx="5238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1717"/>
                </a:solidFill>
                <a:latin typeface="Times New Roman"/>
                <a:ea typeface="Times New Roman"/>
                <a:cs typeface="Times New Roman"/>
              </a:defRPr>
            </a:defPPr>
            <a:lvl1pPr>
              <a:defRPr sz="1800">
                <a:solidFill>
                  <a:srgbClr val="171717"/>
                </a:solidFill>
                <a:latin typeface="Times New Roman"/>
                <a:ea typeface="Times New Roman"/>
                <a:cs typeface="Times New Roman"/>
              </a:defRPr>
            </a:lvl1pPr>
            <a:lvl2pPr>
              <a:defRPr sz="1800">
                <a:solidFill>
                  <a:srgbClr val="171717"/>
                </a:solidFill>
                <a:latin typeface="Times New Roman"/>
                <a:ea typeface="Times New Roman"/>
                <a:cs typeface="Times New Roman"/>
              </a:defRPr>
            </a:lvl2pPr>
            <a:lvl3pPr>
              <a:defRPr sz="1800">
                <a:solidFill>
                  <a:srgbClr val="171717"/>
                </a:solidFill>
                <a:latin typeface="Times New Roman"/>
                <a:ea typeface="Times New Roman"/>
                <a:cs typeface="Times New Roman"/>
              </a:defRPr>
            </a:lvl3pPr>
            <a:lvl4pPr>
              <a:defRPr sz="1800">
                <a:solidFill>
                  <a:srgbClr val="171717"/>
                </a:solidFill>
                <a:latin typeface="Times New Roman"/>
                <a:ea typeface="Times New Roman"/>
                <a:cs typeface="Times New Roman"/>
              </a:defRPr>
            </a:lvl4pPr>
            <a:lvl5pPr>
              <a:defRPr sz="1800">
                <a:solidFill>
                  <a:srgbClr val="171717"/>
                </a:solidFill>
                <a:latin typeface="Times New Roman"/>
                <a:ea typeface="Times New Roman"/>
                <a:cs typeface="Times New Roman"/>
              </a:defRPr>
            </a:lvl5pPr>
            <a:lvl6pPr>
              <a:defRPr sz="1800">
                <a:solidFill>
                  <a:srgbClr val="171717"/>
                </a:solidFill>
                <a:latin typeface="Times New Roman"/>
                <a:ea typeface="Times New Roman"/>
                <a:cs typeface="Times New Roman"/>
              </a:defRPr>
            </a:lvl6pPr>
            <a:lvl7pPr>
              <a:defRPr sz="1800">
                <a:solidFill>
                  <a:srgbClr val="171717"/>
                </a:solidFill>
                <a:latin typeface="Times New Roman"/>
                <a:ea typeface="Times New Roman"/>
                <a:cs typeface="Times New Roman"/>
              </a:defRPr>
            </a:lvl7pPr>
            <a:lvl8pPr>
              <a:defRPr sz="1800">
                <a:solidFill>
                  <a:srgbClr val="171717"/>
                </a:solidFill>
                <a:latin typeface="Times New Roman"/>
                <a:ea typeface="Times New Roman"/>
                <a:cs typeface="Times New Roman"/>
              </a:defRPr>
            </a:lvl8pPr>
            <a:lvl9pPr>
              <a:defRPr sz="1800">
                <a:solidFill>
                  <a:srgbClr val="171717"/>
                </a:solidFill>
                <a:latin typeface="Times New Roman"/>
                <a:ea typeface="Times New Roman"/>
                <a:cs typeface="Times New Roman"/>
              </a:defRPr>
            </a:lvl9pPr>
          </a:lstStyle>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Dùng lại luong_numpy.py nhưng lưu kết quả mở rộng sang thư mục khác để giữ bộ kết quả đã đối chiếu. Trước mỗi thay đổi, dự đoán hình dạng mảng và kết quả rồi mới chạy chương trình.</a:t>
            </a:r>
          </a:p>
          <a:p xmlns:a="http://schemas.openxmlformats.org/drawingml/2006/main">
            <a:r>
              <a:t/>
            </a:r>
          </a:p>
          <a:p xmlns:a="http://schemas.openxmlformats.org/drawingml/2006/main">
            <a:pPr>
              <a:defRPr sz="1800">
                <a:solidFill>
                  <a:srgbClr val="171717"/>
                </a:solidFill>
                <a:latin typeface="Times New Roman"/>
                <a:ea typeface="Times New Roman"/>
                <a:cs typeface="Times New Roman"/>
              </a:defRPr>
            </a:pPr>
            <a:r>
              <a:rPr sz="1800">
                <a:solidFill>
                  <a:srgbClr val="171717"/>
                </a:solidFill>
                <a:latin typeface="Times New Roman"/>
                <a:ea typeface="Times New Roman"/>
                <a:cs typeface="Times New Roman"/>
              </a:rPr>
              <a:t>Giữ nguyên database. Trình bày câu SQL, đoạn NumPy đã sửa, bảng kết quả và giải thích kết luận. Các yêu cầu dưới đây tiếp tục sử dụng cùng dữ liệu thiết bị.</a:t>
            </a:r>
          </a:p>
        </p:txBody>
      </p:sp>
      <p:sp>
        <p:nvSpPr>
          <p:cNvPr id="15" name="">
            <a:extLst xmlns:a="http://schemas.openxmlformats.org/drawingml/2006/main">
              <a:ext uri="{FF2B5EF4-FFF2-40B4-BE49-F238E27FC236}">
                <a16:creationId xmlns:a16="http://schemas.microsoft.com/office/drawing/2014/main" id="{1FF8791B-2CA7-4732-82A1-74316A97EE6F}"/>
              </a:ext>
            </a:extLst>
          </p:cNvPr>
          <p:cNvSpPr>
            <a:spLocks xmlns:a="http://schemas.openxmlformats.org/drawingml/2006/main" noGrp="1"/>
          </p:cNvSpPr>
          <p:nvPr/>
        </p:nvSpPr>
        <p:spPr>
          <a:xfrm xmlns:a="http://schemas.openxmlformats.org/drawingml/2006/main">
            <a:off x="6191250" y="1666875"/>
            <a:ext cx="5476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1717"/>
                </a:solidFill>
                <a:latin typeface="Times New Roman"/>
                <a:ea typeface="Times New Roman"/>
                <a:cs typeface="Times New Roman"/>
              </a:defRPr>
            </a:defPPr>
            <a:lvl1pPr>
              <a:defRPr sz="1725">
                <a:solidFill>
                  <a:srgbClr val="171717"/>
                </a:solidFill>
                <a:latin typeface="Times New Roman"/>
                <a:ea typeface="Times New Roman"/>
                <a:cs typeface="Times New Roman"/>
              </a:defRPr>
            </a:lvl1pPr>
            <a:lvl2pPr>
              <a:defRPr sz="1725">
                <a:solidFill>
                  <a:srgbClr val="171717"/>
                </a:solidFill>
                <a:latin typeface="Times New Roman"/>
                <a:ea typeface="Times New Roman"/>
                <a:cs typeface="Times New Roman"/>
              </a:defRPr>
            </a:lvl2pPr>
            <a:lvl3pPr>
              <a:defRPr sz="1725">
                <a:solidFill>
                  <a:srgbClr val="171717"/>
                </a:solidFill>
                <a:latin typeface="Times New Roman"/>
                <a:ea typeface="Times New Roman"/>
                <a:cs typeface="Times New Roman"/>
              </a:defRPr>
            </a:lvl3pPr>
            <a:lvl4pPr>
              <a:defRPr sz="1725">
                <a:solidFill>
                  <a:srgbClr val="171717"/>
                </a:solidFill>
                <a:latin typeface="Times New Roman"/>
                <a:ea typeface="Times New Roman"/>
                <a:cs typeface="Times New Roman"/>
              </a:defRPr>
            </a:lvl4pPr>
            <a:lvl5pPr>
              <a:defRPr sz="1725">
                <a:solidFill>
                  <a:srgbClr val="171717"/>
                </a:solidFill>
                <a:latin typeface="Times New Roman"/>
                <a:ea typeface="Times New Roman"/>
                <a:cs typeface="Times New Roman"/>
              </a:defRPr>
            </a:lvl5pPr>
            <a:lvl6pPr>
              <a:defRPr sz="1725">
                <a:solidFill>
                  <a:srgbClr val="171717"/>
                </a:solidFill>
                <a:latin typeface="Times New Roman"/>
                <a:ea typeface="Times New Roman"/>
                <a:cs typeface="Times New Roman"/>
              </a:defRPr>
            </a:lvl6pPr>
            <a:lvl7pPr>
              <a:defRPr sz="1725">
                <a:solidFill>
                  <a:srgbClr val="171717"/>
                </a:solidFill>
                <a:latin typeface="Times New Roman"/>
                <a:ea typeface="Times New Roman"/>
                <a:cs typeface="Times New Roman"/>
              </a:defRPr>
            </a:lvl7pPr>
            <a:lvl8pPr>
              <a:defRPr sz="1725">
                <a:solidFill>
                  <a:srgbClr val="171717"/>
                </a:solidFill>
                <a:latin typeface="Times New Roman"/>
                <a:ea typeface="Times New Roman"/>
                <a:cs typeface="Times New Roman"/>
              </a:defRPr>
            </a:lvl8pPr>
            <a:lvl9pPr>
              <a:defRPr sz="1725">
                <a:solidFill>
                  <a:srgbClr val="171717"/>
                </a:solidFill>
                <a:latin typeface="Times New Roman"/>
                <a:ea typeface="Times New Roman"/>
                <a:cs typeface="Times New Roman"/>
              </a:defRPr>
            </a:lvl9pPr>
          </a:lstStyle>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CÂU HỎI CẦN GIẢI THÍCH</a:t>
            </a:r>
          </a:p>
          <a:p xmlns:a="http://schemas.openxmlformats.org/drawingml/2006/main">
            <a:r>
              <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1. Vì sao axis=0 cho kết quả theo kịch bản?</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2. Vì sao phải căn cảnh báo theo MaTB?</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3. Nếu đặt &gt;=800 trước &gt;=1200 trong select, nhãn nào có thể sai?</a:t>
            </a:r>
          </a:p>
          <a:p xmlns:a="http://schemas.openxmlformats.org/drawingml/2006/main">
            <a:pPr>
              <a:defRPr sz="1725">
                <a:solidFill>
                  <a:srgbClr val="171717"/>
                </a:solidFill>
                <a:latin typeface="Times New Roman"/>
                <a:ea typeface="Times New Roman"/>
                <a:cs typeface="Times New Roman"/>
              </a:defRPr>
            </a:pPr>
            <a:r>
              <a:rPr sz="1725">
                <a:solidFill>
                  <a:srgbClr val="171717"/>
                </a:solidFill>
                <a:latin typeface="Times New Roman"/>
                <a:ea typeface="Times New Roman"/>
                <a:cs typeface="Times New Roman"/>
              </a:rPr>
              <a:t>4. Vì sao đổi trọng số có thể đổi hạng dù dữ liệu không đổi?</a:t>
            </a:r>
          </a:p>
        </p:txBody>
      </p:sp>
      <p:graphicFrame>
        <p:nvGraphicFramePr>
          <p:cNvPr id="16" name="">
            <a:extLst xmlns:a="http://schemas.openxmlformats.org/drawingml/2006/main">
              <a:ext uri="{FF2B5EF4-FFF2-40B4-BE49-F238E27FC236}">
                <a16:creationId xmlns:a16="http://schemas.microsoft.com/office/drawing/2014/main" id="{7B8821F7-023B-46E8-B583-B193AF1CEF92}"/>
              </a:ext>
            </a:extLst>
          </p:cNvPr>
          <p:cNvGraphicFramePr/>
          <p:nvPr/>
        </p:nvGraphicFramePr>
        <p:xfrm>
          <a:off xmlns:a="http://schemas.openxmlformats.org/drawingml/2006/main" x="6191250" y="3905250"/>
          <a:ext xmlns:a="http://schemas.openxmlformats.org/drawingml/2006/main" cx="5476875" cy="1524000"/>
        </p:xfrm>
        <a:graphic xmlns:a="http://schemas.openxmlformats.org/drawingml/2006/main">
          <a:graphicData uri="http://schemas.openxmlformats.org/drawingml/2006/table">
            <a:tbl>
              <a:tblPr/>
              <a:tblGrid>
                <a:gridCol w="2738438"/>
                <a:gridCol w="2738438"/>
              </a:tblGrid>
              <a:tr h="304800">
                <a:tc>
                  <a:txBody>
                    <a:bodyPr/>
                    <a:lstStyle/>
                    <a:p>
                      <a:r>
                        <a:rPr sz="1500" b="1">
                          <a:solidFill>
                            <a:srgbClr val="113F43"/>
                          </a:solidFill>
                          <a:latin typeface="Times New Roman"/>
                          <a:ea typeface="Times New Roman"/>
                          <a:cs typeface="Times New Roman"/>
                        </a:rPr>
                        <a:t>Nhiệm vụ</a:t>
                      </a:r>
                    </a:p>
                  </a:txBody>
                  <a:tcPr marL="91440" marR="91440" marT="45720" marB="45720">
                    <a:solidFill>
                      <a:srgbClr val="E3F2F3"/>
                    </a:solidFill>
                  </a:tcPr>
                </a:tc>
                <a:tc>
                  <a:txBody>
                    <a:bodyPr/>
                    <a:lstStyle/>
                    <a:p>
                      <a:r>
                        <a:rPr sz="1500" b="1">
                          <a:solidFill>
                            <a:srgbClr val="113F43"/>
                          </a:solidFill>
                          <a:latin typeface="Times New Roman"/>
                          <a:ea typeface="Times New Roman"/>
                          <a:cs typeface="Times New Roman"/>
                        </a:rPr>
                        <a:t>Kết quả cần trình bày</a:t>
                      </a:r>
                    </a:p>
                  </a:txBody>
                  <a:tcPr marL="91440" marR="91440" marT="45720" marB="45720">
                    <a:solidFill>
                      <a:srgbClr val="E3F2F3"/>
                    </a:solidFill>
                  </a:tcPr>
                </a:tc>
              </a:tr>
              <a:tr h="304800">
                <a:tc>
                  <a:txBody>
                    <a:bodyPr/>
                    <a:lstStyle/>
                    <a:p>
                      <a:r>
                        <a:rPr sz="1500">
                          <a:solidFill>
                            <a:srgbClr val="171717"/>
                          </a:solidFill>
                          <a:latin typeface="Times New Roman"/>
                          <a:ea typeface="Times New Roman"/>
                          <a:cs typeface="Times New Roman"/>
                        </a:rPr>
                        <a:t>Thêm kịch bản +240 giờ</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Ma trận 4 × 4, số đạt 1000</a:t>
                      </a:r>
                    </a:p>
                  </a:txBody>
                  <a:tcPr marL="91440" marR="91440" marT="45720" marB="45720">
                    <a:solidFill>
                      <a:srgbClr val="FFFFFF"/>
                    </a:solidFill>
                  </a:tcPr>
                </a:tc>
              </a:tr>
              <a:tr h="304800">
                <a:tc>
                  <a:txBody>
                    <a:bodyPr/>
                    <a:lstStyle/>
                    <a:p>
                      <a:r>
                        <a:rPr sz="1500">
                          <a:solidFill>
                            <a:srgbClr val="171717"/>
                          </a:solidFill>
                          <a:latin typeface="Times New Roman"/>
                          <a:ea typeface="Times New Roman"/>
                          <a:cs typeface="Times New Roman"/>
                        </a:rPr>
                        <a:t>Đổi trọng số 0,5 / 0,5</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Điểm và thứ tự thiết bị</a:t>
                      </a:r>
                    </a:p>
                  </a:txBody>
                  <a:tcPr marL="91440" marR="91440" marT="45720" marB="45720">
                    <a:solidFill>
                      <a:srgbClr val="FFFFFF"/>
                    </a:solidFill>
                  </a:tcPr>
                </a:tc>
              </a:tr>
              <a:tr h="304800">
                <a:tc>
                  <a:txBody>
                    <a:bodyPr/>
                    <a:lstStyle/>
                    <a:p>
                      <a:r>
                        <a:rPr sz="1500">
                          <a:solidFill>
                            <a:srgbClr val="171717"/>
                          </a:solidFill>
                          <a:latin typeface="Times New Roman"/>
                          <a:ea typeface="Times New Roman"/>
                          <a:cs typeface="Times New Roman"/>
                        </a:rPr>
                        <a:t>Thử cột cảnh báo toàn 0</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Cách mẫu số tránh chia 0</a:t>
                      </a:r>
                    </a:p>
                  </a:txBody>
                  <a:tcPr marL="91440" marR="91440" marT="45720" marB="45720">
                    <a:solidFill>
                      <a:srgbClr val="FFFFFF"/>
                    </a:solidFill>
                  </a:tcPr>
                </a:tc>
              </a:tr>
              <a:tr h="304800">
                <a:tc>
                  <a:txBody>
                    <a:bodyPr/>
                    <a:lstStyle/>
                    <a:p>
                      <a:r>
                        <a:rPr sz="1500">
                          <a:solidFill>
                            <a:srgbClr val="171717"/>
                          </a:solidFill>
                          <a:latin typeface="Times New Roman"/>
                          <a:ea typeface="Times New Roman"/>
                          <a:cs typeface="Times New Roman"/>
                        </a:rPr>
                        <a:t>Kiểm tra bằng SQL</a:t>
                      </a:r>
                    </a:p>
                  </a:txBody>
                  <a:tcPr marL="91440" marR="91440" marT="45720" marB="45720">
                    <a:solidFill>
                      <a:srgbClr val="FFFFFF"/>
                    </a:solidFill>
                  </a:tcPr>
                </a:tc>
                <a:tc>
                  <a:txBody>
                    <a:bodyPr/>
                    <a:lstStyle/>
                    <a:p>
                      <a:r>
                        <a:rPr sz="1500">
                          <a:solidFill>
                            <a:srgbClr val="171717"/>
                          </a:solidFill>
                          <a:latin typeface="Times New Roman"/>
                          <a:ea typeface="Times New Roman"/>
                          <a:cs typeface="Times New Roman"/>
                        </a:rPr>
                        <a:t>SUM giờ khớp NumPy</a:t>
                      </a:r>
                    </a:p>
                  </a:txBody>
                  <a:tcPr marL="91440" marR="91440" marT="45720" marB="45720">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C8860927-812D-4B68-B012-5A0561A95C23}"/>
              </a:ext>
            </a:extLst>
          </p:cNvPr>
          <p:cNvSpPr>
            <a:spLocks xmlns:a="http://schemas.openxmlformats.org/drawingml/2006/main" noGrp="1"/>
          </p:cNvSpPr>
          <p:nvPr/>
        </p:nvSpPr>
        <p:spPr>
          <a:xfrm xmlns:a="http://schemas.openxmlformats.org/drawingml/2006/main">
            <a:off x="523875" y="6019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171717"/>
                </a:solidFill>
                <a:latin typeface="Times New Roman"/>
                <a:ea typeface="Times New Roman"/>
                <a:cs typeface="Times New Roman"/>
              </a:defRPr>
            </a:defPPr>
            <a:lvl1pPr>
              <a:defRPr sz="1500">
                <a:solidFill>
                  <a:srgbClr val="171717"/>
                </a:solidFill>
                <a:latin typeface="Times New Roman"/>
                <a:ea typeface="Times New Roman"/>
                <a:cs typeface="Times New Roman"/>
              </a:defRPr>
            </a:lvl1pPr>
            <a:lvl2pPr>
              <a:defRPr sz="1500">
                <a:solidFill>
                  <a:srgbClr val="171717"/>
                </a:solidFill>
                <a:latin typeface="Times New Roman"/>
                <a:ea typeface="Times New Roman"/>
                <a:cs typeface="Times New Roman"/>
              </a:defRPr>
            </a:lvl2pPr>
            <a:lvl3pPr>
              <a:defRPr sz="1500">
                <a:solidFill>
                  <a:srgbClr val="171717"/>
                </a:solidFill>
                <a:latin typeface="Times New Roman"/>
                <a:ea typeface="Times New Roman"/>
                <a:cs typeface="Times New Roman"/>
              </a:defRPr>
            </a:lvl3pPr>
            <a:lvl4pPr>
              <a:defRPr sz="1500">
                <a:solidFill>
                  <a:srgbClr val="171717"/>
                </a:solidFill>
                <a:latin typeface="Times New Roman"/>
                <a:ea typeface="Times New Roman"/>
                <a:cs typeface="Times New Roman"/>
              </a:defRPr>
            </a:lvl4pPr>
            <a:lvl5pPr>
              <a:defRPr sz="1500">
                <a:solidFill>
                  <a:srgbClr val="171717"/>
                </a:solidFill>
                <a:latin typeface="Times New Roman"/>
                <a:ea typeface="Times New Roman"/>
                <a:cs typeface="Times New Roman"/>
              </a:defRPr>
            </a:lvl5pPr>
            <a:lvl6pPr>
              <a:defRPr sz="1500">
                <a:solidFill>
                  <a:srgbClr val="171717"/>
                </a:solidFill>
                <a:latin typeface="Times New Roman"/>
                <a:ea typeface="Times New Roman"/>
                <a:cs typeface="Times New Roman"/>
              </a:defRPr>
            </a:lvl6pPr>
            <a:lvl7pPr>
              <a:defRPr sz="1500">
                <a:solidFill>
                  <a:srgbClr val="171717"/>
                </a:solidFill>
                <a:latin typeface="Times New Roman"/>
                <a:ea typeface="Times New Roman"/>
                <a:cs typeface="Times New Roman"/>
              </a:defRPr>
            </a:lvl7pPr>
            <a:lvl8pPr>
              <a:defRPr sz="1500">
                <a:solidFill>
                  <a:srgbClr val="171717"/>
                </a:solidFill>
                <a:latin typeface="Times New Roman"/>
                <a:ea typeface="Times New Roman"/>
                <a:cs typeface="Times New Roman"/>
              </a:defRPr>
            </a:lvl8pPr>
            <a:lvl9pPr>
              <a:defRPr sz="1500">
                <a:solidFill>
                  <a:srgbClr val="171717"/>
                </a:solidFill>
                <a:latin typeface="Times New Roman"/>
                <a:ea typeface="Times New Roman"/>
                <a:cs typeface="Times New Roman"/>
              </a:defRPr>
            </a:lvl9pPr>
          </a:lstStyle>
          <a:p xmlns:a="http://schemas.openxmlformats.org/drawingml/2006/main">
            <a:pPr>
              <a:defRPr sz="1500">
                <a:solidFill>
                  <a:srgbClr val="171717"/>
                </a:solidFill>
                <a:latin typeface="Times New Roman"/>
                <a:ea typeface="Times New Roman"/>
                <a:cs typeface="Times New Roman"/>
              </a:defRPr>
            </a:pPr>
            <a:r>
              <a:rPr sz="1500">
                <a:solidFill>
                  <a:srgbClr val="171717"/>
                </a:solidFill>
                <a:latin typeface="Times New Roman"/>
                <a:ea typeface="Times New Roman"/>
                <a:cs typeface="Times New Roman"/>
              </a:rPr>
              <a:t>Khi thay kịch bản hoặc trọng số, phải cập nhật các assert liên quan theo kết quả tự tính. Cột cảnh báo toàn 0 là dữ liệu giả định trong mảng, không sửa bảng nguồn.</a:t>
            </a:r>
          </a:p>
        </p:txBody>
      </p:sp>
    </p:spTree>
    <p:extLst>
      <p:ext uri="{BB962C8B-B14F-4D97-AF65-F5344CB8AC3E}">
        <p14:creationId xmlns:p14="http://schemas.microsoft.com/office/powerpoint/2010/main" val="29668991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2026-10-29T07:26:38.5240000Z</dcterms:created>
  <dcterms:modified xsi:type="dcterms:W3CDTF">2026-10-29T07:26:38.5240000Z</dcterms:modified>
</coreProperties>
</file>